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2"/>
  </p:notesMasterIdLst>
  <p:sldIdLst>
    <p:sldId id="271" r:id="rId5"/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3" r:id="rId20"/>
    <p:sldId id="270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9CE56D-74F3-4E0A-B87B-B6543643B7B9}" v="8" dt="2026-10-18T22:17:42.6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17"/>
  </p:normalViewPr>
  <p:slideViewPr>
    <p:cSldViewPr snapToGrid="0">
      <p:cViewPr>
        <p:scale>
          <a:sx n="66" d="100"/>
          <a:sy n="66" d="100"/>
        </p:scale>
        <p:origin x="1258" y="317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3370" y="3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nali Dukhande" userId="0ae46a4f0aa76adb" providerId="LiveId" clId="{DA6FBA60-F893-443A-AEE5-71C6A73E4BD7}"/>
    <pc:docChg chg="undo custSel modSld sldOrd">
      <pc:chgData name="Pranali Dukhande" userId="0ae46a4f0aa76adb" providerId="LiveId" clId="{DA6FBA60-F893-443A-AEE5-71C6A73E4BD7}" dt="2026-10-18T22:17:42.612" v="54" actId="767"/>
      <pc:docMkLst>
        <pc:docMk/>
      </pc:docMkLst>
      <pc:sldChg chg="delSp mod delAnim">
        <pc:chgData name="Pranali Dukhande" userId="0ae46a4f0aa76adb" providerId="LiveId" clId="{DA6FBA60-F893-443A-AEE5-71C6A73E4BD7}" dt="2026-09-22T03:54:28.745" v="1" actId="478"/>
        <pc:sldMkLst>
          <pc:docMk/>
          <pc:sldMk cId="0" sldId="256"/>
        </pc:sldMkLst>
      </pc:sldChg>
      <pc:sldChg chg="delSp mod delAnim">
        <pc:chgData name="Pranali Dukhande" userId="0ae46a4f0aa76adb" providerId="LiveId" clId="{DA6FBA60-F893-443A-AEE5-71C6A73E4BD7}" dt="2026-09-22T03:54:35.182" v="2" actId="478"/>
        <pc:sldMkLst>
          <pc:docMk/>
          <pc:sldMk cId="0" sldId="257"/>
        </pc:sldMkLst>
      </pc:sldChg>
      <pc:sldChg chg="delSp modSp mod delAnim">
        <pc:chgData name="Pranali Dukhande" userId="0ae46a4f0aa76adb" providerId="LiveId" clId="{DA6FBA60-F893-443A-AEE5-71C6A73E4BD7}" dt="2026-09-29T22:28:13.588" v="27" actId="20577"/>
        <pc:sldMkLst>
          <pc:docMk/>
          <pc:sldMk cId="0" sldId="258"/>
        </pc:sldMkLst>
        <pc:spChg chg="mod">
          <ac:chgData name="Pranali Dukhande" userId="0ae46a4f0aa76adb" providerId="LiveId" clId="{DA6FBA60-F893-443A-AEE5-71C6A73E4BD7}" dt="2026-09-29T22:28:13.588" v="27" actId="20577"/>
          <ac:spMkLst>
            <pc:docMk/>
            <pc:sldMk cId="0" sldId="258"/>
            <ac:spMk id="33" creationId="{00000000-0000-0000-0000-000000000000}"/>
          </ac:spMkLst>
        </pc:spChg>
      </pc:sldChg>
      <pc:sldChg chg="delSp mod delAnim">
        <pc:chgData name="Pranali Dukhande" userId="0ae46a4f0aa76adb" providerId="LiveId" clId="{DA6FBA60-F893-443A-AEE5-71C6A73E4BD7}" dt="2026-09-22T03:54:43.389" v="4" actId="478"/>
        <pc:sldMkLst>
          <pc:docMk/>
          <pc:sldMk cId="0" sldId="259"/>
        </pc:sldMkLst>
      </pc:sldChg>
      <pc:sldChg chg="addSp delSp modSp mod delAnim">
        <pc:chgData name="Pranali Dukhande" userId="0ae46a4f0aa76adb" providerId="LiveId" clId="{DA6FBA60-F893-443A-AEE5-71C6A73E4BD7}" dt="2026-10-18T22:17:42.612" v="54" actId="767"/>
        <pc:sldMkLst>
          <pc:docMk/>
          <pc:sldMk cId="0" sldId="260"/>
        </pc:sldMkLst>
        <pc:spChg chg="add del mod">
          <ac:chgData name="Pranali Dukhande" userId="0ae46a4f0aa76adb" providerId="LiveId" clId="{DA6FBA60-F893-443A-AEE5-71C6A73E4BD7}" dt="2026-10-18T22:17:42.612" v="54" actId="767"/>
          <ac:spMkLst>
            <pc:docMk/>
            <pc:sldMk cId="0" sldId="260"/>
            <ac:spMk id="41" creationId="{44AE3E45-BA3A-615D-C82C-A0D8DE45F687}"/>
          </ac:spMkLst>
        </pc:spChg>
        <pc:spChg chg="add mod">
          <ac:chgData name="Pranali Dukhande" userId="0ae46a4f0aa76adb" providerId="LiveId" clId="{DA6FBA60-F893-443A-AEE5-71C6A73E4BD7}" dt="2026-10-18T22:17:41.310" v="52" actId="767"/>
          <ac:spMkLst>
            <pc:docMk/>
            <pc:sldMk cId="0" sldId="260"/>
            <ac:spMk id="42" creationId="{53CF4726-D606-A56D-074B-65175C822776}"/>
          </ac:spMkLst>
        </pc:spChg>
        <pc:spChg chg="add del mod">
          <ac:chgData name="Pranali Dukhande" userId="0ae46a4f0aa76adb" providerId="LiveId" clId="{DA6FBA60-F893-443A-AEE5-71C6A73E4BD7}" dt="2026-10-18T22:17:40.610" v="50" actId="767"/>
          <ac:spMkLst>
            <pc:docMk/>
            <pc:sldMk cId="0" sldId="260"/>
            <ac:spMk id="43" creationId="{72571B98-CE2D-21F9-7495-3D96112AD588}"/>
          </ac:spMkLst>
        </pc:spChg>
        <pc:spChg chg="add del mod">
          <ac:chgData name="Pranali Dukhande" userId="0ae46a4f0aa76adb" providerId="LiveId" clId="{DA6FBA60-F893-443A-AEE5-71C6A73E4BD7}" dt="2026-10-18T22:17:40.076" v="48" actId="767"/>
          <ac:spMkLst>
            <pc:docMk/>
            <pc:sldMk cId="0" sldId="260"/>
            <ac:spMk id="44" creationId="{B30EC316-1CBF-058A-45E0-7E72832FA95A}"/>
          </ac:spMkLst>
        </pc:spChg>
      </pc:sldChg>
      <pc:sldChg chg="delSp modSp mod delAnim">
        <pc:chgData name="Pranali Dukhande" userId="0ae46a4f0aa76adb" providerId="LiveId" clId="{DA6FBA60-F893-443A-AEE5-71C6A73E4BD7}" dt="2026-09-29T22:29:10.862" v="32" actId="14100"/>
        <pc:sldMkLst>
          <pc:docMk/>
          <pc:sldMk cId="0" sldId="261"/>
        </pc:sldMkLst>
        <pc:picChg chg="mod modCrop">
          <ac:chgData name="Pranali Dukhande" userId="0ae46a4f0aa76adb" providerId="LiveId" clId="{DA6FBA60-F893-443A-AEE5-71C6A73E4BD7}" dt="2026-09-29T22:29:10.862" v="32" actId="14100"/>
          <ac:picMkLst>
            <pc:docMk/>
            <pc:sldMk cId="0" sldId="261"/>
            <ac:picMk id="4" creationId="{00000000-0000-0000-0000-000000000000}"/>
          </ac:picMkLst>
        </pc:picChg>
      </pc:sldChg>
      <pc:sldChg chg="delSp modSp mod delAnim">
        <pc:chgData name="Pranali Dukhande" userId="0ae46a4f0aa76adb" providerId="LiveId" clId="{DA6FBA60-F893-443A-AEE5-71C6A73E4BD7}" dt="2026-09-29T22:28:49.379" v="30" actId="14100"/>
        <pc:sldMkLst>
          <pc:docMk/>
          <pc:sldMk cId="0" sldId="262"/>
        </pc:sldMkLst>
        <pc:picChg chg="mod modCrop">
          <ac:chgData name="Pranali Dukhande" userId="0ae46a4f0aa76adb" providerId="LiveId" clId="{DA6FBA60-F893-443A-AEE5-71C6A73E4BD7}" dt="2026-09-29T22:28:49.379" v="30" actId="14100"/>
          <ac:picMkLst>
            <pc:docMk/>
            <pc:sldMk cId="0" sldId="262"/>
            <ac:picMk id="4" creationId="{00000000-0000-0000-0000-000000000000}"/>
          </ac:picMkLst>
        </pc:picChg>
      </pc:sldChg>
      <pc:sldChg chg="delSp modSp mod delAnim">
        <pc:chgData name="Pranali Dukhande" userId="0ae46a4f0aa76adb" providerId="LiveId" clId="{DA6FBA60-F893-443A-AEE5-71C6A73E4BD7}" dt="2026-10-18T22:06:35.083" v="36" actId="1076"/>
        <pc:sldMkLst>
          <pc:docMk/>
          <pc:sldMk cId="0" sldId="263"/>
        </pc:sldMkLst>
        <pc:picChg chg="mod modCrop">
          <ac:chgData name="Pranali Dukhande" userId="0ae46a4f0aa76adb" providerId="LiveId" clId="{DA6FBA60-F893-443A-AEE5-71C6A73E4BD7}" dt="2026-10-18T22:06:35.083" v="36" actId="1076"/>
          <ac:picMkLst>
            <pc:docMk/>
            <pc:sldMk cId="0" sldId="263"/>
            <ac:picMk id="4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4:53.238" v="9" actId="478"/>
        <pc:sldMkLst>
          <pc:docMk/>
          <pc:sldMk cId="0" sldId="264"/>
        </pc:sldMkLst>
      </pc:sldChg>
      <pc:sldChg chg="delSp mod delAnim">
        <pc:chgData name="Pranali Dukhande" userId="0ae46a4f0aa76adb" providerId="LiveId" clId="{DA6FBA60-F893-443A-AEE5-71C6A73E4BD7}" dt="2026-09-22T03:54:56.291" v="10" actId="478"/>
        <pc:sldMkLst>
          <pc:docMk/>
          <pc:sldMk cId="0" sldId="265"/>
        </pc:sldMkLst>
      </pc:sldChg>
      <pc:sldChg chg="delSp mod delAnim">
        <pc:chgData name="Pranali Dukhande" userId="0ae46a4f0aa76adb" providerId="LiveId" clId="{DA6FBA60-F893-443A-AEE5-71C6A73E4BD7}" dt="2026-09-22T03:55:00.192" v="11" actId="478"/>
        <pc:sldMkLst>
          <pc:docMk/>
          <pc:sldMk cId="0" sldId="266"/>
        </pc:sldMkLst>
      </pc:sldChg>
      <pc:sldChg chg="delSp modSp mod delAnim">
        <pc:chgData name="Pranali Dukhande" userId="0ae46a4f0aa76adb" providerId="LiveId" clId="{DA6FBA60-F893-443A-AEE5-71C6A73E4BD7}" dt="2026-10-18T21:53:22.769" v="35" actId="14100"/>
        <pc:sldMkLst>
          <pc:docMk/>
          <pc:sldMk cId="0" sldId="267"/>
        </pc:sldMkLst>
        <pc:spChg chg="mod">
          <ac:chgData name="Pranali Dukhande" userId="0ae46a4f0aa76adb" providerId="LiveId" clId="{DA6FBA60-F893-443A-AEE5-71C6A73E4BD7}" dt="2026-10-18T21:53:22.769" v="35" actId="14100"/>
          <ac:spMkLst>
            <pc:docMk/>
            <pc:sldMk cId="0" sldId="267"/>
            <ac:spMk id="19" creationId="{00000000-0000-0000-0000-000000000000}"/>
          </ac:spMkLst>
        </pc:spChg>
      </pc:sldChg>
      <pc:sldChg chg="delSp mod delAnim">
        <pc:chgData name="Pranali Dukhande" userId="0ae46a4f0aa76adb" providerId="LiveId" clId="{DA6FBA60-F893-443A-AEE5-71C6A73E4BD7}" dt="2026-09-22T03:55:18.201" v="18" actId="478"/>
        <pc:sldMkLst>
          <pc:docMk/>
          <pc:sldMk cId="0" sldId="268"/>
        </pc:sldMkLst>
      </pc:sldChg>
      <pc:sldChg chg="delSp mod delAnim">
        <pc:chgData name="Pranali Dukhande" userId="0ae46a4f0aa76adb" providerId="LiveId" clId="{DA6FBA60-F893-443A-AEE5-71C6A73E4BD7}" dt="2026-09-22T03:55:10.849" v="15" actId="478"/>
        <pc:sldMkLst>
          <pc:docMk/>
          <pc:sldMk cId="0" sldId="269"/>
        </pc:sldMkLst>
      </pc:sldChg>
      <pc:sldChg chg="delSp mod delAnim">
        <pc:chgData name="Pranali Dukhande" userId="0ae46a4f0aa76adb" providerId="LiveId" clId="{DA6FBA60-F893-443A-AEE5-71C6A73E4BD7}" dt="2026-09-22T03:55:14.069" v="17" actId="478"/>
        <pc:sldMkLst>
          <pc:docMk/>
          <pc:sldMk cId="0" sldId="270"/>
        </pc:sldMkLst>
      </pc:sldChg>
      <pc:sldChg chg="delSp mod delAnim">
        <pc:chgData name="Pranali Dukhande" userId="0ae46a4f0aa76adb" providerId="LiveId" clId="{DA6FBA60-F893-443A-AEE5-71C6A73E4BD7}" dt="2026-09-22T03:54:26.454" v="0" actId="478"/>
        <pc:sldMkLst>
          <pc:docMk/>
          <pc:sldMk cId="0" sldId="271"/>
        </pc:sldMkLst>
      </pc:sldChg>
      <pc:sldChg chg="delSp mod ord delAnim modNotesTx">
        <pc:chgData name="Pranali Dukhande" userId="0ae46a4f0aa76adb" providerId="LiveId" clId="{DA6FBA60-F893-443A-AEE5-71C6A73E4BD7}" dt="2026-09-30T00:33:15.641" v="34"/>
        <pc:sldMkLst>
          <pc:docMk/>
          <pc:sldMk cId="0" sldId="27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281160" y="164592"/>
            <a:ext cx="24231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02A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AI-Powered Personalized</a:t>
            </a:r>
            <a:endParaRPr lang="en-US" sz="1000"/>
          </a:p>
          <a:p>
            <a:pPr marL="0" indent="0" algn="r">
              <a:buNone/>
            </a:pPr>
            <a:r>
              <a:rPr lang="en-US" sz="1000" b="1">
                <a:solidFill>
                  <a:srgbClr val="102A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Academic Advisement System</a:t>
            </a:r>
            <a:endParaRPr lang="en-US" sz="1000"/>
          </a:p>
        </p:txBody>
      </p:sp>
      <p:sp>
        <p:nvSpPr>
          <p:cNvPr id="4" name="Text 2"/>
          <p:cNvSpPr/>
          <p:nvPr/>
        </p:nvSpPr>
        <p:spPr>
          <a:xfrm>
            <a:off x="10607040" y="603504"/>
            <a:ext cx="107899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2748A"/>
                </a:solidFill>
              </a:rPr>
              <a:t>Sprint 0</a:t>
            </a:r>
            <a:endParaRPr lang="en-US" sz="1000"/>
          </a:p>
        </p:txBody>
      </p:sp>
      <p:sp>
        <p:nvSpPr>
          <p:cNvPr id="5" name="Shape 3"/>
          <p:cNvSpPr/>
          <p:nvPr/>
        </p:nvSpPr>
        <p:spPr>
          <a:xfrm>
            <a:off x="320040" y="6565392"/>
            <a:ext cx="11475720" cy="0"/>
          </a:xfrm>
          <a:prstGeom prst="line">
            <a:avLst/>
          </a:prstGeom>
          <a:noFill/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629400"/>
            <a:ext cx="68580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9425F"/>
                </a:solidFill>
              </a:rPr>
              <a:t>AI-Powered Personalized Academic Advisement System   |   Sprint 0</a:t>
            </a:r>
            <a:endParaRPr lang="en-US" sz="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CADMATE"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8016" y="256032"/>
            <a:ext cx="64008" cy="6272784"/>
          </a:xfrm>
          <a:prstGeom prst="rect">
            <a:avLst/>
          </a:prstGeom>
          <a:solidFill>
            <a:srgbClr val="0B9B78"/>
          </a:solidFill>
          <a:ln w="12700">
            <a:solidFill>
              <a:srgbClr val="0B9B7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384048" y="6547104"/>
            <a:ext cx="11338560" cy="0"/>
          </a:xfrm>
          <a:prstGeom prst="line">
            <a:avLst/>
          </a:prstGeom>
          <a:noFill/>
          <a:ln w="12700">
            <a:solidFill>
              <a:srgbClr val="0B9B7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38912" y="6565392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5B6B7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AI-Powered Personalized Academic Advisement System  |  Sprint 1</a:t>
            </a:r>
            <a:endParaRPr lang="en-US" sz="550" dirty="0"/>
          </a:p>
        </p:txBody>
      </p:sp>
      <p:sp>
        <p:nvSpPr>
          <p:cNvPr id="5" name="Text 3"/>
          <p:cNvSpPr/>
          <p:nvPr/>
        </p:nvSpPr>
        <p:spPr>
          <a:xfrm>
            <a:off x="9646920" y="31089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b="1" dirty="0">
                <a:solidFill>
                  <a:srgbClr val="17345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AI-Powered Personalized</a:t>
            </a:r>
            <a:endParaRPr lang="en-US" sz="650" dirty="0"/>
          </a:p>
          <a:p>
            <a:pPr marL="0" indent="0" algn="r">
              <a:buNone/>
            </a:pPr>
            <a:r>
              <a:rPr lang="en-US" sz="650" b="1" dirty="0">
                <a:solidFill>
                  <a:srgbClr val="17345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Academic Advisement System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10927080" y="685800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80" dirty="0">
                <a:solidFill>
                  <a:srgbClr val="70809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Sprint 1</a:t>
            </a:r>
            <a:endParaRPr lang="en-US" sz="5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20116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540">
                <a:solidFill>
                  <a:srgbClr val="6B7788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342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3.xml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9" y="0"/>
            <a:ext cx="12061371" cy="6553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079"/>
    </mc:Choice>
    <mc:Fallback xmlns="">
      <p:transition spd="slow" advTm="2307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102A4C"/>
          </a:solidFill>
          <a:ln w="12700">
            <a:solidFill>
              <a:srgbClr val="102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389120" y="0"/>
            <a:ext cx="128016" cy="6858000"/>
          </a:xfrm>
          <a:prstGeom prst="rect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3337560" cy="21488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100" b="1">
                <a:solidFill>
                  <a:srgbClr val="FFFFFF"/>
                </a:solidFill>
              </a:rPr>
              <a:t>AI-Powered</a:t>
            </a:r>
            <a:endParaRPr lang="en-US" sz="3100"/>
          </a:p>
          <a:p>
            <a:pPr marL="0" indent="0">
              <a:buNone/>
            </a:pPr>
            <a:r>
              <a:rPr lang="en-US" sz="3100" b="1">
                <a:solidFill>
                  <a:srgbClr val="FFFFFF"/>
                </a:solidFill>
              </a:rPr>
              <a:t>Personalized Academic</a:t>
            </a:r>
            <a:endParaRPr lang="en-US" sz="3100"/>
          </a:p>
          <a:p>
            <a:pPr marL="0" indent="0">
              <a:buNone/>
            </a:pPr>
            <a:r>
              <a:rPr lang="en-US" sz="3100" b="1">
                <a:solidFill>
                  <a:srgbClr val="FFFFFF"/>
                </a:solidFill>
              </a:rPr>
              <a:t>Advisement System</a:t>
            </a:r>
            <a:endParaRPr lang="en-US" sz="3100"/>
          </a:p>
        </p:txBody>
      </p:sp>
      <p:sp>
        <p:nvSpPr>
          <p:cNvPr id="5" name="Text 3"/>
          <p:cNvSpPr/>
          <p:nvPr/>
        </p:nvSpPr>
        <p:spPr>
          <a:xfrm>
            <a:off x="621792" y="38404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>
                <a:solidFill>
                  <a:srgbClr val="9CE0C8"/>
                </a:solidFill>
              </a:rPr>
              <a:t>SPRINT 0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621792" y="4279392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500"/>
          </a:p>
        </p:txBody>
      </p:sp>
      <p:sp>
        <p:nvSpPr>
          <p:cNvPr id="7" name="Text 5"/>
          <p:cNvSpPr/>
          <p:nvPr/>
        </p:nvSpPr>
        <p:spPr>
          <a:xfrm>
            <a:off x="5166360" y="1828800"/>
            <a:ext cx="5760720" cy="10515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02A4C"/>
                </a:solidFill>
              </a:rPr>
              <a:t>From early risk detection to explainable, personalized academic support.</a:t>
            </a:r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5212080" y="3246120"/>
            <a:ext cx="5669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>
                <a:solidFill>
                  <a:srgbClr val="66778C"/>
                </a:solidFill>
              </a:rPr>
              <a:t>Student Data  →  Risk Prediction  →  Explainability  →  Recommendations  →  Human Support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5486400" y="4828032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310"/>
    </mc:Choice>
    <mc:Fallback xmlns="">
      <p:transition spd="slow" advTm="1831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Agenda</a:t>
            </a:r>
            <a:endParaRPr lang="en-US" sz="2700" b="1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Sprint 0 presentation roadmap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5" name="Text 3"/>
          <p:cNvSpPr/>
          <p:nvPr/>
        </p:nvSpPr>
        <p:spPr>
          <a:xfrm>
            <a:off x="704088" y="131673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1</a:t>
            </a:r>
            <a:endParaRPr lang="en-US" sz="1000" b="1"/>
          </a:p>
        </p:txBody>
      </p:sp>
      <p:sp>
        <p:nvSpPr>
          <p:cNvPr id="6" name="Text 4"/>
          <p:cNvSpPr/>
          <p:nvPr/>
        </p:nvSpPr>
        <p:spPr>
          <a:xfrm>
            <a:off x="1216152" y="128930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Team Members, Roles &amp; Responsibilities</a:t>
            </a:r>
            <a:endParaRPr lang="en-US" sz="1550" b="1"/>
          </a:p>
        </p:txBody>
      </p:sp>
      <p:sp>
        <p:nvSpPr>
          <p:cNvPr id="7" name="Shape 5"/>
          <p:cNvSpPr/>
          <p:nvPr/>
        </p:nvSpPr>
        <p:spPr>
          <a:xfrm>
            <a:off x="685800" y="217627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8" name="Text 6"/>
          <p:cNvSpPr/>
          <p:nvPr/>
        </p:nvSpPr>
        <p:spPr>
          <a:xfrm>
            <a:off x="704088" y="225856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2</a:t>
            </a:r>
            <a:endParaRPr lang="en-US" sz="1000" b="1"/>
          </a:p>
        </p:txBody>
      </p:sp>
      <p:sp>
        <p:nvSpPr>
          <p:cNvPr id="9" name="Text 7"/>
          <p:cNvSpPr/>
          <p:nvPr/>
        </p:nvSpPr>
        <p:spPr>
          <a:xfrm>
            <a:off x="1216152" y="22311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Problem Statement</a:t>
            </a:r>
            <a:endParaRPr lang="en-US" sz="1550" b="1"/>
          </a:p>
        </p:txBody>
      </p:sp>
      <p:sp>
        <p:nvSpPr>
          <p:cNvPr id="10" name="Shape 8"/>
          <p:cNvSpPr/>
          <p:nvPr/>
        </p:nvSpPr>
        <p:spPr>
          <a:xfrm>
            <a:off x="685800" y="3118104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11" name="Text 9"/>
          <p:cNvSpPr/>
          <p:nvPr/>
        </p:nvSpPr>
        <p:spPr>
          <a:xfrm>
            <a:off x="704088" y="3200400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3</a:t>
            </a:r>
            <a:endParaRPr lang="en-US" sz="1000" b="1"/>
          </a:p>
        </p:txBody>
      </p:sp>
      <p:sp>
        <p:nvSpPr>
          <p:cNvPr id="12" name="Text 10"/>
          <p:cNvSpPr/>
          <p:nvPr/>
        </p:nvSpPr>
        <p:spPr>
          <a:xfrm>
            <a:off x="1216152" y="317296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Project Description &amp; Solution Workflow</a:t>
            </a:r>
            <a:endParaRPr lang="en-US" sz="1550" b="1"/>
          </a:p>
        </p:txBody>
      </p:sp>
      <p:sp>
        <p:nvSpPr>
          <p:cNvPr id="13" name="Shape 11"/>
          <p:cNvSpPr/>
          <p:nvPr/>
        </p:nvSpPr>
        <p:spPr>
          <a:xfrm>
            <a:off x="685800" y="4059936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14" name="Text 12"/>
          <p:cNvSpPr/>
          <p:nvPr/>
        </p:nvSpPr>
        <p:spPr>
          <a:xfrm>
            <a:off x="704088" y="414223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4</a:t>
            </a:r>
            <a:endParaRPr lang="en-US" sz="1000" b="1"/>
          </a:p>
        </p:txBody>
      </p:sp>
      <p:sp>
        <p:nvSpPr>
          <p:cNvPr id="15" name="Text 13"/>
          <p:cNvSpPr/>
          <p:nvPr/>
        </p:nvSpPr>
        <p:spPr>
          <a:xfrm>
            <a:off x="1216152" y="41148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User Personas</a:t>
            </a:r>
            <a:endParaRPr lang="en-US" sz="1550" b="1"/>
          </a:p>
        </p:txBody>
      </p:sp>
      <p:sp>
        <p:nvSpPr>
          <p:cNvPr id="16" name="Shape 14"/>
          <p:cNvSpPr/>
          <p:nvPr/>
        </p:nvSpPr>
        <p:spPr>
          <a:xfrm>
            <a:off x="685800" y="5001768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17" name="Text 15"/>
          <p:cNvSpPr/>
          <p:nvPr/>
        </p:nvSpPr>
        <p:spPr>
          <a:xfrm>
            <a:off x="704088" y="508406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5</a:t>
            </a:r>
            <a:endParaRPr lang="en-US" sz="1000" b="1"/>
          </a:p>
        </p:txBody>
      </p:sp>
      <p:sp>
        <p:nvSpPr>
          <p:cNvPr id="18" name="Text 16"/>
          <p:cNvSpPr/>
          <p:nvPr/>
        </p:nvSpPr>
        <p:spPr>
          <a:xfrm>
            <a:off x="1216152" y="505663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Minimum Viable Product (MVP)</a:t>
            </a:r>
            <a:endParaRPr lang="en-US" sz="1550" b="1"/>
          </a:p>
        </p:txBody>
      </p:sp>
      <p:sp>
        <p:nvSpPr>
          <p:cNvPr id="19" name="Shape 17"/>
          <p:cNvSpPr/>
          <p:nvPr/>
        </p:nvSpPr>
        <p:spPr>
          <a:xfrm>
            <a:off x="6263640" y="1234440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20" name="Text 18"/>
          <p:cNvSpPr/>
          <p:nvPr/>
        </p:nvSpPr>
        <p:spPr>
          <a:xfrm>
            <a:off x="6281928" y="131673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6</a:t>
            </a:r>
            <a:endParaRPr lang="en-US" sz="1000" b="1"/>
          </a:p>
        </p:txBody>
      </p:sp>
      <p:sp>
        <p:nvSpPr>
          <p:cNvPr id="21" name="Text 19"/>
          <p:cNvSpPr/>
          <p:nvPr/>
        </p:nvSpPr>
        <p:spPr>
          <a:xfrm>
            <a:off x="6793992" y="128930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System Architecture &amp; Technologies</a:t>
            </a:r>
            <a:endParaRPr lang="en-US" sz="1550" b="1"/>
          </a:p>
        </p:txBody>
      </p:sp>
      <p:sp>
        <p:nvSpPr>
          <p:cNvPr id="22" name="Shape 20"/>
          <p:cNvSpPr/>
          <p:nvPr/>
        </p:nvSpPr>
        <p:spPr>
          <a:xfrm>
            <a:off x="6263640" y="217627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23" name="Text 21"/>
          <p:cNvSpPr/>
          <p:nvPr/>
        </p:nvSpPr>
        <p:spPr>
          <a:xfrm>
            <a:off x="6281928" y="225856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7</a:t>
            </a:r>
            <a:endParaRPr lang="en-US" sz="1000" b="1"/>
          </a:p>
        </p:txBody>
      </p:sp>
      <p:sp>
        <p:nvSpPr>
          <p:cNvPr id="24" name="Text 22"/>
          <p:cNvSpPr/>
          <p:nvPr/>
        </p:nvSpPr>
        <p:spPr>
          <a:xfrm>
            <a:off x="6793992" y="22311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Project Schedule / Sprint Cadence</a:t>
            </a:r>
            <a:endParaRPr lang="en-US" sz="1550" b="1"/>
          </a:p>
        </p:txBody>
      </p:sp>
      <p:sp>
        <p:nvSpPr>
          <p:cNvPr id="25" name="Shape 23"/>
          <p:cNvSpPr/>
          <p:nvPr/>
        </p:nvSpPr>
        <p:spPr>
          <a:xfrm>
            <a:off x="6263640" y="3118104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26" name="Text 24"/>
          <p:cNvSpPr/>
          <p:nvPr/>
        </p:nvSpPr>
        <p:spPr>
          <a:xfrm>
            <a:off x="6281928" y="3200400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8</a:t>
            </a:r>
            <a:endParaRPr lang="en-US" sz="1000" b="1"/>
          </a:p>
        </p:txBody>
      </p:sp>
      <p:sp>
        <p:nvSpPr>
          <p:cNvPr id="27" name="Text 25"/>
          <p:cNvSpPr/>
          <p:nvPr/>
        </p:nvSpPr>
        <p:spPr>
          <a:xfrm>
            <a:off x="6793992" y="317296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Team Working Agreement &amp; Definition of Done</a:t>
            </a:r>
            <a:endParaRPr lang="en-US" sz="1550" b="1"/>
          </a:p>
        </p:txBody>
      </p:sp>
      <p:sp>
        <p:nvSpPr>
          <p:cNvPr id="28" name="Shape 26"/>
          <p:cNvSpPr/>
          <p:nvPr/>
        </p:nvSpPr>
        <p:spPr>
          <a:xfrm>
            <a:off x="6263640" y="4059936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29" name="Text 27"/>
          <p:cNvSpPr/>
          <p:nvPr/>
        </p:nvSpPr>
        <p:spPr>
          <a:xfrm>
            <a:off x="6281928" y="414223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9</a:t>
            </a:r>
            <a:endParaRPr lang="en-US" sz="1000" b="1"/>
          </a:p>
        </p:txBody>
      </p:sp>
      <p:sp>
        <p:nvSpPr>
          <p:cNvPr id="30" name="Text 28"/>
          <p:cNvSpPr/>
          <p:nvPr/>
        </p:nvSpPr>
        <p:spPr>
          <a:xfrm>
            <a:off x="6793992" y="41148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Sprint 0 Retrospective</a:t>
            </a:r>
            <a:endParaRPr lang="en-US" sz="1550" b="1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 b="1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4222"/>
    </mc:Choice>
    <mc:Fallback xmlns="">
      <p:transition spd="slow" advTm="64222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Team Members &amp; Roles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Scrum responsibilities with clear technical ownership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blurRad="322580000" dist="161290000"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58952" y="139903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T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1252728" y="141732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Tafadzwa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795528" y="199339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Product Owner &amp; AI/ML Developer</a:t>
            </a:r>
            <a:endParaRPr lang="en-US" sz="1150"/>
          </a:p>
        </p:txBody>
      </p:sp>
      <p:sp>
        <p:nvSpPr>
          <p:cNvPr id="9" name="Shape 7"/>
          <p:cNvSpPr/>
          <p:nvPr/>
        </p:nvSpPr>
        <p:spPr>
          <a:xfrm>
            <a:off x="3429000" y="123444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593592" y="139903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1188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P</a:t>
            </a:r>
            <a:endParaRPr lang="en-US" sz="1000"/>
          </a:p>
        </p:txBody>
      </p:sp>
      <p:sp>
        <p:nvSpPr>
          <p:cNvPr id="12" name="Text 10"/>
          <p:cNvSpPr/>
          <p:nvPr/>
        </p:nvSpPr>
        <p:spPr>
          <a:xfrm>
            <a:off x="4087368" y="141732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Pranali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3630168" y="199339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Scrum Master &amp; Backend Developer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6263640" y="123444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28232" y="1399032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L</a:t>
            </a:r>
            <a:endParaRPr lang="en-US" sz="1000"/>
          </a:p>
        </p:txBody>
      </p:sp>
      <p:sp>
        <p:nvSpPr>
          <p:cNvPr id="17" name="Text 15"/>
          <p:cNvSpPr/>
          <p:nvPr/>
        </p:nvSpPr>
        <p:spPr>
          <a:xfrm>
            <a:off x="6922008" y="141732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Lyno</a:t>
            </a:r>
            <a:endParaRPr lang="en-US" sz="1600"/>
          </a:p>
        </p:txBody>
      </p:sp>
      <p:sp>
        <p:nvSpPr>
          <p:cNvPr id="18" name="Text 16"/>
          <p:cNvSpPr/>
          <p:nvPr/>
        </p:nvSpPr>
        <p:spPr>
          <a:xfrm>
            <a:off x="6464808" y="199339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sz="1150">
                <a:solidFill>
                  <a:srgbClr val="66778C"/>
                </a:solidFill>
              </a:rPr>
              <a:t>Frontend </a:t>
            </a:r>
            <a:r>
              <a:rPr lang="en-US" sz="1150" err="1">
                <a:solidFill>
                  <a:srgbClr val="66778C"/>
                </a:solidFill>
              </a:rPr>
              <a:t>Developer&amp;LLM</a:t>
            </a:r>
            <a:r>
              <a:rPr lang="en-US" sz="1150">
                <a:solidFill>
                  <a:srgbClr val="66778C"/>
                </a:solidFill>
              </a:rPr>
              <a:t> Engineer</a:t>
            </a:r>
            <a:endParaRPr lang="en-US" sz="1150"/>
          </a:p>
        </p:txBody>
      </p:sp>
      <p:sp>
        <p:nvSpPr>
          <p:cNvPr id="19" name="Shape 17"/>
          <p:cNvSpPr/>
          <p:nvPr/>
        </p:nvSpPr>
        <p:spPr>
          <a:xfrm>
            <a:off x="9098280" y="123444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262872" y="139903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28116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L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9756648" y="141732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Liangxian Li</a:t>
            </a:r>
            <a:endParaRPr lang="en-US" sz="1600"/>
          </a:p>
        </p:txBody>
      </p:sp>
      <p:sp>
        <p:nvSpPr>
          <p:cNvPr id="23" name="Text 21"/>
          <p:cNvSpPr/>
          <p:nvPr/>
        </p:nvSpPr>
        <p:spPr>
          <a:xfrm>
            <a:off x="9299448" y="199339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Backend Developer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2011680" y="347472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176272" y="363931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194560" y="372160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D</a:t>
            </a:r>
            <a:endParaRPr lang="en-US" sz="1000"/>
          </a:p>
        </p:txBody>
      </p:sp>
      <p:sp>
        <p:nvSpPr>
          <p:cNvPr id="27" name="Text 25"/>
          <p:cNvSpPr/>
          <p:nvPr/>
        </p:nvSpPr>
        <p:spPr>
          <a:xfrm>
            <a:off x="2670048" y="365760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Datta</a:t>
            </a:r>
            <a:endParaRPr lang="en-US" sz="1600"/>
          </a:p>
        </p:txBody>
      </p:sp>
      <p:sp>
        <p:nvSpPr>
          <p:cNvPr id="28" name="Text 26"/>
          <p:cNvSpPr/>
          <p:nvPr/>
        </p:nvSpPr>
        <p:spPr>
          <a:xfrm>
            <a:off x="2212848" y="423367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sz="1150">
                <a:solidFill>
                  <a:srgbClr val="66778C"/>
                </a:solidFill>
              </a:rPr>
              <a:t>Database Manager &amp; Backend Developer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4846320" y="347472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10912" y="3639312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0" y="372160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S</a:t>
            </a:r>
            <a:endParaRPr lang="en-US" sz="1000"/>
          </a:p>
        </p:txBody>
      </p:sp>
      <p:sp>
        <p:nvSpPr>
          <p:cNvPr id="32" name="Text 30"/>
          <p:cNvSpPr/>
          <p:nvPr/>
        </p:nvSpPr>
        <p:spPr>
          <a:xfrm>
            <a:off x="5504688" y="365760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Saisai</a:t>
            </a:r>
            <a:endParaRPr lang="en-US" sz="1600"/>
          </a:p>
        </p:txBody>
      </p:sp>
      <p:sp>
        <p:nvSpPr>
          <p:cNvPr id="33" name="Text 31"/>
          <p:cNvSpPr/>
          <p:nvPr/>
        </p:nvSpPr>
        <p:spPr>
          <a:xfrm>
            <a:off x="5047488" y="423367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66778C"/>
                </a:solidFill>
              </a:rPr>
              <a:t>UI/UX Designer &amp; Documentation Lead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680960" y="347472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845552" y="3639312"/>
            <a:ext cx="384048" cy="384048"/>
          </a:xfrm>
          <a:prstGeom prst="ellipse">
            <a:avLst/>
          </a:prstGeom>
          <a:solidFill>
            <a:srgbClr val="D98032"/>
          </a:solidFill>
          <a:ln w="12700">
            <a:solidFill>
              <a:srgbClr val="D980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863840" y="372160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C</a:t>
            </a:r>
            <a:endParaRPr lang="en-US" sz="1000"/>
          </a:p>
        </p:txBody>
      </p:sp>
      <p:sp>
        <p:nvSpPr>
          <p:cNvPr id="37" name="Text 35"/>
          <p:cNvSpPr/>
          <p:nvPr/>
        </p:nvSpPr>
        <p:spPr>
          <a:xfrm>
            <a:off x="8339328" y="365760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Chintu</a:t>
            </a:r>
            <a:endParaRPr lang="en-US" sz="1600"/>
          </a:p>
        </p:txBody>
      </p:sp>
      <p:sp>
        <p:nvSpPr>
          <p:cNvPr id="38" name="Text 36"/>
          <p:cNvSpPr/>
          <p:nvPr/>
        </p:nvSpPr>
        <p:spPr>
          <a:xfrm>
            <a:off x="7882128" y="423367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Frontend Developer &amp; QA Tester</a:t>
            </a:r>
            <a:endParaRPr lang="en-US" sz="115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9529"/>
    </mc:Choice>
    <mc:Fallback xmlns="">
      <p:transition spd="slow" advTm="49529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Problem Statement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Why academic advising needs a more proactive, data-informed approach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5257800" cy="4480560"/>
          </a:xfrm>
          <a:prstGeom prst="roundRect">
            <a:avLst>
              <a:gd name="adj" fmla="val 2449"/>
            </a:avLst>
          </a:prstGeom>
          <a:solidFill>
            <a:srgbClr val="FFF1E3"/>
          </a:solidFill>
          <a:ln w="8890">
            <a:solidFill>
              <a:srgbClr val="F5D4B4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536192"/>
            <a:ext cx="384048" cy="384048"/>
          </a:xfrm>
          <a:prstGeom prst="ellipse">
            <a:avLst/>
          </a:prstGeom>
          <a:solidFill>
            <a:srgbClr val="D98032"/>
          </a:solidFill>
          <a:ln w="12700">
            <a:solidFill>
              <a:srgbClr val="D980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86968" y="161848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!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1353312" y="153619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102A4C"/>
                </a:solidFill>
              </a:rPr>
              <a:t>Current Challenge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868680" y="2148840"/>
            <a:ext cx="4617720" cy="10515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1B2B42"/>
                </a:solidFill>
              </a:rPr>
              <a:t>Universities collect grades, attendance, assignment, course-performance and LMS-engagement data, but these signals are often fragmented across systems.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868680" y="3429000"/>
            <a:ext cx="4617720" cy="1188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1B2B42"/>
                </a:solidFill>
              </a:rPr>
              <a:t>Students may discover academic problems only after performance has already declined, while advisors must manually identify who needs support and why.</a:t>
            </a:r>
            <a:endParaRPr lang="en-US" sz="1600"/>
          </a:p>
        </p:txBody>
      </p:sp>
      <p:sp>
        <p:nvSpPr>
          <p:cNvPr id="10" name="Shape 8"/>
          <p:cNvSpPr/>
          <p:nvPr/>
        </p:nvSpPr>
        <p:spPr>
          <a:xfrm>
            <a:off x="6172200" y="123444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E8F8F1"/>
          </a:solidFill>
          <a:ln w="8890">
            <a:solidFill>
              <a:srgbClr val="CDEEE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46520" y="153619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64808" y="161848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3" name="Text 11"/>
          <p:cNvSpPr/>
          <p:nvPr/>
        </p:nvSpPr>
        <p:spPr>
          <a:xfrm>
            <a:off x="6931152" y="153619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102A4C"/>
                </a:solidFill>
              </a:rPr>
              <a:t>What is Needed</a:t>
            </a:r>
            <a:endParaRPr lang="en-US" sz="1900"/>
          </a:p>
        </p:txBody>
      </p:sp>
      <p:sp>
        <p:nvSpPr>
          <p:cNvPr id="14" name="Text 12"/>
          <p:cNvSpPr/>
          <p:nvPr/>
        </p:nvSpPr>
        <p:spPr>
          <a:xfrm>
            <a:off x="6446520" y="2148840"/>
            <a:ext cx="4617720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>
                <a:solidFill>
                  <a:srgbClr val="0B8F67"/>
                </a:solidFill>
              </a:rPr>
              <a:t>A unified advising platform that moves beyond displaying academic data.</a:t>
            </a:r>
            <a:endParaRPr lang="en-US" sz="1600"/>
          </a:p>
        </p:txBody>
      </p:sp>
      <p:sp>
        <p:nvSpPr>
          <p:cNvPr id="15" name="Text 13"/>
          <p:cNvSpPr/>
          <p:nvPr/>
        </p:nvSpPr>
        <p:spPr>
          <a:xfrm>
            <a:off x="6446520" y="2880360"/>
            <a:ext cx="4617720" cy="228600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>
                <a:solidFill>
                  <a:srgbClr val="1B2B42"/>
                </a:solidFill>
              </a:rPr>
              <a:t>Identify students who may need support</a:t>
            </a:r>
            <a:endParaRPr lang="en-US" sz="1400"/>
          </a:p>
          <a:p>
            <a:pPr marL="177800" indent="-177800">
              <a:buSzPct val="100000"/>
              <a:buChar char="•"/>
            </a:pPr>
            <a:r>
              <a:rPr lang="en-US" sz="1400">
                <a:solidFill>
                  <a:srgbClr val="1B2B42"/>
                </a:solidFill>
              </a:rPr>
              <a:t>Explain the factors contributing to academic risk</a:t>
            </a:r>
            <a:endParaRPr lang="en-US" sz="1400"/>
          </a:p>
          <a:p>
            <a:pPr marL="177800" indent="-177800">
              <a:buSzPct val="100000"/>
              <a:buChar char="•"/>
            </a:pPr>
            <a:r>
              <a:rPr lang="en-US" sz="1400">
                <a:solidFill>
                  <a:srgbClr val="1B2B42"/>
                </a:solidFill>
              </a:rPr>
              <a:t>Recommend appropriate, personalized actions</a:t>
            </a:r>
            <a:endParaRPr lang="en-US" sz="1400"/>
          </a:p>
          <a:p>
            <a:pPr marL="177800" indent="-177800">
              <a:buSzPct val="100000"/>
              <a:buChar char="•"/>
            </a:pPr>
            <a:r>
              <a:rPr lang="en-US" sz="1400">
                <a:solidFill>
                  <a:srgbClr val="1B2B42"/>
                </a:solidFill>
              </a:rPr>
              <a:t>Help advisors intervene earlier</a:t>
            </a:r>
            <a:endParaRPr lang="en-US" sz="1400"/>
          </a:p>
          <a:p>
            <a:pPr marL="177800" indent="-177800">
              <a:buSzPct val="100000"/>
              <a:buChar char="•"/>
            </a:pPr>
            <a:r>
              <a:rPr lang="en-US" sz="1400">
                <a:solidFill>
                  <a:srgbClr val="1B2B42"/>
                </a:solidFill>
              </a:rPr>
              <a:t>Keep humans involved in important decisions</a:t>
            </a:r>
            <a:endParaRPr lang="en-US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4571"/>
    </mc:Choice>
    <mc:Fallback xmlns="">
      <p:transition spd="slow" advTm="6457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Project Description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A full-stack advising platform that turns academic data into actionable support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8F8F1"/>
          </a:solidFill>
          <a:ln w="8890">
            <a:solidFill>
              <a:srgbClr val="D3EEE4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15568" y="2103120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3385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1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61264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Student Data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63093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Grades • attendance • assignments • LMS</a:t>
            </a:r>
            <a:endParaRPr lang="en-US" sz="1050"/>
          </a:p>
        </p:txBody>
      </p:sp>
      <p:sp>
        <p:nvSpPr>
          <p:cNvPr id="9" name="Shape 7"/>
          <p:cNvSpPr/>
          <p:nvPr/>
        </p:nvSpPr>
        <p:spPr>
          <a:xfrm>
            <a:off x="216712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2316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AF2FF"/>
          </a:solidFill>
          <a:ln w="8890">
            <a:solidFill>
              <a:srgbClr val="D8E7F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035808" y="2103120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5409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2</a:t>
            </a:r>
            <a:endParaRPr lang="en-US" sz="1000"/>
          </a:p>
        </p:txBody>
      </p:sp>
      <p:sp>
        <p:nvSpPr>
          <p:cNvPr id="13" name="Text 11"/>
          <p:cNvSpPr/>
          <p:nvPr/>
        </p:nvSpPr>
        <p:spPr>
          <a:xfrm>
            <a:off x="253288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Risk Prediction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255117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Estimate academic-support risk</a:t>
            </a:r>
            <a:endParaRPr lang="en-US" sz="1050"/>
          </a:p>
        </p:txBody>
      </p:sp>
      <p:sp>
        <p:nvSpPr>
          <p:cNvPr id="15" name="Shape 13"/>
          <p:cNvSpPr/>
          <p:nvPr/>
        </p:nvSpPr>
        <p:spPr>
          <a:xfrm>
            <a:off x="408736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34340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8F8F1"/>
          </a:solidFill>
          <a:ln w="8890">
            <a:solidFill>
              <a:srgbClr val="D3EEE4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56048" y="2103120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7433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3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445312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Explainability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447141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Show the factors behind the result</a:t>
            </a:r>
            <a:endParaRPr lang="en-US" sz="1050"/>
          </a:p>
        </p:txBody>
      </p:sp>
      <p:sp>
        <p:nvSpPr>
          <p:cNvPr id="21" name="Shape 19"/>
          <p:cNvSpPr/>
          <p:nvPr/>
        </p:nvSpPr>
        <p:spPr>
          <a:xfrm>
            <a:off x="600760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26364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AF2FF"/>
          </a:solidFill>
          <a:ln w="8890">
            <a:solidFill>
              <a:srgbClr val="D8E7F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876288" y="2103120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9457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4</a:t>
            </a:r>
            <a:endParaRPr lang="en-US" sz="1000"/>
          </a:p>
        </p:txBody>
      </p:sp>
      <p:sp>
        <p:nvSpPr>
          <p:cNvPr id="25" name="Text 23"/>
          <p:cNvSpPr/>
          <p:nvPr/>
        </p:nvSpPr>
        <p:spPr>
          <a:xfrm>
            <a:off x="637336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Recommendations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639165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Suggest tutoring, planning or resources</a:t>
            </a:r>
            <a:endParaRPr lang="en-US" sz="1050"/>
          </a:p>
        </p:txBody>
      </p:sp>
      <p:sp>
        <p:nvSpPr>
          <p:cNvPr id="27" name="Shape 25"/>
          <p:cNvSpPr/>
          <p:nvPr/>
        </p:nvSpPr>
        <p:spPr>
          <a:xfrm>
            <a:off x="792784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18388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8F8F1"/>
          </a:solidFill>
          <a:ln w="8890">
            <a:solidFill>
              <a:srgbClr val="D3EEE4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796528" y="2103120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81481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5</a:t>
            </a:r>
            <a:endParaRPr lang="en-US" sz="1000"/>
          </a:p>
        </p:txBody>
      </p:sp>
      <p:sp>
        <p:nvSpPr>
          <p:cNvPr id="31" name="Text 29"/>
          <p:cNvSpPr/>
          <p:nvPr/>
        </p:nvSpPr>
        <p:spPr>
          <a:xfrm>
            <a:off x="829360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Advisor + AI Support</a:t>
            </a:r>
            <a:endParaRPr lang="en-US" sz="1400"/>
          </a:p>
        </p:txBody>
      </p:sp>
      <p:sp>
        <p:nvSpPr>
          <p:cNvPr id="32" name="Text 30"/>
          <p:cNvSpPr/>
          <p:nvPr/>
        </p:nvSpPr>
        <p:spPr>
          <a:xfrm>
            <a:off x="831189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Human intervention + conversational guidance</a:t>
            </a:r>
            <a:endParaRPr lang="en-US" sz="1050"/>
          </a:p>
        </p:txBody>
      </p:sp>
      <p:sp>
        <p:nvSpPr>
          <p:cNvPr id="33" name="Shape 31"/>
          <p:cNvSpPr/>
          <p:nvPr/>
        </p:nvSpPr>
        <p:spPr>
          <a:xfrm>
            <a:off x="984808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10412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AF2FF"/>
          </a:solidFill>
          <a:ln w="8890">
            <a:solidFill>
              <a:srgbClr val="D8E7F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716768" y="2103120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73505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6</a:t>
            </a:r>
            <a:endParaRPr lang="en-US" sz="1000"/>
          </a:p>
        </p:txBody>
      </p:sp>
      <p:sp>
        <p:nvSpPr>
          <p:cNvPr id="37" name="Text 35"/>
          <p:cNvSpPr/>
          <p:nvPr/>
        </p:nvSpPr>
        <p:spPr>
          <a:xfrm>
            <a:off x="1021384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Progress</a:t>
            </a:r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1023213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Track follow-up and outcomes</a:t>
            </a:r>
            <a:endParaRPr lang="en-US" sz="1050"/>
          </a:p>
        </p:txBody>
      </p:sp>
      <p:sp>
        <p:nvSpPr>
          <p:cNvPr id="39" name="Text 37"/>
          <p:cNvSpPr/>
          <p:nvPr/>
        </p:nvSpPr>
        <p:spPr>
          <a:xfrm>
            <a:off x="1965960" y="484632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3001"/>
    </mc:Choice>
    <mc:Fallback xmlns="">
      <p:transition spd="slow" advTm="8300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Student Persona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Learn • Improve • Succeed</a:t>
            </a:r>
            <a:endParaRPr lang="en-US" sz="1250"/>
          </a:p>
        </p:txBody>
      </p:sp>
      <p:pic>
        <p:nvPicPr>
          <p:cNvPr id="4" name="Image 0" descr="/mnt/data/persona_0.png"/>
          <p:cNvPicPr>
            <a:picLocks noChangeAspect="1"/>
          </p:cNvPicPr>
          <p:nvPr/>
        </p:nvPicPr>
        <p:blipFill>
          <a:blip r:embed="rId3"/>
          <a:srcRect t="1818" b="21479"/>
          <a:stretch>
            <a:fillRect/>
          </a:stretch>
        </p:blipFill>
        <p:spPr>
          <a:xfrm>
            <a:off x="594360" y="1170432"/>
            <a:ext cx="3794760" cy="2011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3502152"/>
            <a:ext cx="3794760" cy="2468880"/>
          </a:xfrm>
          <a:prstGeom prst="roundRect">
            <a:avLst>
              <a:gd name="adj" fmla="val 4444"/>
            </a:avLst>
          </a:prstGeom>
          <a:solidFill>
            <a:srgbClr val="E8F8F1"/>
          </a:solidFill>
          <a:ln w="8890">
            <a:solidFill>
              <a:srgbClr val="0B8F67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37307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B8F67"/>
                </a:solidFill>
              </a:rPr>
              <a:t>Description</a:t>
            </a:r>
            <a:endParaRPr lang="en-US" sz="1500"/>
          </a:p>
        </p:txBody>
      </p:sp>
      <p:sp>
        <p:nvSpPr>
          <p:cNvPr id="7" name="Text 4"/>
          <p:cNvSpPr/>
          <p:nvPr/>
        </p:nvSpPr>
        <p:spPr>
          <a:xfrm>
            <a:off x="868680" y="4096512"/>
            <a:ext cx="3246120" cy="1325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1B2B42"/>
                </a:solidFill>
              </a:rPr>
              <a:t>A current student who wants a clear view of academic progress, upcoming work, risk indicators and practical next steps.</a:t>
            </a:r>
            <a:endParaRPr lang="en-US" sz="1400"/>
          </a:p>
        </p:txBody>
      </p:sp>
      <p:sp>
        <p:nvSpPr>
          <p:cNvPr id="8" name="Shape 5"/>
          <p:cNvSpPr/>
          <p:nvPr/>
        </p:nvSpPr>
        <p:spPr>
          <a:xfrm>
            <a:off x="4663440" y="1170432"/>
            <a:ext cx="3246120" cy="48006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937760" y="1481328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956048" y="156362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1" name="Text 8"/>
          <p:cNvSpPr/>
          <p:nvPr/>
        </p:nvSpPr>
        <p:spPr>
          <a:xfrm>
            <a:off x="5440680" y="152704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0B8F67"/>
                </a:solidFill>
              </a:rPr>
              <a:t>Goals</a:t>
            </a:r>
            <a:endParaRPr lang="en-US" sz="1700"/>
          </a:p>
        </p:txBody>
      </p:sp>
      <p:sp>
        <p:nvSpPr>
          <p:cNvPr id="12" name="Text 9"/>
          <p:cNvSpPr/>
          <p:nvPr/>
        </p:nvSpPr>
        <p:spPr>
          <a:xfrm>
            <a:off x="4937760" y="2057400"/>
            <a:ext cx="2697480" cy="338328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Track grades, attendance and progress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Understand why support is recommended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Receive personalized actions and resources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Ask academic questions through the AI advisor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8183880" y="1170432"/>
            <a:ext cx="3383280" cy="4800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8458200" y="1481328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476488" y="156362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!</a:t>
            </a:r>
            <a:endParaRPr lang="en-US" sz="1000"/>
          </a:p>
        </p:txBody>
      </p:sp>
      <p:sp>
        <p:nvSpPr>
          <p:cNvPr id="16" name="Text 13"/>
          <p:cNvSpPr/>
          <p:nvPr/>
        </p:nvSpPr>
        <p:spPr>
          <a:xfrm>
            <a:off x="8961120" y="152704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0B8F67"/>
                </a:solidFill>
              </a:rPr>
              <a:t>Challenges</a:t>
            </a:r>
            <a:endParaRPr lang="en-US" sz="1700"/>
          </a:p>
        </p:txBody>
      </p:sp>
      <p:sp>
        <p:nvSpPr>
          <p:cNvPr id="17" name="Text 14"/>
          <p:cNvSpPr/>
          <p:nvPr/>
        </p:nvSpPr>
        <p:spPr>
          <a:xfrm>
            <a:off x="8458200" y="2057400"/>
            <a:ext cx="2743200" cy="310896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Fragmented academic information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Late awareness of declining performance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Generic rather than personalized support</a:t>
            </a:r>
            <a:endParaRPr lang="en-US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3126"/>
    </mc:Choice>
    <mc:Fallback xmlns="">
      <p:transition spd="slow" advTm="53126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Academic Advisor Persona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Guide • Support • Make an Impact</a:t>
            </a:r>
            <a:endParaRPr lang="en-US" sz="1250"/>
          </a:p>
        </p:txBody>
      </p:sp>
      <p:pic>
        <p:nvPicPr>
          <p:cNvPr id="4" name="Image 0" descr="/mnt/data/persona_1.png"/>
          <p:cNvPicPr>
            <a:picLocks noChangeAspect="1"/>
          </p:cNvPicPr>
          <p:nvPr/>
        </p:nvPicPr>
        <p:blipFill>
          <a:blip r:embed="rId3"/>
          <a:srcRect t="3308" b="19203"/>
          <a:stretch>
            <a:fillRect/>
          </a:stretch>
        </p:blipFill>
        <p:spPr>
          <a:xfrm>
            <a:off x="594360" y="1170432"/>
            <a:ext cx="3794760" cy="211354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3502152"/>
            <a:ext cx="3794760" cy="2468880"/>
          </a:xfrm>
          <a:prstGeom prst="roundRect">
            <a:avLst>
              <a:gd name="adj" fmla="val 4444"/>
            </a:avLst>
          </a:prstGeom>
          <a:solidFill>
            <a:srgbClr val="EAF2FF"/>
          </a:solidFill>
          <a:ln w="8890">
            <a:solidFill>
              <a:srgbClr val="2569B8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37307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2569B8"/>
                </a:solidFill>
              </a:rPr>
              <a:t>Description</a:t>
            </a:r>
            <a:endParaRPr lang="en-US" sz="1500"/>
          </a:p>
        </p:txBody>
      </p:sp>
      <p:sp>
        <p:nvSpPr>
          <p:cNvPr id="7" name="Text 4"/>
          <p:cNvSpPr/>
          <p:nvPr/>
        </p:nvSpPr>
        <p:spPr>
          <a:xfrm>
            <a:off x="868680" y="4096512"/>
            <a:ext cx="3246120" cy="1325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1B2B42"/>
                </a:solidFill>
              </a:rPr>
              <a:t>An academic advisor who needs to quickly identify students requiring attention and understand the evidence behind recommendations.</a:t>
            </a:r>
            <a:endParaRPr lang="en-US" sz="1400"/>
          </a:p>
        </p:txBody>
      </p:sp>
      <p:sp>
        <p:nvSpPr>
          <p:cNvPr id="8" name="Shape 5"/>
          <p:cNvSpPr/>
          <p:nvPr/>
        </p:nvSpPr>
        <p:spPr>
          <a:xfrm>
            <a:off x="4663440" y="1170432"/>
            <a:ext cx="3246120" cy="48006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937760" y="1481328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956048" y="156362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1" name="Text 8"/>
          <p:cNvSpPr/>
          <p:nvPr/>
        </p:nvSpPr>
        <p:spPr>
          <a:xfrm>
            <a:off x="5440680" y="152704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569B8"/>
                </a:solidFill>
              </a:rPr>
              <a:t>Goals</a:t>
            </a:r>
            <a:endParaRPr lang="en-US" sz="1700"/>
          </a:p>
        </p:txBody>
      </p:sp>
      <p:sp>
        <p:nvSpPr>
          <p:cNvPr id="12" name="Text 9"/>
          <p:cNvSpPr/>
          <p:nvPr/>
        </p:nvSpPr>
        <p:spPr>
          <a:xfrm>
            <a:off x="4937760" y="2057400"/>
            <a:ext cx="2697480" cy="338328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Monitor assigned students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Prioritize students needing intervention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Review risk explanations and recommendations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Record interventions and follow-up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8183880" y="1170432"/>
            <a:ext cx="3383280" cy="4800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8458200" y="1481328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476488" y="156362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!</a:t>
            </a:r>
            <a:endParaRPr lang="en-US" sz="1000"/>
          </a:p>
        </p:txBody>
      </p:sp>
      <p:sp>
        <p:nvSpPr>
          <p:cNvPr id="16" name="Text 13"/>
          <p:cNvSpPr/>
          <p:nvPr/>
        </p:nvSpPr>
        <p:spPr>
          <a:xfrm>
            <a:off x="8961120" y="152704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569B8"/>
                </a:solidFill>
              </a:rPr>
              <a:t>Challenges</a:t>
            </a:r>
            <a:endParaRPr lang="en-US" sz="1700"/>
          </a:p>
        </p:txBody>
      </p:sp>
      <p:sp>
        <p:nvSpPr>
          <p:cNvPr id="17" name="Text 14"/>
          <p:cNvSpPr/>
          <p:nvPr/>
        </p:nvSpPr>
        <p:spPr>
          <a:xfrm>
            <a:off x="8458200" y="2057400"/>
            <a:ext cx="2743200" cy="310896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Large advising caseloads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Manual review of multiple data sources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Limited time for proactive outreach</a:t>
            </a:r>
            <a:endParaRPr lang="en-US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180"/>
    </mc:Choice>
    <mc:Fallback xmlns="">
      <p:transition spd="slow" advTm="5718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Administrator Persona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Manage • Enable • Ensure Success</a:t>
            </a:r>
            <a:endParaRPr lang="en-US" sz="1250"/>
          </a:p>
        </p:txBody>
      </p:sp>
      <p:pic>
        <p:nvPicPr>
          <p:cNvPr id="4" name="Image 0" descr="/mnt/data/persona_2.png"/>
          <p:cNvPicPr>
            <a:picLocks noChangeAspect="1"/>
          </p:cNvPicPr>
          <p:nvPr/>
        </p:nvPicPr>
        <p:blipFill>
          <a:blip r:embed="rId3"/>
          <a:srcRect t="1818" b="18220"/>
          <a:stretch>
            <a:fillRect/>
          </a:stretch>
        </p:blipFill>
        <p:spPr>
          <a:xfrm>
            <a:off x="342900" y="992124"/>
            <a:ext cx="3794760" cy="203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3502152"/>
            <a:ext cx="3794760" cy="2468880"/>
          </a:xfrm>
          <a:prstGeom prst="roundRect">
            <a:avLst>
              <a:gd name="adj" fmla="val 4444"/>
            </a:avLst>
          </a:prstGeom>
          <a:solidFill>
            <a:srgbClr val="F0ECFF"/>
          </a:solidFill>
          <a:ln w="8890">
            <a:solidFill>
              <a:srgbClr val="5D46A8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37307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D46A8"/>
                </a:solidFill>
              </a:rPr>
              <a:t>Description</a:t>
            </a:r>
            <a:endParaRPr lang="en-US" sz="1500"/>
          </a:p>
        </p:txBody>
      </p:sp>
      <p:sp>
        <p:nvSpPr>
          <p:cNvPr id="7" name="Text 4"/>
          <p:cNvSpPr/>
          <p:nvPr/>
        </p:nvSpPr>
        <p:spPr>
          <a:xfrm>
            <a:off x="868680" y="4096512"/>
            <a:ext cx="3246120" cy="1325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1B2B42"/>
                </a:solidFill>
              </a:rPr>
              <a:t>A university administrator who needs to manage the platform, academic resources, access controls and system-level reporting.</a:t>
            </a:r>
            <a:endParaRPr lang="en-US" sz="1400"/>
          </a:p>
        </p:txBody>
      </p:sp>
      <p:sp>
        <p:nvSpPr>
          <p:cNvPr id="8" name="Shape 5"/>
          <p:cNvSpPr/>
          <p:nvPr/>
        </p:nvSpPr>
        <p:spPr>
          <a:xfrm>
            <a:off x="4663440" y="1170432"/>
            <a:ext cx="3246120" cy="48006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937760" y="1481328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956048" y="156362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1" name="Text 8"/>
          <p:cNvSpPr/>
          <p:nvPr/>
        </p:nvSpPr>
        <p:spPr>
          <a:xfrm>
            <a:off x="5440680" y="152704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5D46A8"/>
                </a:solidFill>
              </a:rPr>
              <a:t>Goals</a:t>
            </a:r>
            <a:endParaRPr lang="en-US" sz="1700"/>
          </a:p>
        </p:txBody>
      </p:sp>
      <p:sp>
        <p:nvSpPr>
          <p:cNvPr id="12" name="Text 9"/>
          <p:cNvSpPr/>
          <p:nvPr/>
        </p:nvSpPr>
        <p:spPr>
          <a:xfrm>
            <a:off x="4937760" y="2057400"/>
            <a:ext cx="2697480" cy="338328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Manage users, roles and resources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Maintain approved advising content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Monitor system usage and outcomes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Support governance and auditability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8183880" y="1170432"/>
            <a:ext cx="3383280" cy="4800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8458200" y="1481328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476488" y="156362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!</a:t>
            </a:r>
            <a:endParaRPr lang="en-US" sz="1000"/>
          </a:p>
        </p:txBody>
      </p:sp>
      <p:sp>
        <p:nvSpPr>
          <p:cNvPr id="16" name="Text 13"/>
          <p:cNvSpPr/>
          <p:nvPr/>
        </p:nvSpPr>
        <p:spPr>
          <a:xfrm>
            <a:off x="8961120" y="152704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5D46A8"/>
                </a:solidFill>
              </a:rPr>
              <a:t>Challenges</a:t>
            </a:r>
            <a:endParaRPr lang="en-US" sz="1700"/>
          </a:p>
        </p:txBody>
      </p:sp>
      <p:sp>
        <p:nvSpPr>
          <p:cNvPr id="17" name="Text 14"/>
          <p:cNvSpPr/>
          <p:nvPr/>
        </p:nvSpPr>
        <p:spPr>
          <a:xfrm>
            <a:off x="8458200" y="2057400"/>
            <a:ext cx="2743200" cy="310896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Data privacy and access control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Consistency of advising information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Responsible use of AI</a:t>
            </a:r>
            <a:endParaRPr lang="en-US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049"/>
    </mc:Choice>
    <mc:Fallback xmlns="">
      <p:transition spd="slow" advTm="79049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Minimum Viable Product (MVP)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The smallest complete system that demonstrates end-to-end academic support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67512" y="139903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ID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1161288" y="14173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Authentication &amp; Roles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704088" y="207568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Student, advisor and administrator access</a:t>
            </a:r>
            <a:endParaRPr lang="en-US" sz="1150"/>
          </a:p>
        </p:txBody>
      </p:sp>
      <p:sp>
        <p:nvSpPr>
          <p:cNvPr id="9" name="Shape 7"/>
          <p:cNvSpPr/>
          <p:nvPr/>
        </p:nvSpPr>
        <p:spPr>
          <a:xfrm>
            <a:off x="3383280" y="123444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547872" y="139903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6616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AP</a:t>
            </a:r>
            <a:endParaRPr lang="en-US" sz="1000"/>
          </a:p>
        </p:txBody>
      </p:sp>
      <p:sp>
        <p:nvSpPr>
          <p:cNvPr id="12" name="Text 10"/>
          <p:cNvSpPr/>
          <p:nvPr/>
        </p:nvSpPr>
        <p:spPr>
          <a:xfrm>
            <a:off x="4041648" y="14173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Academic Profile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3584448" y="207568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Courses, grades, attendance and assignments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6263640" y="123444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28232" y="139903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SD</a:t>
            </a:r>
            <a:endParaRPr lang="en-US" sz="1000"/>
          </a:p>
        </p:txBody>
      </p:sp>
      <p:sp>
        <p:nvSpPr>
          <p:cNvPr id="17" name="Text 15"/>
          <p:cNvSpPr/>
          <p:nvPr/>
        </p:nvSpPr>
        <p:spPr>
          <a:xfrm>
            <a:off x="6922008" y="14173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Student Dashboard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6464808" y="207568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Progress, risk status and recommendations</a:t>
            </a:r>
            <a:endParaRPr lang="en-US" sz="1150"/>
          </a:p>
        </p:txBody>
      </p:sp>
      <p:sp>
        <p:nvSpPr>
          <p:cNvPr id="19" name="Shape 17"/>
          <p:cNvSpPr/>
          <p:nvPr/>
        </p:nvSpPr>
        <p:spPr>
          <a:xfrm>
            <a:off x="9144000" y="123444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308592" y="139903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32688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AD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9802368" y="14173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Advisor Dashboard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9345168" y="207568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Students, explanations and interventions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502920" y="356616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67512" y="373075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85800" y="381304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ML</a:t>
            </a:r>
            <a:endParaRPr lang="en-US" sz="1000"/>
          </a:p>
        </p:txBody>
      </p:sp>
      <p:sp>
        <p:nvSpPr>
          <p:cNvPr id="27" name="Text 25"/>
          <p:cNvSpPr/>
          <p:nvPr/>
        </p:nvSpPr>
        <p:spPr>
          <a:xfrm>
            <a:off x="1161288" y="3749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Risk Prediction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704088" y="440740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ML-based academic-support risk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3383280" y="356616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547872" y="373075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566160" y="381304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XAI</a:t>
            </a:r>
            <a:endParaRPr lang="en-US" sz="1000"/>
          </a:p>
        </p:txBody>
      </p:sp>
      <p:sp>
        <p:nvSpPr>
          <p:cNvPr id="32" name="Text 30"/>
          <p:cNvSpPr/>
          <p:nvPr/>
        </p:nvSpPr>
        <p:spPr>
          <a:xfrm>
            <a:off x="4041648" y="3749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Explainable AI</a:t>
            </a:r>
            <a:endParaRPr lang="en-US" sz="1400"/>
          </a:p>
        </p:txBody>
      </p:sp>
      <p:sp>
        <p:nvSpPr>
          <p:cNvPr id="33" name="Text 31"/>
          <p:cNvSpPr/>
          <p:nvPr/>
        </p:nvSpPr>
        <p:spPr>
          <a:xfrm>
            <a:off x="3584448" y="440740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Show factors influencing the result</a:t>
            </a:r>
            <a:endParaRPr lang="en-US" sz="1150"/>
          </a:p>
        </p:txBody>
      </p:sp>
      <p:sp>
        <p:nvSpPr>
          <p:cNvPr id="34" name="Shape 32"/>
          <p:cNvSpPr/>
          <p:nvPr/>
        </p:nvSpPr>
        <p:spPr>
          <a:xfrm>
            <a:off x="6263640" y="356616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428232" y="373075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46520" y="381304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RE</a:t>
            </a:r>
            <a:endParaRPr lang="en-US" sz="1000"/>
          </a:p>
        </p:txBody>
      </p:sp>
      <p:sp>
        <p:nvSpPr>
          <p:cNvPr id="37" name="Text 35"/>
          <p:cNvSpPr/>
          <p:nvPr/>
        </p:nvSpPr>
        <p:spPr>
          <a:xfrm>
            <a:off x="6922008" y="3749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Recommendation Engine</a:t>
            </a:r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6464808" y="440740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Map needs to actions and resources</a:t>
            </a:r>
            <a:endParaRPr lang="en-US" sz="1150"/>
          </a:p>
        </p:txBody>
      </p:sp>
      <p:sp>
        <p:nvSpPr>
          <p:cNvPr id="39" name="Shape 37"/>
          <p:cNvSpPr/>
          <p:nvPr/>
        </p:nvSpPr>
        <p:spPr>
          <a:xfrm>
            <a:off x="9144000" y="356616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9308592" y="373075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326880" y="381304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IT</a:t>
            </a:r>
            <a:endParaRPr lang="en-US" sz="1000"/>
          </a:p>
        </p:txBody>
      </p:sp>
      <p:sp>
        <p:nvSpPr>
          <p:cNvPr id="42" name="Text 40"/>
          <p:cNvSpPr/>
          <p:nvPr/>
        </p:nvSpPr>
        <p:spPr>
          <a:xfrm>
            <a:off x="9802368" y="3749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b="1" dirty="0">
                <a:solidFill>
                  <a:srgbClr val="102A4C"/>
                </a:solidFill>
              </a:rPr>
              <a:t>Intervention Tracking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345168" y="440740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Review actions and monitor follow-up</a:t>
            </a:r>
            <a:endParaRPr lang="en-US" sz="115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4623"/>
    </mc:Choice>
    <mc:Fallback xmlns="">
      <p:transition spd="slow" advTm="64623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Proposed System Architecture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Separation between experience, application, data and intelligence layers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914400" y="1143000"/>
            <a:ext cx="10149840" cy="932688"/>
          </a:xfrm>
          <a:prstGeom prst="roundRect">
            <a:avLst>
              <a:gd name="adj" fmla="val 11765"/>
            </a:avLst>
          </a:prstGeom>
          <a:solidFill>
            <a:srgbClr val="E8F8F1"/>
          </a:solidFill>
          <a:ln w="8890">
            <a:solidFill>
              <a:srgbClr val="0B8F67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88720" y="1408176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07008" y="149047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1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1737360" y="130759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Experience Layer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3886200" y="13075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B8F67"/>
                </a:solidFill>
              </a:rPr>
              <a:t>React / Next.js</a:t>
            </a:r>
            <a:endParaRPr lang="en-US" sz="1500"/>
          </a:p>
        </p:txBody>
      </p:sp>
      <p:sp>
        <p:nvSpPr>
          <p:cNvPr id="9" name="Text 7"/>
          <p:cNvSpPr/>
          <p:nvPr/>
        </p:nvSpPr>
        <p:spPr>
          <a:xfrm>
            <a:off x="5852160" y="130759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1B2B42"/>
                </a:solidFill>
              </a:rPr>
              <a:t>Student • Advisor • Administrator dashboards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914400" y="2377440"/>
            <a:ext cx="10149840" cy="932688"/>
          </a:xfrm>
          <a:prstGeom prst="roundRect">
            <a:avLst>
              <a:gd name="adj" fmla="val 11765"/>
            </a:avLst>
          </a:prstGeom>
          <a:solidFill>
            <a:srgbClr val="EAF2FF"/>
          </a:solidFill>
          <a:ln w="8890">
            <a:solidFill>
              <a:srgbClr val="2569B8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88720" y="2642616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07008" y="272491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2</a:t>
            </a:r>
            <a:endParaRPr lang="en-US" sz="1000"/>
          </a:p>
        </p:txBody>
      </p:sp>
      <p:sp>
        <p:nvSpPr>
          <p:cNvPr id="13" name="Text 11"/>
          <p:cNvSpPr/>
          <p:nvPr/>
        </p:nvSpPr>
        <p:spPr>
          <a:xfrm>
            <a:off x="1737360" y="254203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Application Layer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3886200" y="254203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2569B8"/>
                </a:solidFill>
              </a:rPr>
              <a:t>FastAPI / Python</a:t>
            </a:r>
            <a:endParaRPr lang="en-US" sz="1500"/>
          </a:p>
        </p:txBody>
      </p:sp>
      <p:sp>
        <p:nvSpPr>
          <p:cNvPr id="15" name="Text 13"/>
          <p:cNvSpPr/>
          <p:nvPr/>
        </p:nvSpPr>
        <p:spPr>
          <a:xfrm>
            <a:off x="5852160" y="254203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1B2B42"/>
                </a:solidFill>
              </a:rPr>
              <a:t>REST APIs • auth • business logic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914400" y="3611880"/>
            <a:ext cx="10149840" cy="932688"/>
          </a:xfrm>
          <a:prstGeom prst="roundRect">
            <a:avLst>
              <a:gd name="adj" fmla="val 11765"/>
            </a:avLst>
          </a:prstGeom>
          <a:solidFill>
            <a:srgbClr val="F0ECFF"/>
          </a:solidFill>
          <a:ln w="8890">
            <a:solidFill>
              <a:srgbClr val="5D46A8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88720" y="3877056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07008" y="395935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3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1737360" y="377647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Data Layer</a:t>
            </a:r>
            <a:endParaRPr lang="en-US" sz="1600"/>
          </a:p>
        </p:txBody>
      </p:sp>
      <p:sp>
        <p:nvSpPr>
          <p:cNvPr id="20" name="Text 18"/>
          <p:cNvSpPr/>
          <p:nvPr/>
        </p:nvSpPr>
        <p:spPr>
          <a:xfrm>
            <a:off x="3886200" y="377647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D46A8"/>
                </a:solidFill>
              </a:rPr>
              <a:t>PostgreSQL</a:t>
            </a:r>
            <a:endParaRPr lang="en-US" sz="1500"/>
          </a:p>
        </p:txBody>
      </p:sp>
      <p:sp>
        <p:nvSpPr>
          <p:cNvPr id="21" name="Text 19"/>
          <p:cNvSpPr/>
          <p:nvPr/>
        </p:nvSpPr>
        <p:spPr>
          <a:xfrm>
            <a:off x="5852160" y="37764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1B2B42"/>
                </a:solidFill>
              </a:rPr>
              <a:t>Academic records • users • interventions</a:t>
            </a:r>
            <a:endParaRPr lang="en-US" sz="1300"/>
          </a:p>
        </p:txBody>
      </p:sp>
      <p:sp>
        <p:nvSpPr>
          <p:cNvPr id="22" name="Shape 20"/>
          <p:cNvSpPr/>
          <p:nvPr/>
        </p:nvSpPr>
        <p:spPr>
          <a:xfrm>
            <a:off x="914400" y="4846320"/>
            <a:ext cx="10149840" cy="932688"/>
          </a:xfrm>
          <a:prstGeom prst="roundRect">
            <a:avLst>
              <a:gd name="adj" fmla="val 11765"/>
            </a:avLst>
          </a:prstGeom>
          <a:solidFill>
            <a:srgbClr val="FFF1E3"/>
          </a:solidFill>
          <a:ln w="8890">
            <a:solidFill>
              <a:srgbClr val="D98032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8720" y="5111496"/>
            <a:ext cx="384048" cy="384048"/>
          </a:xfrm>
          <a:prstGeom prst="ellipse">
            <a:avLst/>
          </a:prstGeom>
          <a:solidFill>
            <a:srgbClr val="D98032"/>
          </a:solidFill>
          <a:ln w="12700">
            <a:solidFill>
              <a:srgbClr val="D980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07008" y="519379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4</a:t>
            </a:r>
            <a:endParaRPr lang="en-US" sz="1000"/>
          </a:p>
        </p:txBody>
      </p:sp>
      <p:sp>
        <p:nvSpPr>
          <p:cNvPr id="25" name="Text 23"/>
          <p:cNvSpPr/>
          <p:nvPr/>
        </p:nvSpPr>
        <p:spPr>
          <a:xfrm>
            <a:off x="1737360" y="501091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Intelligence Layer</a:t>
            </a:r>
            <a:endParaRPr lang="en-US" sz="1600"/>
          </a:p>
        </p:txBody>
      </p:sp>
      <p:sp>
        <p:nvSpPr>
          <p:cNvPr id="26" name="Text 24"/>
          <p:cNvSpPr/>
          <p:nvPr/>
        </p:nvSpPr>
        <p:spPr>
          <a:xfrm>
            <a:off x="3886200" y="501091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98032"/>
                </a:solidFill>
              </a:rPr>
              <a:t>ML + XAI + RAG</a:t>
            </a:r>
            <a:endParaRPr lang="en-US" sz="1500"/>
          </a:p>
        </p:txBody>
      </p:sp>
      <p:sp>
        <p:nvSpPr>
          <p:cNvPr id="27" name="Text 25"/>
          <p:cNvSpPr/>
          <p:nvPr/>
        </p:nvSpPr>
        <p:spPr>
          <a:xfrm>
            <a:off x="5852160" y="501091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1B2B42"/>
                </a:solidFill>
              </a:rPr>
              <a:t>Risk prediction • explanations • recommendations</a:t>
            </a:r>
            <a:endParaRPr lang="en-US" sz="130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1914"/>
    </mc:Choice>
    <mc:Fallback xmlns="">
      <p:transition spd="slow" advTm="61914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Technologies &amp; AI/ML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A practical stack aligned with the team’s skills and project scope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35608" y="1536192"/>
            <a:ext cx="822960" cy="822960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508760" y="175564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⚛</a:t>
            </a:r>
            <a:endParaRPr lang="en-US" sz="1500"/>
          </a:p>
        </p:txBody>
      </p:sp>
      <p:sp>
        <p:nvSpPr>
          <p:cNvPr id="7" name="Text 5"/>
          <p:cNvSpPr/>
          <p:nvPr/>
        </p:nvSpPr>
        <p:spPr>
          <a:xfrm>
            <a:off x="777240" y="248716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React / Next.js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777240" y="279806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Frontend</a:t>
            </a:r>
            <a:endParaRPr lang="en-US" sz="1050"/>
          </a:p>
        </p:txBody>
      </p:sp>
      <p:sp>
        <p:nvSpPr>
          <p:cNvPr id="9" name="Shape 7"/>
          <p:cNvSpPr/>
          <p:nvPr/>
        </p:nvSpPr>
        <p:spPr>
          <a:xfrm>
            <a:off x="3429000" y="128016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270248" y="1536192"/>
            <a:ext cx="822960" cy="822960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43400" y="175564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Py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3611880" y="248716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Python / FastAPI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3611880" y="279806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Backend</a:t>
            </a:r>
            <a:endParaRPr lang="en-US" sz="1050"/>
          </a:p>
        </p:txBody>
      </p:sp>
      <p:sp>
        <p:nvSpPr>
          <p:cNvPr id="14" name="Shape 12"/>
          <p:cNvSpPr/>
          <p:nvPr/>
        </p:nvSpPr>
        <p:spPr>
          <a:xfrm>
            <a:off x="6263640" y="128016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104888" y="1536192"/>
            <a:ext cx="822960" cy="822960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178040" y="175564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PG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6446520" y="248716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PostgreSQL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6446520" y="279806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Database</a:t>
            </a:r>
            <a:endParaRPr lang="en-US" sz="1050"/>
          </a:p>
        </p:txBody>
      </p:sp>
      <p:sp>
        <p:nvSpPr>
          <p:cNvPr id="19" name="Shape 17"/>
          <p:cNvSpPr/>
          <p:nvPr/>
        </p:nvSpPr>
        <p:spPr>
          <a:xfrm>
            <a:off x="9098280" y="128016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939528" y="1536192"/>
            <a:ext cx="822960" cy="822960"/>
          </a:xfrm>
          <a:prstGeom prst="ellipse">
            <a:avLst/>
          </a:prstGeom>
          <a:solidFill>
            <a:srgbClr val="D98032"/>
          </a:solidFill>
          <a:ln w="12700">
            <a:solidFill>
              <a:srgbClr val="D980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012680" y="175564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ML</a:t>
            </a:r>
            <a:endParaRPr lang="en-US" sz="1500"/>
          </a:p>
        </p:txBody>
      </p:sp>
      <p:sp>
        <p:nvSpPr>
          <p:cNvPr id="22" name="Text 20"/>
          <p:cNvSpPr/>
          <p:nvPr/>
        </p:nvSpPr>
        <p:spPr>
          <a:xfrm>
            <a:off x="9281160" y="248716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scikit-learn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9281160" y="279806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Machine Learning</a:t>
            </a:r>
            <a:endParaRPr lang="en-US" sz="1050"/>
          </a:p>
        </p:txBody>
      </p:sp>
      <p:sp>
        <p:nvSpPr>
          <p:cNvPr id="24" name="Shape 22"/>
          <p:cNvSpPr/>
          <p:nvPr/>
        </p:nvSpPr>
        <p:spPr>
          <a:xfrm>
            <a:off x="594360" y="361188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435608" y="3867912"/>
            <a:ext cx="822960" cy="822960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508760" y="408736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XAI</a:t>
            </a:r>
            <a:endParaRPr lang="en-US" sz="1500"/>
          </a:p>
        </p:txBody>
      </p:sp>
      <p:sp>
        <p:nvSpPr>
          <p:cNvPr id="27" name="Text 25"/>
          <p:cNvSpPr/>
          <p:nvPr/>
        </p:nvSpPr>
        <p:spPr>
          <a:xfrm>
            <a:off x="777240" y="481888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SHAP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777240" y="512978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Explainability</a:t>
            </a:r>
            <a:endParaRPr lang="en-US" sz="1050"/>
          </a:p>
        </p:txBody>
      </p:sp>
      <p:sp>
        <p:nvSpPr>
          <p:cNvPr id="29" name="Shape 27"/>
          <p:cNvSpPr/>
          <p:nvPr/>
        </p:nvSpPr>
        <p:spPr>
          <a:xfrm>
            <a:off x="3429000" y="361188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270248" y="3867912"/>
            <a:ext cx="822960" cy="822960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343400" y="408736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AI</a:t>
            </a:r>
            <a:endParaRPr lang="en-US" sz="1500"/>
          </a:p>
        </p:txBody>
      </p:sp>
      <p:sp>
        <p:nvSpPr>
          <p:cNvPr id="32" name="Text 30"/>
          <p:cNvSpPr/>
          <p:nvPr/>
        </p:nvSpPr>
        <p:spPr>
          <a:xfrm>
            <a:off x="3611880" y="481888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LLM + RAG</a:t>
            </a:r>
            <a:endParaRPr lang="en-US" sz="1400"/>
          </a:p>
        </p:txBody>
      </p:sp>
      <p:sp>
        <p:nvSpPr>
          <p:cNvPr id="33" name="Text 31"/>
          <p:cNvSpPr/>
          <p:nvPr/>
        </p:nvSpPr>
        <p:spPr>
          <a:xfrm>
            <a:off x="3611880" y="512978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Conversational AI</a:t>
            </a:r>
            <a:endParaRPr lang="en-US" sz="1050"/>
          </a:p>
        </p:txBody>
      </p:sp>
      <p:sp>
        <p:nvSpPr>
          <p:cNvPr id="34" name="Shape 32"/>
          <p:cNvSpPr/>
          <p:nvPr/>
        </p:nvSpPr>
        <p:spPr>
          <a:xfrm>
            <a:off x="6263640" y="361188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104888" y="3867912"/>
            <a:ext cx="822960" cy="822960"/>
          </a:xfrm>
          <a:prstGeom prst="ellipse">
            <a:avLst/>
          </a:prstGeom>
          <a:solidFill>
            <a:srgbClr val="102A4C"/>
          </a:solidFill>
          <a:ln w="12700">
            <a:solidFill>
              <a:srgbClr val="102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178040" y="408736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GH</a:t>
            </a:r>
            <a:endParaRPr lang="en-US" sz="1500"/>
          </a:p>
        </p:txBody>
      </p:sp>
      <p:sp>
        <p:nvSpPr>
          <p:cNvPr id="37" name="Text 35"/>
          <p:cNvSpPr/>
          <p:nvPr/>
        </p:nvSpPr>
        <p:spPr>
          <a:xfrm>
            <a:off x="6446520" y="481888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GitHub</a:t>
            </a:r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6446520" y="512978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Collaboration</a:t>
            </a:r>
            <a:endParaRPr lang="en-US" sz="1050"/>
          </a:p>
        </p:txBody>
      </p:sp>
      <p:sp>
        <p:nvSpPr>
          <p:cNvPr id="39" name="Shape 37"/>
          <p:cNvSpPr/>
          <p:nvPr/>
        </p:nvSpPr>
        <p:spPr>
          <a:xfrm>
            <a:off x="9098280" y="361188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9939528" y="3867912"/>
            <a:ext cx="822960" cy="822960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0012680" y="408736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▣</a:t>
            </a:r>
            <a:endParaRPr lang="en-US" sz="1500"/>
          </a:p>
        </p:txBody>
      </p:sp>
      <p:sp>
        <p:nvSpPr>
          <p:cNvPr id="42" name="Text 40"/>
          <p:cNvSpPr/>
          <p:nvPr/>
        </p:nvSpPr>
        <p:spPr>
          <a:xfrm>
            <a:off x="9281160" y="481888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Docker + CI/CD</a:t>
            </a:r>
            <a:endParaRPr lang="en-US" sz="1400"/>
          </a:p>
        </p:txBody>
      </p:sp>
      <p:sp>
        <p:nvSpPr>
          <p:cNvPr id="43" name="Text 41"/>
          <p:cNvSpPr/>
          <p:nvPr/>
        </p:nvSpPr>
        <p:spPr>
          <a:xfrm>
            <a:off x="9281160" y="512978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DevOps</a:t>
            </a:r>
            <a:endParaRPr lang="en-US" sz="105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0723"/>
    </mc:Choice>
    <mc:Fallback xmlns="">
      <p:transition spd="slow" advTm="100723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Project Schedule / Sprint Cadence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Each sprint delivers a working increment toward the final MVP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49808" y="145389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0</a:t>
            </a:r>
            <a:endParaRPr lang="en-US" sz="1000"/>
          </a:p>
        </p:txBody>
      </p:sp>
      <p:sp>
        <p:nvSpPr>
          <p:cNvPr id="6" name="Shape 4"/>
          <p:cNvSpPr/>
          <p:nvPr/>
        </p:nvSpPr>
        <p:spPr>
          <a:xfrm>
            <a:off x="914400" y="1764792"/>
            <a:ext cx="0" cy="658368"/>
          </a:xfrm>
          <a:prstGeom prst="line">
            <a:avLst/>
          </a:prstGeom>
          <a:noFill/>
          <a:ln w="25400">
            <a:solidFill>
              <a:srgbClr val="C8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71600" y="1234440"/>
            <a:ext cx="97840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91640" y="138988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B8F67"/>
                </a:solidFill>
              </a:rPr>
              <a:t>Sprint 0 — Discovery &amp; Planning</a:t>
            </a:r>
            <a:endParaRPr lang="en-US" sz="1500"/>
          </a:p>
        </p:txBody>
      </p:sp>
      <p:sp>
        <p:nvSpPr>
          <p:cNvPr id="9" name="Text 7"/>
          <p:cNvSpPr/>
          <p:nvPr/>
        </p:nvSpPr>
        <p:spPr>
          <a:xfrm>
            <a:off x="5120640" y="1399032"/>
            <a:ext cx="544068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1B2B42"/>
                </a:solidFill>
              </a:rPr>
              <a:t>Requirements • personas • architecture • backlog • working agreement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731520" y="254203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9808" y="2624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1</a:t>
            </a:r>
            <a:endParaRPr lang="en-US" sz="1000"/>
          </a:p>
        </p:txBody>
      </p:sp>
      <p:sp>
        <p:nvSpPr>
          <p:cNvPr id="12" name="Shape 10"/>
          <p:cNvSpPr/>
          <p:nvPr/>
        </p:nvSpPr>
        <p:spPr>
          <a:xfrm>
            <a:off x="914400" y="2935224"/>
            <a:ext cx="0" cy="658368"/>
          </a:xfrm>
          <a:prstGeom prst="line">
            <a:avLst/>
          </a:prstGeom>
          <a:noFill/>
          <a:ln w="25400">
            <a:solidFill>
              <a:srgbClr val="C8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371600" y="2404872"/>
            <a:ext cx="97840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691640" y="256032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2569B8"/>
                </a:solidFill>
              </a:rPr>
              <a:t>Sprint 1 — Core Advisement Platform</a:t>
            </a:r>
            <a:endParaRPr lang="en-US" sz="1500"/>
          </a:p>
        </p:txBody>
      </p:sp>
      <p:sp>
        <p:nvSpPr>
          <p:cNvPr id="15" name="Text 13"/>
          <p:cNvSpPr/>
          <p:nvPr/>
        </p:nvSpPr>
        <p:spPr>
          <a:xfrm>
            <a:off x="5120640" y="2569464"/>
            <a:ext cx="544068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1B2B42"/>
                </a:solidFill>
              </a:rPr>
              <a:t>Authentication • academic data • APIs • student/advisor dashboards</a:t>
            </a:r>
            <a:endParaRPr lang="en-US" sz="1250"/>
          </a:p>
        </p:txBody>
      </p:sp>
      <p:sp>
        <p:nvSpPr>
          <p:cNvPr id="16" name="Shape 14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3794760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2</a:t>
            </a:r>
            <a:endParaRPr lang="en-US" sz="1000"/>
          </a:p>
        </p:txBody>
      </p:sp>
      <p:sp>
        <p:nvSpPr>
          <p:cNvPr id="18" name="Shape 16"/>
          <p:cNvSpPr/>
          <p:nvPr/>
        </p:nvSpPr>
        <p:spPr>
          <a:xfrm>
            <a:off x="914400" y="4105656"/>
            <a:ext cx="0" cy="658368"/>
          </a:xfrm>
          <a:prstGeom prst="line">
            <a:avLst/>
          </a:prstGeom>
          <a:noFill/>
          <a:ln w="25400">
            <a:solidFill>
              <a:srgbClr val="C8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371600" y="3616868"/>
            <a:ext cx="9784080" cy="83127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691640" y="3730752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D46A8"/>
                </a:solidFill>
              </a:rPr>
              <a:t>Sprint 2 — Intelligence &amp; Intervention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120640" y="3739896"/>
            <a:ext cx="544068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1B2B42"/>
                </a:solidFill>
              </a:rPr>
              <a:t>Risk prediction • explainability • recommendations • interventions</a:t>
            </a:r>
            <a:endParaRPr lang="en-US" sz="1250"/>
          </a:p>
        </p:txBody>
      </p:sp>
      <p:sp>
        <p:nvSpPr>
          <p:cNvPr id="22" name="Shape 20"/>
          <p:cNvSpPr/>
          <p:nvPr/>
        </p:nvSpPr>
        <p:spPr>
          <a:xfrm>
            <a:off x="731520" y="4882896"/>
            <a:ext cx="384048" cy="384048"/>
          </a:xfrm>
          <a:prstGeom prst="ellipse">
            <a:avLst/>
          </a:prstGeom>
          <a:solidFill>
            <a:srgbClr val="D98032"/>
          </a:solidFill>
          <a:ln w="12700">
            <a:solidFill>
              <a:srgbClr val="D980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49808" y="496519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3</a:t>
            </a:r>
            <a:endParaRPr lang="en-US" sz="1000"/>
          </a:p>
        </p:txBody>
      </p:sp>
      <p:sp>
        <p:nvSpPr>
          <p:cNvPr id="24" name="Shape 22"/>
          <p:cNvSpPr/>
          <p:nvPr/>
        </p:nvSpPr>
        <p:spPr>
          <a:xfrm>
            <a:off x="914400" y="5276088"/>
            <a:ext cx="0" cy="658368"/>
          </a:xfrm>
          <a:prstGeom prst="line">
            <a:avLst/>
          </a:prstGeom>
          <a:noFill/>
          <a:ln w="25400">
            <a:solidFill>
              <a:srgbClr val="C8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371600" y="4745736"/>
            <a:ext cx="97840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691640" y="4901184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98032"/>
                </a:solidFill>
              </a:rPr>
              <a:t>Sprint 3 — AI, Integration &amp; Release</a:t>
            </a:r>
            <a:endParaRPr lang="en-US" sz="1500"/>
          </a:p>
        </p:txBody>
      </p:sp>
      <p:sp>
        <p:nvSpPr>
          <p:cNvPr id="27" name="Text 25"/>
          <p:cNvSpPr/>
          <p:nvPr/>
        </p:nvSpPr>
        <p:spPr>
          <a:xfrm>
            <a:off x="5120640" y="4910328"/>
            <a:ext cx="544068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B2B42"/>
                </a:solidFill>
              </a:rPr>
              <a:t>Conversational AI/RAG • testing • security • deployment</a:t>
            </a:r>
            <a:endParaRPr lang="en-US" sz="125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7226"/>
    </mc:Choice>
    <mc:Fallback xmlns="">
      <p:transition spd="slow" advTm="67226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Team Working Agreement &amp; Definition of Done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How we will collaborate and what “complete” means</a:t>
            </a:r>
            <a:endParaRPr lang="en-US" sz="1250"/>
          </a:p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594360" y="1234440"/>
            <a:ext cx="5303520" cy="4663440"/>
          </a:xfrm>
          <a:prstGeom prst="roundRect">
            <a:avLst>
              <a:gd name="adj" fmla="val 2353"/>
            </a:avLst>
          </a:prstGeom>
          <a:solidFill>
            <a:srgbClr val="E8F8F1"/>
          </a:solidFill>
          <a:ln w="8890">
            <a:solidFill>
              <a:srgbClr val="CDEEE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>
            <p:custDataLst>
              <p:tags r:id="rId2"/>
            </p:custDataLst>
          </p:nvPr>
        </p:nvSpPr>
        <p:spPr>
          <a:xfrm>
            <a:off x="868680" y="15087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0B8F67"/>
                </a:solidFill>
              </a:rPr>
              <a:t>Team Principles</a:t>
            </a:r>
            <a:endParaRPr lang="en-US" sz="1900"/>
          </a:p>
        </p:txBody>
      </p:sp>
      <p:sp>
        <p:nvSpPr>
          <p:cNvPr id="6" name="Text 4"/>
          <p:cNvSpPr/>
          <p:nvPr>
            <p:custDataLst>
              <p:tags r:id="rId3"/>
            </p:custDataLst>
          </p:nvPr>
        </p:nvSpPr>
        <p:spPr>
          <a:xfrm>
            <a:off x="868680" y="2011680"/>
            <a:ext cx="4617720" cy="342900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Respectful, timely and transparent communication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Clear ownership with cross-component collaboration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Balanced workload and early escalation of blockers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Use GitHub issues, branches and pull requests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Attend Scrum ceremonies and give honest status updates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Document technical decisions and important changes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Integrate frequently rather than waiting until sprint end</a:t>
            </a:r>
            <a:endParaRPr lang="en-US" sz="1300"/>
          </a:p>
        </p:txBody>
      </p:sp>
      <p:sp>
        <p:nvSpPr>
          <p:cNvPr id="7" name="Shape 5"/>
          <p:cNvSpPr/>
          <p:nvPr>
            <p:custDataLst>
              <p:tags r:id="rId4"/>
            </p:custDataLst>
          </p:nvPr>
        </p:nvSpPr>
        <p:spPr>
          <a:xfrm>
            <a:off x="6217920" y="1234440"/>
            <a:ext cx="5303520" cy="4663440"/>
          </a:xfrm>
          <a:prstGeom prst="roundRect">
            <a:avLst>
              <a:gd name="adj" fmla="val 2353"/>
            </a:avLst>
          </a:prstGeom>
          <a:solidFill>
            <a:srgbClr val="EAF2FF"/>
          </a:solidFill>
          <a:ln w="8890">
            <a:solidFill>
              <a:srgbClr val="D7E7F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>
            <p:custDataLst>
              <p:tags r:id="rId5"/>
            </p:custDataLst>
          </p:nvPr>
        </p:nvSpPr>
        <p:spPr>
          <a:xfrm>
            <a:off x="6492240" y="150876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2569B8"/>
                </a:solidFill>
              </a:rPr>
              <a:t>Definition of Done</a:t>
            </a:r>
            <a:endParaRPr lang="en-US" sz="1900"/>
          </a:p>
        </p:txBody>
      </p:sp>
      <p:sp>
        <p:nvSpPr>
          <p:cNvPr id="9" name="Text 7"/>
          <p:cNvSpPr/>
          <p:nvPr>
            <p:custDataLst>
              <p:tags r:id="rId6"/>
            </p:custDataLst>
          </p:nvPr>
        </p:nvSpPr>
        <p:spPr>
          <a:xfrm>
            <a:off x="6492240" y="2011680"/>
            <a:ext cx="4617720" cy="352044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User story meets acceptance criteria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Code runs without known blocking errors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Appropriate tests are completed and passing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Peer review is completed before merge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Database, API and UI changes are integrated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Documentation is updated where required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Product Owner verifies the completed story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Work is demonstrated during the sprint review</a:t>
            </a:r>
            <a:endParaRPr lang="en-US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Sprint 0 Retrospective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What we learned from discovery and what happens next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E8F8F1"/>
          </a:solidFill>
          <a:ln w="8890">
            <a:solidFill>
              <a:srgbClr val="0B8F67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58952" y="1554480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B8F67"/>
                </a:solidFill>
              </a:rPr>
              <a:t>What Went Well</a:t>
            </a:r>
            <a:endParaRPr lang="en-US" sz="180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2880360" cy="310896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Agreed on a capstone topic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Defined the product direction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Assigned Scrum and technical roles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Identified three primary personas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Established preliminary MVP and architecture</a:t>
            </a:r>
            <a:endParaRPr lang="en-US" sz="1250"/>
          </a:p>
        </p:txBody>
      </p:sp>
      <p:sp>
        <p:nvSpPr>
          <p:cNvPr id="7" name="Shape 5"/>
          <p:cNvSpPr/>
          <p:nvPr/>
        </p:nvSpPr>
        <p:spPr>
          <a:xfrm>
            <a:off x="4325112" y="123444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FFF1E3"/>
          </a:solidFill>
          <a:ln w="8890">
            <a:solidFill>
              <a:srgbClr val="D98032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81144" y="1554480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D98032"/>
                </a:solidFill>
              </a:rPr>
              <a:t>What to Improve</a:t>
            </a:r>
            <a:endParaRPr lang="en-US" sz="1800"/>
          </a:p>
        </p:txBody>
      </p:sp>
      <p:sp>
        <p:nvSpPr>
          <p:cNvPr id="9" name="Text 7"/>
          <p:cNvSpPr/>
          <p:nvPr/>
        </p:nvSpPr>
        <p:spPr>
          <a:xfrm>
            <a:off x="4599432" y="2148840"/>
            <a:ext cx="2880360" cy="310896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Finalize detailed user stories and acceptance criteria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Confirm data source / simulated dataset strategy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Finalize UI wireframes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Agree on deployment environment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Refine AI scope to remain achievable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8147304" y="123444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EAF2FF"/>
          </a:solidFill>
          <a:ln w="8890">
            <a:solidFill>
              <a:srgbClr val="2569B8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403336" y="1554480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2569B8"/>
                </a:solidFill>
              </a:rPr>
              <a:t>Next Actions</a:t>
            </a:r>
            <a:endParaRPr lang="en-US" sz="1800"/>
          </a:p>
        </p:txBody>
      </p:sp>
      <p:sp>
        <p:nvSpPr>
          <p:cNvPr id="12" name="Text 10"/>
          <p:cNvSpPr/>
          <p:nvPr/>
        </p:nvSpPr>
        <p:spPr>
          <a:xfrm>
            <a:off x="8421624" y="2148840"/>
            <a:ext cx="2880360" cy="310896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Complete product backlog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Finalize ERD and API contracts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Create initial UI wireframes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Set up repository and branch strategy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Prepare Sprint 1 backlog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Begin core platform implementation</a:t>
            </a:r>
            <a:endParaRPr lang="en-US" sz="12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4747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45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Sprint 1 Planning — Core Advisement Platform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438912" y="749808"/>
            <a:ext cx="8046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Build the first functional student/advisor experience on top of the Sprint 0 foundation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0972800" cy="621792"/>
          </a:xfrm>
          <a:prstGeom prst="roundRect">
            <a:avLst>
              <a:gd name="adj" fmla="val 10294"/>
            </a:avLst>
          </a:prstGeom>
          <a:solidFill>
            <a:srgbClr val="E7F7F1"/>
          </a:solidFill>
          <a:ln w="12700">
            <a:solidFill>
              <a:srgbClr val="A7DD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13232" y="1261872"/>
            <a:ext cx="256032" cy="256032"/>
          </a:xfrm>
          <a:prstGeom prst="ellipse">
            <a:avLst/>
          </a:prstGeom>
          <a:solidFill>
            <a:srgbClr val="0B9B78"/>
          </a:solidFill>
          <a:ln w="12700">
            <a:solidFill>
              <a:srgbClr val="0B9B7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13232" y="1307592"/>
            <a:ext cx="256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</a:rPr>
              <a:t>1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078992" y="122529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454"/>
                </a:solidFill>
              </a:rPr>
              <a:t>Sprint Goal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76272" y="1188720"/>
            <a:ext cx="8915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243B53"/>
                </a:solidFill>
              </a:rPr>
              <a:t>Deliver a working core platform where students and advisors can sign in, view essential academic information, and navigate initial dashboards.</a:t>
            </a:r>
            <a:endParaRPr lang="en-US" sz="920" dirty="0"/>
          </a:p>
        </p:txBody>
      </p:sp>
      <p:sp>
        <p:nvSpPr>
          <p:cNvPr id="9" name="Text 7"/>
          <p:cNvSpPr/>
          <p:nvPr/>
        </p:nvSpPr>
        <p:spPr>
          <a:xfrm>
            <a:off x="530352" y="19659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454"/>
                </a:solidFill>
              </a:rPr>
              <a:t>Sprint 1 Backlog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50592" y="201168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718096"/>
                </a:solidFill>
              </a:rPr>
              <a:t>Prioritized work for the sprint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530352" y="237744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676656" y="2532888"/>
            <a:ext cx="384048" cy="384048"/>
          </a:xfrm>
          <a:prstGeom prst="ellipse">
            <a:avLst/>
          </a:prstGeom>
          <a:solidFill>
            <a:srgbClr val="0B9B78"/>
          </a:solidFill>
          <a:ln w="12700">
            <a:solidFill>
              <a:srgbClr val="0B9B7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76656" y="265176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AUTH</a:t>
            </a:r>
            <a:endParaRPr lang="en-US" sz="480" dirty="0"/>
          </a:p>
        </p:txBody>
      </p:sp>
      <p:sp>
        <p:nvSpPr>
          <p:cNvPr id="14" name="Text 12"/>
          <p:cNvSpPr/>
          <p:nvPr/>
        </p:nvSpPr>
        <p:spPr>
          <a:xfrm>
            <a:off x="1152144" y="25146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Authentication &amp; Roles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694944" y="298094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Student, advisor and admin sign-in with role-based access.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3337560" y="237744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3483864" y="2532888"/>
            <a:ext cx="384048" cy="384048"/>
          </a:xfrm>
          <a:prstGeom prst="ellipse">
            <a:avLst/>
          </a:prstGeom>
          <a:solidFill>
            <a:srgbClr val="2D72C7"/>
          </a:solidFill>
          <a:ln w="12700">
            <a:solidFill>
              <a:srgbClr val="2D72C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483864" y="265176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DATA</a:t>
            </a:r>
            <a:endParaRPr lang="en-US" sz="480" dirty="0"/>
          </a:p>
        </p:txBody>
      </p:sp>
      <p:sp>
        <p:nvSpPr>
          <p:cNvPr id="19" name="Text 17"/>
          <p:cNvSpPr/>
          <p:nvPr/>
        </p:nvSpPr>
        <p:spPr>
          <a:xfrm>
            <a:off x="3959352" y="25146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Academic Data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3502152" y="298094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Create core academic profile structure for courses, grades and attendance.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6144768" y="237744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291072" y="2532888"/>
            <a:ext cx="384048" cy="384048"/>
          </a:xfrm>
          <a:prstGeom prst="ellipse">
            <a:avLst/>
          </a:prstGeom>
          <a:solidFill>
            <a:srgbClr val="6B4AB8"/>
          </a:solidFill>
          <a:ln w="12700">
            <a:solidFill>
              <a:srgbClr val="6B4AB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291072" y="265176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API</a:t>
            </a:r>
            <a:endParaRPr lang="en-US" sz="480" dirty="0"/>
          </a:p>
        </p:txBody>
      </p:sp>
      <p:sp>
        <p:nvSpPr>
          <p:cNvPr id="24" name="Text 22"/>
          <p:cNvSpPr/>
          <p:nvPr/>
        </p:nvSpPr>
        <p:spPr>
          <a:xfrm>
            <a:off x="6766560" y="25146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Backend APIs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309360" y="298094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Implement core services that connect academic data to the user experience.</a:t>
            </a:r>
            <a:endParaRPr lang="en-US" sz="710" dirty="0"/>
          </a:p>
        </p:txBody>
      </p:sp>
      <p:sp>
        <p:nvSpPr>
          <p:cNvPr id="26" name="Shape 24"/>
          <p:cNvSpPr/>
          <p:nvPr/>
        </p:nvSpPr>
        <p:spPr>
          <a:xfrm>
            <a:off x="8951976" y="237744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9098280" y="2532888"/>
            <a:ext cx="384048" cy="384048"/>
          </a:xfrm>
          <a:prstGeom prst="ellipse">
            <a:avLst/>
          </a:prstGeom>
          <a:solidFill>
            <a:srgbClr val="E4872A"/>
          </a:solidFill>
          <a:ln w="12700">
            <a:solidFill>
              <a:srgbClr val="E48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9098280" y="265176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UI</a:t>
            </a:r>
            <a:endParaRPr lang="en-US" sz="480" dirty="0"/>
          </a:p>
        </p:txBody>
      </p:sp>
      <p:sp>
        <p:nvSpPr>
          <p:cNvPr id="29" name="Text 27"/>
          <p:cNvSpPr/>
          <p:nvPr/>
        </p:nvSpPr>
        <p:spPr>
          <a:xfrm>
            <a:off x="9573768" y="25146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UI/UX Wireframes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9116568" y="298094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Design the first user flows and dashboard wireframes for key roles.</a:t>
            </a:r>
            <a:endParaRPr lang="en-US" sz="710" dirty="0"/>
          </a:p>
        </p:txBody>
      </p:sp>
      <p:sp>
        <p:nvSpPr>
          <p:cNvPr id="31" name="Shape 29"/>
          <p:cNvSpPr/>
          <p:nvPr/>
        </p:nvSpPr>
        <p:spPr>
          <a:xfrm>
            <a:off x="530352" y="384048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676656" y="3995928"/>
            <a:ext cx="384048" cy="384048"/>
          </a:xfrm>
          <a:prstGeom prst="ellipse">
            <a:avLst/>
          </a:prstGeom>
          <a:solidFill>
            <a:srgbClr val="2D72C7"/>
          </a:solidFill>
          <a:ln w="12700">
            <a:solidFill>
              <a:srgbClr val="2D72C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676656" y="411480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STU</a:t>
            </a:r>
            <a:endParaRPr lang="en-US" sz="480" dirty="0"/>
          </a:p>
        </p:txBody>
      </p:sp>
      <p:sp>
        <p:nvSpPr>
          <p:cNvPr id="34" name="Text 32"/>
          <p:cNvSpPr/>
          <p:nvPr/>
        </p:nvSpPr>
        <p:spPr>
          <a:xfrm>
            <a:off x="1152144" y="3977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Student Dashboard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694944" y="444398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Show progress, academic status and personalized support information.</a:t>
            </a:r>
            <a:endParaRPr lang="en-US" sz="710" dirty="0"/>
          </a:p>
        </p:txBody>
      </p:sp>
      <p:sp>
        <p:nvSpPr>
          <p:cNvPr id="36" name="Shape 34"/>
          <p:cNvSpPr/>
          <p:nvPr/>
        </p:nvSpPr>
        <p:spPr>
          <a:xfrm>
            <a:off x="3337560" y="384048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3483864" y="3995928"/>
            <a:ext cx="384048" cy="384048"/>
          </a:xfrm>
          <a:prstGeom prst="ellipse">
            <a:avLst/>
          </a:prstGeom>
          <a:solidFill>
            <a:srgbClr val="0B9B78"/>
          </a:solidFill>
          <a:ln w="12700">
            <a:solidFill>
              <a:srgbClr val="0B9B7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3483864" y="411480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ADV</a:t>
            </a:r>
            <a:endParaRPr lang="en-US" sz="480" dirty="0"/>
          </a:p>
        </p:txBody>
      </p:sp>
      <p:sp>
        <p:nvSpPr>
          <p:cNvPr id="39" name="Text 37"/>
          <p:cNvSpPr/>
          <p:nvPr/>
        </p:nvSpPr>
        <p:spPr>
          <a:xfrm>
            <a:off x="3959352" y="3977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Advisor Dashboard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3502152" y="444398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Surface students needing attention, explanations and intervention context.</a:t>
            </a:r>
            <a:endParaRPr lang="en-US" sz="710" dirty="0"/>
          </a:p>
        </p:txBody>
      </p:sp>
      <p:sp>
        <p:nvSpPr>
          <p:cNvPr id="41" name="Shape 39"/>
          <p:cNvSpPr/>
          <p:nvPr/>
        </p:nvSpPr>
        <p:spPr>
          <a:xfrm>
            <a:off x="6144768" y="384048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6291072" y="3995928"/>
            <a:ext cx="384048" cy="384048"/>
          </a:xfrm>
          <a:prstGeom prst="ellipse">
            <a:avLst/>
          </a:prstGeom>
          <a:solidFill>
            <a:srgbClr val="6B4AB8"/>
          </a:solidFill>
          <a:ln w="12700">
            <a:solidFill>
              <a:srgbClr val="6B4AB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6291072" y="411480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INT</a:t>
            </a:r>
            <a:endParaRPr lang="en-US" sz="480" dirty="0"/>
          </a:p>
        </p:txBody>
      </p:sp>
      <p:sp>
        <p:nvSpPr>
          <p:cNvPr id="44" name="Text 42"/>
          <p:cNvSpPr/>
          <p:nvPr/>
        </p:nvSpPr>
        <p:spPr>
          <a:xfrm>
            <a:off x="6766560" y="3977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Frontend–Backend Integration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6309360" y="444398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Connect dashboard components with APIs and shared data models.</a:t>
            </a:r>
            <a:endParaRPr lang="en-US" sz="710" dirty="0"/>
          </a:p>
        </p:txBody>
      </p:sp>
      <p:sp>
        <p:nvSpPr>
          <p:cNvPr id="46" name="Shape 44"/>
          <p:cNvSpPr/>
          <p:nvPr/>
        </p:nvSpPr>
        <p:spPr>
          <a:xfrm>
            <a:off x="8951976" y="384048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9098280" y="3995928"/>
            <a:ext cx="384048" cy="384048"/>
          </a:xfrm>
          <a:prstGeom prst="ellipse">
            <a:avLst/>
          </a:prstGeom>
          <a:solidFill>
            <a:srgbClr val="E4872A"/>
          </a:solidFill>
          <a:ln w="12700">
            <a:solidFill>
              <a:srgbClr val="E48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9098280" y="411480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TEST</a:t>
            </a:r>
            <a:endParaRPr lang="en-US" sz="480" dirty="0"/>
          </a:p>
        </p:txBody>
      </p:sp>
      <p:sp>
        <p:nvSpPr>
          <p:cNvPr id="49" name="Text 47"/>
          <p:cNvSpPr/>
          <p:nvPr/>
        </p:nvSpPr>
        <p:spPr>
          <a:xfrm>
            <a:off x="9573768" y="3977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Basic Testing</a:t>
            </a:r>
            <a:endParaRPr lang="en-US" sz="930" dirty="0"/>
          </a:p>
        </p:txBody>
      </p:sp>
      <p:sp>
        <p:nvSpPr>
          <p:cNvPr id="50" name="Text 48"/>
          <p:cNvSpPr/>
          <p:nvPr/>
        </p:nvSpPr>
        <p:spPr>
          <a:xfrm>
            <a:off x="9116568" y="444398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Validate integration, usability and critical user flows before review.</a:t>
            </a:r>
            <a:endParaRPr lang="en-US" sz="710" dirty="0"/>
          </a:p>
        </p:txBody>
      </p:sp>
      <p:sp>
        <p:nvSpPr>
          <p:cNvPr id="51" name="Shape 49"/>
          <p:cNvSpPr/>
          <p:nvPr/>
        </p:nvSpPr>
        <p:spPr>
          <a:xfrm>
            <a:off x="530352" y="5358384"/>
            <a:ext cx="10817352" cy="713232"/>
          </a:xfrm>
          <a:prstGeom prst="roundRect">
            <a:avLst>
              <a:gd name="adj" fmla="val 6410"/>
            </a:avLst>
          </a:prstGeom>
          <a:solidFill>
            <a:srgbClr val="F1F6FB"/>
          </a:solidFill>
          <a:ln w="12700">
            <a:solidFill>
              <a:srgbClr val="C7D8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749808" y="55138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73454"/>
                </a:solidFill>
              </a:rPr>
              <a:t>Expected Sprint Outcome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816352" y="5477256"/>
            <a:ext cx="1143000" cy="292608"/>
          </a:xfrm>
          <a:prstGeom prst="roundRect">
            <a:avLst>
              <a:gd name="adj" fmla="val 18750"/>
            </a:avLst>
          </a:prstGeom>
          <a:solidFill>
            <a:srgbClr val="E7F7F1"/>
          </a:solidFill>
          <a:ln w="12700">
            <a:solidFill>
              <a:srgbClr val="E7F7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2889504" y="5527548"/>
            <a:ext cx="9966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B9B78"/>
                </a:solidFill>
              </a:rPr>
              <a:t>Sign-in works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4096512" y="5477256"/>
            <a:ext cx="1508760" cy="292608"/>
          </a:xfrm>
          <a:prstGeom prst="roundRect">
            <a:avLst>
              <a:gd name="adj" fmla="val 18750"/>
            </a:avLst>
          </a:prstGeom>
          <a:solidFill>
            <a:srgbClr val="E9F2FD"/>
          </a:solidFill>
          <a:ln w="12700">
            <a:solidFill>
              <a:srgbClr val="E9F2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169664" y="5527548"/>
            <a:ext cx="1362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2D72C7"/>
                </a:solidFill>
              </a:rPr>
              <a:t>Academic profile ready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5742432" y="5477256"/>
            <a:ext cx="1508760" cy="292608"/>
          </a:xfrm>
          <a:prstGeom prst="roundRect">
            <a:avLst>
              <a:gd name="adj" fmla="val 18750"/>
            </a:avLst>
          </a:prstGeom>
          <a:solidFill>
            <a:srgbClr val="F2EEFB"/>
          </a:solidFill>
          <a:ln w="12700">
            <a:solidFill>
              <a:srgbClr val="F2EE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5815584" y="5527548"/>
            <a:ext cx="1362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6B4AB8"/>
                </a:solidFill>
              </a:rPr>
              <a:t>Dashboards visible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7388352" y="5477256"/>
            <a:ext cx="1600200" cy="292608"/>
          </a:xfrm>
          <a:prstGeom prst="roundRect">
            <a:avLst>
              <a:gd name="adj" fmla="val 18750"/>
            </a:avLst>
          </a:prstGeom>
          <a:solidFill>
            <a:srgbClr val="FFF1E4"/>
          </a:solidFill>
          <a:ln w="12700">
            <a:solidFill>
              <a:srgbClr val="FFF1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7461504" y="5527548"/>
            <a:ext cx="1453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E4872A"/>
                </a:solidFill>
              </a:rPr>
              <a:t>Core APIs connected</a:t>
            </a:r>
            <a:endParaRPr lang="en-US" sz="720" dirty="0"/>
          </a:p>
        </p:txBody>
      </p:sp>
      <p:sp>
        <p:nvSpPr>
          <p:cNvPr id="61" name="Shape 59"/>
          <p:cNvSpPr/>
          <p:nvPr/>
        </p:nvSpPr>
        <p:spPr>
          <a:xfrm>
            <a:off x="9125712" y="5477256"/>
            <a:ext cx="1508760" cy="292608"/>
          </a:xfrm>
          <a:prstGeom prst="roundRect">
            <a:avLst>
              <a:gd name="adj" fmla="val 18750"/>
            </a:avLst>
          </a:prstGeom>
          <a:solidFill>
            <a:srgbClr val="E7F7F1"/>
          </a:solidFill>
          <a:ln w="12700">
            <a:solidFill>
              <a:srgbClr val="E7F7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9198864" y="5527548"/>
            <a:ext cx="1362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B9B78"/>
                </a:solidFill>
              </a:rPr>
              <a:t>Key flows tested</a:t>
            </a:r>
            <a:endParaRPr lang="en-US" sz="720" dirty="0"/>
          </a:p>
        </p:txBody>
      </p:sp>
      <p:sp>
        <p:nvSpPr>
          <p:cNvPr id="6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20116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540">
                <a:solidFill>
                  <a:srgbClr val="6B7788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9850"/>
    </mc:Choice>
    <mc:Fallback xmlns="">
      <p:transition spd="slow" advTm="3985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188720" y="2148840"/>
            <a:ext cx="9784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FFFFFF"/>
                </a:solidFill>
              </a:rPr>
              <a:t>THANK YOU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1828800" y="2971800"/>
            <a:ext cx="85039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BEE9D9"/>
                </a:solidFill>
              </a:rPr>
              <a:t>AI-Powered Personalized Academic Advisement System</a:t>
            </a:r>
            <a:endParaRPr lang="en-US" sz="1800"/>
          </a:p>
        </p:txBody>
      </p:sp>
      <p:sp>
        <p:nvSpPr>
          <p:cNvPr id="5" name="Text 3"/>
          <p:cNvSpPr/>
          <p:nvPr/>
        </p:nvSpPr>
        <p:spPr>
          <a:xfrm>
            <a:off x="3886200" y="379476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694"/>
    </mc:Choice>
    <mc:Fallback xmlns="">
      <p:transition spd="slow" advTm="15694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7.2,&quot;left&quot;:46.8,&quot;top&quot;:97.2,&quot;width&quot;:860.4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7.2,&quot;left&quot;:46.8,&quot;top&quot;:97.2,&quot;width&quot;:860.4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7.2,&quot;left&quot;:46.8,&quot;top&quot;:97.2,&quot;width&quot;:860.4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7.2,&quot;left&quot;:46.8,&quot;top&quot;:97.2,&quot;width&quot;:860.4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7.2,&quot;left&quot;:46.8,&quot;top&quot;:97.2,&quot;width&quot;:860.4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7.2,&quot;left&quot;:46.8,&quot;top&quot;:97.2,&quot;width&quot;:860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13E3AFB01CA8409F02D36E2146A942" ma:contentTypeVersion="1" ma:contentTypeDescription="Create a new document." ma:contentTypeScope="" ma:versionID="a2a956af9ca83becec116bca5d8ac55f">
  <xsd:schema xmlns:xsd="http://www.w3.org/2001/XMLSchema" xmlns:xs="http://www.w3.org/2001/XMLSchema" xmlns:p="http://schemas.microsoft.com/office/2006/metadata/properties" xmlns:ns3="d9f36c8b-d0a4-46ec-b424-bbf497752d02" targetNamespace="http://schemas.microsoft.com/office/2006/metadata/properties" ma:root="true" ma:fieldsID="81d829be2af5e1ff7322677694cc5600" ns3:_="">
    <xsd:import namespace="d9f36c8b-d0a4-46ec-b424-bbf497752d02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f36c8b-d0a4-46ec-b424-bbf497752d02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8CDF36F-3D18-4671-BE55-2ADDB25900B7}">
  <ds:schemaRefs/>
</ds:datastoreItem>
</file>

<file path=customXml/itemProps2.xml><?xml version="1.0" encoding="utf-8"?>
<ds:datastoreItem xmlns:ds="http://schemas.openxmlformats.org/officeDocument/2006/customXml" ds:itemID="{E823FE9B-3B4F-4B02-8939-B271E5BAF980}">
  <ds:schemaRefs/>
</ds:datastoreItem>
</file>

<file path=customXml/itemProps3.xml><?xml version="1.0" encoding="utf-8"?>
<ds:datastoreItem xmlns:ds="http://schemas.openxmlformats.org/officeDocument/2006/customXml" ds:itemID="{CA360DD2-9930-4FAB-B877-75E8D578753E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1231</Words>
  <Application>Microsoft Office PowerPoint</Application>
  <PresentationFormat>Widescreen</PresentationFormat>
  <Paragraphs>321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Carlito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Capstone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Personalized Academic Advisement System — Sprint 0</dc:title>
  <dc:subject>Sprint 0</dc:subject>
  <dc:creator>OpenAI</dc:creator>
  <cp:lastModifiedBy>Pranali Dukhande</cp:lastModifiedBy>
  <cp:revision>18</cp:revision>
  <dcterms:created xsi:type="dcterms:W3CDTF">2026-09-20T14:38:00Z</dcterms:created>
  <dcterms:modified xsi:type="dcterms:W3CDTF">2026-10-18T22:17:51Z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0x0101000913E3AFB01CA8409F02D36E2146A942</vt:lpwstr>
  </property>
  <property fmtid="{D5CDD505-2E9C-101B-9397-08002B2CF9AE}" pid="3" name="KSOProductBuildVer">
    <vt:lpwstr>2052-12.1.0.28505</vt:lpwstr>
  </property>
  <property fmtid="{D5CDD505-2E9C-101B-9397-08002B2CF9AE}" pid="4" name="ICV">
    <vt:lpwstr>DE3E6BB7D82A4055B9AFF217CB0CAAE1_12</vt:lpwstr>
  </property>
</Properties>
</file>