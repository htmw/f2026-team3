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2"/>
  </p:notesMasterIdLst>
  <p:sldIdLst>
    <p:sldId id="271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3" r:id="rId20"/>
    <p:sldId id="270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17"/>
  </p:normalViewPr>
  <p:slideViewPr>
    <p:cSldViewPr snapToGrid="0">
      <p:cViewPr varScale="1">
        <p:scale>
          <a:sx n="78" d="100"/>
          <a:sy n="78" d="100"/>
        </p:scale>
        <p:origin x="811" y="6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3370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li Dukhande" userId="0ae46a4f0aa76adb" providerId="LiveId" clId="{DA6FBA60-F893-443A-AEE5-71C6A73E4BD7}"/>
    <pc:docChg chg="undo custSel modSld sldOrd">
      <pc:chgData name="Pranali Dukhande" userId="0ae46a4f0aa76adb" providerId="LiveId" clId="{DA6FBA60-F893-443A-AEE5-71C6A73E4BD7}" dt="2026-09-30T00:33:15.641" v="34"/>
      <pc:docMkLst>
        <pc:docMk/>
      </pc:docMkLst>
      <pc:sldChg chg="delSp mod delAnim">
        <pc:chgData name="Pranali Dukhande" userId="0ae46a4f0aa76adb" providerId="LiveId" clId="{DA6FBA60-F893-443A-AEE5-71C6A73E4BD7}" dt="2026-09-22T03:54:28.745" v="1" actId="478"/>
        <pc:sldMkLst>
          <pc:docMk/>
          <pc:sldMk cId="0" sldId="256"/>
        </pc:sldMkLst>
      </pc:sldChg>
      <pc:sldChg chg="delSp mod delAnim">
        <pc:chgData name="Pranali Dukhande" userId="0ae46a4f0aa76adb" providerId="LiveId" clId="{DA6FBA60-F893-443A-AEE5-71C6A73E4BD7}" dt="2026-09-22T03:54:35.182" v="2" actId="478"/>
        <pc:sldMkLst>
          <pc:docMk/>
          <pc:sldMk cId="0" sldId="257"/>
        </pc:sldMkLst>
      </pc:sldChg>
      <pc:sldChg chg="delSp modSp mod delAnim">
        <pc:chgData name="Pranali Dukhande" userId="0ae46a4f0aa76adb" providerId="LiveId" clId="{DA6FBA60-F893-443A-AEE5-71C6A73E4BD7}" dt="2026-09-29T22:28:13.588" v="27" actId="20577"/>
        <pc:sldMkLst>
          <pc:docMk/>
          <pc:sldMk cId="0" sldId="258"/>
        </pc:sldMkLst>
        <pc:spChg chg="mod">
          <ac:chgData name="Pranali Dukhande" userId="0ae46a4f0aa76adb" providerId="LiveId" clId="{DA6FBA60-F893-443A-AEE5-71C6A73E4BD7}" dt="2026-09-29T22:28:13.588" v="27" actId="20577"/>
          <ac:spMkLst>
            <pc:docMk/>
            <pc:sldMk cId="0" sldId="258"/>
            <ac:spMk id="33" creationId="{00000000-0000-0000-0000-000000000000}"/>
          </ac:spMkLst>
        </pc:spChg>
      </pc:sldChg>
      <pc:sldChg chg="delSp mod delAnim">
        <pc:chgData name="Pranali Dukhande" userId="0ae46a4f0aa76adb" providerId="LiveId" clId="{DA6FBA60-F893-443A-AEE5-71C6A73E4BD7}" dt="2026-09-22T03:54:43.389" v="4" actId="478"/>
        <pc:sldMkLst>
          <pc:docMk/>
          <pc:sldMk cId="0" sldId="259"/>
        </pc:sldMkLst>
      </pc:sldChg>
      <pc:sldChg chg="delSp mod delAnim">
        <pc:chgData name="Pranali Dukhande" userId="0ae46a4f0aa76adb" providerId="LiveId" clId="{DA6FBA60-F893-443A-AEE5-71C6A73E4BD7}" dt="2026-09-22T03:54:45.397" v="5" actId="478"/>
        <pc:sldMkLst>
          <pc:docMk/>
          <pc:sldMk cId="0" sldId="260"/>
        </pc:sldMkLst>
      </pc:sldChg>
      <pc:sldChg chg="delSp modSp mod delAnim">
        <pc:chgData name="Pranali Dukhande" userId="0ae46a4f0aa76adb" providerId="LiveId" clId="{DA6FBA60-F893-443A-AEE5-71C6A73E4BD7}" dt="2026-09-29T22:29:10.862" v="32" actId="14100"/>
        <pc:sldMkLst>
          <pc:docMk/>
          <pc:sldMk cId="0" sldId="261"/>
        </pc:sldMkLst>
        <pc:picChg chg="mod modCrop">
          <ac:chgData name="Pranali Dukhande" userId="0ae46a4f0aa76adb" providerId="LiveId" clId="{DA6FBA60-F893-443A-AEE5-71C6A73E4BD7}" dt="2026-09-29T22:29:10.862" v="32" actId="14100"/>
          <ac:picMkLst>
            <pc:docMk/>
            <pc:sldMk cId="0" sldId="261"/>
            <ac:picMk id="4" creationId="{00000000-0000-0000-0000-000000000000}"/>
          </ac:picMkLst>
        </pc:picChg>
      </pc:sldChg>
      <pc:sldChg chg="delSp modSp mod delAnim">
        <pc:chgData name="Pranali Dukhande" userId="0ae46a4f0aa76adb" providerId="LiveId" clId="{DA6FBA60-F893-443A-AEE5-71C6A73E4BD7}" dt="2026-09-29T22:28:49.379" v="30" actId="14100"/>
        <pc:sldMkLst>
          <pc:docMk/>
          <pc:sldMk cId="0" sldId="262"/>
        </pc:sldMkLst>
        <pc:picChg chg="mod modCrop">
          <ac:chgData name="Pranali Dukhande" userId="0ae46a4f0aa76adb" providerId="LiveId" clId="{DA6FBA60-F893-443A-AEE5-71C6A73E4BD7}" dt="2026-09-29T22:28:49.379" v="30" actId="14100"/>
          <ac:picMkLst>
            <pc:docMk/>
            <pc:sldMk cId="0" sldId="262"/>
            <ac:picMk id="4" creationId="{00000000-0000-0000-0000-000000000000}"/>
          </ac:picMkLst>
        </pc:picChg>
      </pc:sldChg>
      <pc:sldChg chg="delSp modSp mod delAnim">
        <pc:chgData name="Pranali Dukhande" userId="0ae46a4f0aa76adb" providerId="LiveId" clId="{DA6FBA60-F893-443A-AEE5-71C6A73E4BD7}" dt="2026-09-29T22:10:02.793" v="21" actId="14100"/>
        <pc:sldMkLst>
          <pc:docMk/>
          <pc:sldMk cId="0" sldId="263"/>
        </pc:sldMkLst>
        <pc:picChg chg="mod modCrop">
          <ac:chgData name="Pranali Dukhande" userId="0ae46a4f0aa76adb" providerId="LiveId" clId="{DA6FBA60-F893-443A-AEE5-71C6A73E4BD7}" dt="2026-09-29T22:10:02.793" v="21" actId="14100"/>
          <ac:picMkLst>
            <pc:docMk/>
            <pc:sldMk cId="0" sldId="263"/>
            <ac:picMk id="4" creationId="{00000000-0000-0000-0000-000000000000}"/>
          </ac:picMkLst>
        </pc:picChg>
      </pc:sldChg>
      <pc:sldChg chg="delSp mod delAnim">
        <pc:chgData name="Pranali Dukhande" userId="0ae46a4f0aa76adb" providerId="LiveId" clId="{DA6FBA60-F893-443A-AEE5-71C6A73E4BD7}" dt="2026-09-22T03:54:53.238" v="9" actId="478"/>
        <pc:sldMkLst>
          <pc:docMk/>
          <pc:sldMk cId="0" sldId="264"/>
        </pc:sldMkLst>
      </pc:sldChg>
      <pc:sldChg chg="delSp mod delAnim">
        <pc:chgData name="Pranali Dukhande" userId="0ae46a4f0aa76adb" providerId="LiveId" clId="{DA6FBA60-F893-443A-AEE5-71C6A73E4BD7}" dt="2026-09-22T03:54:56.291" v="10" actId="478"/>
        <pc:sldMkLst>
          <pc:docMk/>
          <pc:sldMk cId="0" sldId="265"/>
        </pc:sldMkLst>
      </pc:sldChg>
      <pc:sldChg chg="delSp mod delAnim">
        <pc:chgData name="Pranali Dukhande" userId="0ae46a4f0aa76adb" providerId="LiveId" clId="{DA6FBA60-F893-443A-AEE5-71C6A73E4BD7}" dt="2026-09-22T03:55:00.192" v="11" actId="478"/>
        <pc:sldMkLst>
          <pc:docMk/>
          <pc:sldMk cId="0" sldId="266"/>
        </pc:sldMkLst>
      </pc:sldChg>
      <pc:sldChg chg="delSp mod delAnim">
        <pc:chgData name="Pranali Dukhande" userId="0ae46a4f0aa76adb" providerId="LiveId" clId="{DA6FBA60-F893-443A-AEE5-71C6A73E4BD7}" dt="2026-09-22T03:55:02.199" v="12" actId="478"/>
        <pc:sldMkLst>
          <pc:docMk/>
          <pc:sldMk cId="0" sldId="267"/>
        </pc:sldMkLst>
      </pc:sldChg>
      <pc:sldChg chg="delSp mod delAnim">
        <pc:chgData name="Pranali Dukhande" userId="0ae46a4f0aa76adb" providerId="LiveId" clId="{DA6FBA60-F893-443A-AEE5-71C6A73E4BD7}" dt="2026-09-22T03:55:18.201" v="18" actId="478"/>
        <pc:sldMkLst>
          <pc:docMk/>
          <pc:sldMk cId="0" sldId="268"/>
        </pc:sldMkLst>
      </pc:sldChg>
      <pc:sldChg chg="delSp mod delAnim">
        <pc:chgData name="Pranali Dukhande" userId="0ae46a4f0aa76adb" providerId="LiveId" clId="{DA6FBA60-F893-443A-AEE5-71C6A73E4BD7}" dt="2026-09-22T03:55:10.849" v="15" actId="478"/>
        <pc:sldMkLst>
          <pc:docMk/>
          <pc:sldMk cId="0" sldId="269"/>
        </pc:sldMkLst>
      </pc:sldChg>
      <pc:sldChg chg="delSp mod delAnim">
        <pc:chgData name="Pranali Dukhande" userId="0ae46a4f0aa76adb" providerId="LiveId" clId="{DA6FBA60-F893-443A-AEE5-71C6A73E4BD7}" dt="2026-09-22T03:55:14.069" v="17" actId="478"/>
        <pc:sldMkLst>
          <pc:docMk/>
          <pc:sldMk cId="0" sldId="270"/>
        </pc:sldMkLst>
      </pc:sldChg>
      <pc:sldChg chg="delSp mod delAnim">
        <pc:chgData name="Pranali Dukhande" userId="0ae46a4f0aa76adb" providerId="LiveId" clId="{DA6FBA60-F893-443A-AEE5-71C6A73E4BD7}" dt="2026-09-22T03:54:26.454" v="0" actId="478"/>
        <pc:sldMkLst>
          <pc:docMk/>
          <pc:sldMk cId="0" sldId="271"/>
        </pc:sldMkLst>
      </pc:sldChg>
      <pc:sldChg chg="delSp mod ord delAnim modNotesTx">
        <pc:chgData name="Pranali Dukhande" userId="0ae46a4f0aa76adb" providerId="LiveId" clId="{DA6FBA60-F893-443A-AEE5-71C6A73E4BD7}" dt="2026-09-30T00:33:15.641" v="34"/>
        <pc:sldMkLst>
          <pc:docMk/>
          <pc:sldMk cId="0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81160" y="164592"/>
            <a:ext cx="2423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Personalized</a:t>
            </a:r>
            <a:endParaRPr lang="en-US" sz="1000"/>
          </a:p>
          <a:p>
            <a:pPr marL="0" indent="0" algn="r">
              <a:buNone/>
            </a:pPr>
            <a:r>
              <a:rPr lang="en-US" sz="1000" b="1">
                <a:solidFill>
                  <a:srgbClr val="102A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Academic Advisement System</a:t>
            </a:r>
            <a:endParaRPr lang="en-US" sz="1000"/>
          </a:p>
        </p:txBody>
      </p:sp>
      <p:sp>
        <p:nvSpPr>
          <p:cNvPr id="4" name="Text 2"/>
          <p:cNvSpPr/>
          <p:nvPr/>
        </p:nvSpPr>
        <p:spPr>
          <a:xfrm>
            <a:off x="10607040" y="603504"/>
            <a:ext cx="10789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2748A"/>
                </a:solidFill>
              </a:rPr>
              <a:t>Sprint 0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320040" y="6565392"/>
            <a:ext cx="11475720" cy="0"/>
          </a:xfrm>
          <a:prstGeom prst="line">
            <a:avLst/>
          </a:prstGeom>
          <a:noFill/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629400"/>
            <a:ext cx="68580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29425F"/>
                </a:solidFill>
              </a:rPr>
              <a:t>AI-Powered Personalized Academic Advisement System   |   Sprint 0</a:t>
            </a:r>
            <a:endParaRPr lang="en-US" sz="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29425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CADMATE">
    <p:bg>
      <p:bgPr>
        <a:solidFill>
          <a:srgbClr val="F9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8016" y="256032"/>
            <a:ext cx="64008" cy="6272784"/>
          </a:xfrm>
          <a:prstGeom prst="rect">
            <a:avLst/>
          </a:prstGeom>
          <a:solidFill>
            <a:srgbClr val="0B9B78"/>
          </a:solidFill>
          <a:ln w="12700">
            <a:solidFill>
              <a:srgbClr val="0B9B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384048" y="6547104"/>
            <a:ext cx="11338560" cy="0"/>
          </a:xfrm>
          <a:prstGeom prst="line">
            <a:avLst/>
          </a:prstGeom>
          <a:noFill/>
          <a:ln w="12700">
            <a:solidFill>
              <a:srgbClr val="0B9B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38912" y="656539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B6B7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Personalized Academic Advisement System  |  Sprint 1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9646920" y="3108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dirty="0">
                <a:solidFill>
                  <a:srgbClr val="1734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AI-Powered Personalized</a:t>
            </a:r>
            <a:endParaRPr lang="en-US" sz="650" dirty="0"/>
          </a:p>
          <a:p>
            <a:pPr marL="0" indent="0" algn="r">
              <a:buNone/>
            </a:pPr>
            <a:r>
              <a:rPr lang="en-US" sz="650" b="1" dirty="0">
                <a:solidFill>
                  <a:srgbClr val="1734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Academic Advisement System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0927080" y="685800"/>
            <a:ext cx="731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80" dirty="0">
                <a:solidFill>
                  <a:srgbClr val="70809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Sprint 1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40">
                <a:solidFill>
                  <a:srgbClr val="6B778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342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29425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9" y="0"/>
            <a:ext cx="12061371" cy="6553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079"/>
    </mc:Choice>
    <mc:Fallback xmlns="">
      <p:transition spd="slow" advTm="2307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02A4C"/>
          </a:solidFill>
          <a:ln w="12700">
            <a:solidFill>
              <a:srgbClr val="102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389120" y="0"/>
            <a:ext cx="128016" cy="6858000"/>
          </a:xfrm>
          <a:prstGeom prst="rect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3337560" cy="21488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100" b="1">
                <a:solidFill>
                  <a:srgbClr val="FFFFFF"/>
                </a:solidFill>
              </a:rPr>
              <a:t>AI-Powered</a:t>
            </a:r>
            <a:endParaRPr lang="en-US" sz="3100"/>
          </a:p>
          <a:p>
            <a:pPr marL="0" indent="0">
              <a:buNone/>
            </a:pPr>
            <a:r>
              <a:rPr lang="en-US" sz="3100" b="1">
                <a:solidFill>
                  <a:srgbClr val="FFFFFF"/>
                </a:solidFill>
              </a:rPr>
              <a:t>Personalized Academic</a:t>
            </a:r>
            <a:endParaRPr lang="en-US" sz="3100"/>
          </a:p>
          <a:p>
            <a:pPr marL="0" indent="0">
              <a:buNone/>
            </a:pPr>
            <a:r>
              <a:rPr lang="en-US" sz="3100" b="1">
                <a:solidFill>
                  <a:srgbClr val="FFFFFF"/>
                </a:solidFill>
              </a:rPr>
              <a:t>Advisement System</a:t>
            </a:r>
            <a:endParaRPr lang="en-US" sz="3100"/>
          </a:p>
        </p:txBody>
      </p:sp>
      <p:sp>
        <p:nvSpPr>
          <p:cNvPr id="5" name="Text 3"/>
          <p:cNvSpPr/>
          <p:nvPr/>
        </p:nvSpPr>
        <p:spPr>
          <a:xfrm>
            <a:off x="621792" y="384048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>
                <a:solidFill>
                  <a:srgbClr val="9CE0C8"/>
                </a:solidFill>
              </a:rPr>
              <a:t>SPRINT 0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621792" y="427939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500"/>
          </a:p>
        </p:txBody>
      </p:sp>
      <p:sp>
        <p:nvSpPr>
          <p:cNvPr id="7" name="Text 5"/>
          <p:cNvSpPr/>
          <p:nvPr/>
        </p:nvSpPr>
        <p:spPr>
          <a:xfrm>
            <a:off x="5166360" y="1828800"/>
            <a:ext cx="5760720" cy="10515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102A4C"/>
                </a:solidFill>
              </a:rPr>
              <a:t>From early risk detection to explainable, personalized academic support.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5212080" y="3246120"/>
            <a:ext cx="5669280" cy="777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>
                <a:solidFill>
                  <a:srgbClr val="66778C"/>
                </a:solidFill>
              </a:rPr>
              <a:t>Student Data  →  Risk Prediction  →  Explainability  →  Recommendations  →  Human Support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5486400" y="482803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10"/>
    </mc:Choice>
    <mc:Fallback xmlns="">
      <p:transition spd="slow" advTm="1831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7223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02A4C"/>
                </a:solidFill>
              </a:rPr>
              <a:t>Agenda</a:t>
            </a:r>
            <a:endParaRPr lang="en-US" sz="2700" b="1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78C"/>
                </a:solidFill>
              </a:rPr>
              <a:t>Sprint 0 presentation roadmap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5" name="Text 3"/>
          <p:cNvSpPr/>
          <p:nvPr/>
        </p:nvSpPr>
        <p:spPr>
          <a:xfrm>
            <a:off x="704088" y="1316736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1</a:t>
            </a:r>
            <a:endParaRPr lang="en-US" sz="1000" b="1"/>
          </a:p>
        </p:txBody>
      </p:sp>
      <p:sp>
        <p:nvSpPr>
          <p:cNvPr id="6" name="Text 4"/>
          <p:cNvSpPr/>
          <p:nvPr/>
        </p:nvSpPr>
        <p:spPr>
          <a:xfrm>
            <a:off x="1216152" y="128930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B2B42"/>
                </a:solidFill>
              </a:rPr>
              <a:t>Team Members, Roles &amp; Responsibilities</a:t>
            </a:r>
            <a:endParaRPr lang="en-US" sz="1550" b="1"/>
          </a:p>
        </p:txBody>
      </p:sp>
      <p:sp>
        <p:nvSpPr>
          <p:cNvPr id="7" name="Shape 5"/>
          <p:cNvSpPr/>
          <p:nvPr/>
        </p:nvSpPr>
        <p:spPr>
          <a:xfrm>
            <a:off x="685800" y="2176272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8" name="Text 6"/>
          <p:cNvSpPr/>
          <p:nvPr/>
        </p:nvSpPr>
        <p:spPr>
          <a:xfrm>
            <a:off x="704088" y="225856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2</a:t>
            </a:r>
            <a:endParaRPr lang="en-US" sz="1000" b="1"/>
          </a:p>
        </p:txBody>
      </p:sp>
      <p:sp>
        <p:nvSpPr>
          <p:cNvPr id="9" name="Text 7"/>
          <p:cNvSpPr/>
          <p:nvPr/>
        </p:nvSpPr>
        <p:spPr>
          <a:xfrm>
            <a:off x="1216152" y="223113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B2B42"/>
                </a:solidFill>
              </a:rPr>
              <a:t>Problem Statement</a:t>
            </a:r>
            <a:endParaRPr lang="en-US" sz="1550" b="1"/>
          </a:p>
        </p:txBody>
      </p:sp>
      <p:sp>
        <p:nvSpPr>
          <p:cNvPr id="10" name="Shape 8"/>
          <p:cNvSpPr/>
          <p:nvPr/>
        </p:nvSpPr>
        <p:spPr>
          <a:xfrm>
            <a:off x="685800" y="3118104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11" name="Text 9"/>
          <p:cNvSpPr/>
          <p:nvPr/>
        </p:nvSpPr>
        <p:spPr>
          <a:xfrm>
            <a:off x="704088" y="3200400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3</a:t>
            </a:r>
            <a:endParaRPr lang="en-US" sz="1000" b="1"/>
          </a:p>
        </p:txBody>
      </p:sp>
      <p:sp>
        <p:nvSpPr>
          <p:cNvPr id="12" name="Text 10"/>
          <p:cNvSpPr/>
          <p:nvPr/>
        </p:nvSpPr>
        <p:spPr>
          <a:xfrm>
            <a:off x="1216152" y="3172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B2B42"/>
                </a:solidFill>
              </a:rPr>
              <a:t>Project Description &amp; Solution Workflow</a:t>
            </a:r>
            <a:endParaRPr lang="en-US" sz="1550" b="1"/>
          </a:p>
        </p:txBody>
      </p:sp>
      <p:sp>
        <p:nvSpPr>
          <p:cNvPr id="13" name="Shape 11"/>
          <p:cNvSpPr/>
          <p:nvPr/>
        </p:nvSpPr>
        <p:spPr>
          <a:xfrm>
            <a:off x="685800" y="4059936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14" name="Text 12"/>
          <p:cNvSpPr/>
          <p:nvPr/>
        </p:nvSpPr>
        <p:spPr>
          <a:xfrm>
            <a:off x="704088" y="4142232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4</a:t>
            </a:r>
            <a:endParaRPr lang="en-US" sz="1000" b="1"/>
          </a:p>
        </p:txBody>
      </p:sp>
      <p:sp>
        <p:nvSpPr>
          <p:cNvPr id="15" name="Text 13"/>
          <p:cNvSpPr/>
          <p:nvPr/>
        </p:nvSpPr>
        <p:spPr>
          <a:xfrm>
            <a:off x="1216152" y="4114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B2B42"/>
                </a:solidFill>
              </a:rPr>
              <a:t>User Personas</a:t>
            </a:r>
            <a:endParaRPr lang="en-US" sz="1550" b="1"/>
          </a:p>
        </p:txBody>
      </p:sp>
      <p:sp>
        <p:nvSpPr>
          <p:cNvPr id="16" name="Shape 14"/>
          <p:cNvSpPr/>
          <p:nvPr/>
        </p:nvSpPr>
        <p:spPr>
          <a:xfrm>
            <a:off x="685800" y="5001768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17" name="Text 15"/>
          <p:cNvSpPr/>
          <p:nvPr/>
        </p:nvSpPr>
        <p:spPr>
          <a:xfrm>
            <a:off x="704088" y="5084064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5</a:t>
            </a:r>
            <a:endParaRPr lang="en-US" sz="1000" b="1"/>
          </a:p>
        </p:txBody>
      </p:sp>
      <p:sp>
        <p:nvSpPr>
          <p:cNvPr id="18" name="Text 16"/>
          <p:cNvSpPr/>
          <p:nvPr/>
        </p:nvSpPr>
        <p:spPr>
          <a:xfrm>
            <a:off x="1216152" y="505663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B2B42"/>
                </a:solidFill>
              </a:rPr>
              <a:t>Minimum Viable Product (MVP)</a:t>
            </a:r>
            <a:endParaRPr lang="en-US" sz="1550" b="1"/>
          </a:p>
        </p:txBody>
      </p:sp>
      <p:sp>
        <p:nvSpPr>
          <p:cNvPr id="19" name="Shape 17"/>
          <p:cNvSpPr/>
          <p:nvPr/>
        </p:nvSpPr>
        <p:spPr>
          <a:xfrm>
            <a:off x="6263640" y="1234440"/>
            <a:ext cx="384048" cy="384048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20" name="Text 18"/>
          <p:cNvSpPr/>
          <p:nvPr/>
        </p:nvSpPr>
        <p:spPr>
          <a:xfrm>
            <a:off x="6281928" y="1316736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6</a:t>
            </a:r>
            <a:endParaRPr lang="en-US" sz="1000" b="1"/>
          </a:p>
        </p:txBody>
      </p:sp>
      <p:sp>
        <p:nvSpPr>
          <p:cNvPr id="21" name="Text 19"/>
          <p:cNvSpPr/>
          <p:nvPr/>
        </p:nvSpPr>
        <p:spPr>
          <a:xfrm>
            <a:off x="6793992" y="128930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B2B42"/>
                </a:solidFill>
              </a:rPr>
              <a:t>System Architecture &amp; Technologies</a:t>
            </a:r>
            <a:endParaRPr lang="en-US" sz="1550" b="1"/>
          </a:p>
        </p:txBody>
      </p:sp>
      <p:sp>
        <p:nvSpPr>
          <p:cNvPr id="22" name="Shape 20"/>
          <p:cNvSpPr/>
          <p:nvPr/>
        </p:nvSpPr>
        <p:spPr>
          <a:xfrm>
            <a:off x="6263640" y="2176272"/>
            <a:ext cx="384048" cy="384048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23" name="Text 21"/>
          <p:cNvSpPr/>
          <p:nvPr/>
        </p:nvSpPr>
        <p:spPr>
          <a:xfrm>
            <a:off x="6281928" y="225856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7</a:t>
            </a:r>
            <a:endParaRPr lang="en-US" sz="1000" b="1"/>
          </a:p>
        </p:txBody>
      </p:sp>
      <p:sp>
        <p:nvSpPr>
          <p:cNvPr id="24" name="Text 22"/>
          <p:cNvSpPr/>
          <p:nvPr/>
        </p:nvSpPr>
        <p:spPr>
          <a:xfrm>
            <a:off x="6793992" y="223113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B2B42"/>
                </a:solidFill>
              </a:rPr>
              <a:t>Project Schedule / Sprint Cadence</a:t>
            </a:r>
            <a:endParaRPr lang="en-US" sz="1550" b="1"/>
          </a:p>
        </p:txBody>
      </p:sp>
      <p:sp>
        <p:nvSpPr>
          <p:cNvPr id="25" name="Shape 23"/>
          <p:cNvSpPr/>
          <p:nvPr/>
        </p:nvSpPr>
        <p:spPr>
          <a:xfrm>
            <a:off x="6263640" y="3118104"/>
            <a:ext cx="384048" cy="384048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26" name="Text 24"/>
          <p:cNvSpPr/>
          <p:nvPr/>
        </p:nvSpPr>
        <p:spPr>
          <a:xfrm>
            <a:off x="6281928" y="3200400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8</a:t>
            </a:r>
            <a:endParaRPr lang="en-US" sz="1000" b="1"/>
          </a:p>
        </p:txBody>
      </p:sp>
      <p:sp>
        <p:nvSpPr>
          <p:cNvPr id="27" name="Text 25"/>
          <p:cNvSpPr/>
          <p:nvPr/>
        </p:nvSpPr>
        <p:spPr>
          <a:xfrm>
            <a:off x="6793992" y="317296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B2B42"/>
                </a:solidFill>
              </a:rPr>
              <a:t>Team Working Agreement &amp; Definition of Done</a:t>
            </a:r>
            <a:endParaRPr lang="en-US" sz="1550" b="1"/>
          </a:p>
        </p:txBody>
      </p:sp>
      <p:sp>
        <p:nvSpPr>
          <p:cNvPr id="28" name="Shape 26"/>
          <p:cNvSpPr/>
          <p:nvPr/>
        </p:nvSpPr>
        <p:spPr>
          <a:xfrm>
            <a:off x="6263640" y="4059936"/>
            <a:ext cx="384048" cy="384048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 b="1"/>
          </a:p>
        </p:txBody>
      </p:sp>
      <p:sp>
        <p:nvSpPr>
          <p:cNvPr id="29" name="Text 27"/>
          <p:cNvSpPr/>
          <p:nvPr/>
        </p:nvSpPr>
        <p:spPr>
          <a:xfrm>
            <a:off x="6281928" y="4142232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9</a:t>
            </a:r>
            <a:endParaRPr lang="en-US" sz="1000" b="1"/>
          </a:p>
        </p:txBody>
      </p:sp>
      <p:sp>
        <p:nvSpPr>
          <p:cNvPr id="30" name="Text 28"/>
          <p:cNvSpPr/>
          <p:nvPr/>
        </p:nvSpPr>
        <p:spPr>
          <a:xfrm>
            <a:off x="6793992" y="4114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B2B42"/>
                </a:solidFill>
              </a:rPr>
              <a:t>Sprint 0 Retrospective</a:t>
            </a:r>
            <a:endParaRPr lang="en-US" sz="1550" b="1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29425F"/>
                </a:solidFill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222"/>
    </mc:Choice>
    <mc:Fallback xmlns="">
      <p:transition spd="slow" advTm="6422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7223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02A4C"/>
                </a:solidFill>
              </a:rPr>
              <a:t>Team Members &amp; Roles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78C"/>
                </a:solidFill>
              </a:rPr>
              <a:t>Scrum responsibilities with clear technical ownership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blurRad="322580000" dist="161290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8952" y="1399032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8132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T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252728" y="141732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A4C"/>
                </a:solidFill>
              </a:rPr>
              <a:t>Tafadzwa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795528" y="1993392"/>
            <a:ext cx="2103120" cy="5029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78C"/>
                </a:solidFill>
              </a:rPr>
              <a:t>Product Owner &amp; AI/ML Developer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3429000" y="123444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93592" y="1399032"/>
            <a:ext cx="384048" cy="384048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11880" y="148132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P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4087368" y="141732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A4C"/>
                </a:solidFill>
              </a:rPr>
              <a:t>Pranali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3630168" y="1993392"/>
            <a:ext cx="2103120" cy="5029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78C"/>
                </a:solidFill>
              </a:rPr>
              <a:t>Scrum Master &amp; Backend Developer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28232" y="1399032"/>
            <a:ext cx="384048" cy="384048"/>
          </a:xfrm>
          <a:prstGeom prst="ellipse">
            <a:avLst/>
          </a:prstGeom>
          <a:solidFill>
            <a:srgbClr val="5D46A8"/>
          </a:solidFill>
          <a:ln w="12700">
            <a:solidFill>
              <a:srgbClr val="5D4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148132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L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922008" y="141732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A4C"/>
                </a:solidFill>
              </a:rPr>
              <a:t>Lyno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6464808" y="1993392"/>
            <a:ext cx="2103120" cy="5029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150">
                <a:solidFill>
                  <a:srgbClr val="66778C"/>
                </a:solidFill>
              </a:rPr>
              <a:t>Frontend </a:t>
            </a:r>
            <a:r>
              <a:rPr lang="en-US" sz="1150" err="1">
                <a:solidFill>
                  <a:srgbClr val="66778C"/>
                </a:solidFill>
              </a:rPr>
              <a:t>Developer&amp;LLM</a:t>
            </a:r>
            <a:r>
              <a:rPr lang="en-US" sz="1150">
                <a:solidFill>
                  <a:srgbClr val="66778C"/>
                </a:solidFill>
              </a:rPr>
              <a:t> Engineer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9098280" y="123444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62872" y="1399032"/>
            <a:ext cx="384048" cy="384048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81160" y="148132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L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9756648" y="141732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A4C"/>
                </a:solidFill>
              </a:rPr>
              <a:t>Liangxian Li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9299448" y="1993392"/>
            <a:ext cx="2103120" cy="5029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78C"/>
                </a:solidFill>
              </a:rPr>
              <a:t>Backend Developer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2011680" y="347472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176272" y="3639312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194560" y="372160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D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2670048" y="365760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A4C"/>
                </a:solidFill>
              </a:rPr>
              <a:t>Datta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2212848" y="4233672"/>
            <a:ext cx="2103120" cy="5029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algn="ctr"/>
            <a:r>
              <a:rPr lang="en-US" sz="1150">
                <a:solidFill>
                  <a:srgbClr val="66778C"/>
                </a:solidFill>
              </a:rPr>
              <a:t>Database Manager &amp; Backend Developer</a:t>
            </a:r>
            <a:endParaRPr lang="en-US" sz="1150"/>
          </a:p>
        </p:txBody>
      </p:sp>
      <p:sp>
        <p:nvSpPr>
          <p:cNvPr id="29" name="Shape 27"/>
          <p:cNvSpPr/>
          <p:nvPr/>
        </p:nvSpPr>
        <p:spPr>
          <a:xfrm>
            <a:off x="4846320" y="347472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010912" y="3639312"/>
            <a:ext cx="384048" cy="384048"/>
          </a:xfrm>
          <a:prstGeom prst="ellipse">
            <a:avLst/>
          </a:prstGeom>
          <a:solidFill>
            <a:srgbClr val="5D46A8"/>
          </a:solidFill>
          <a:ln w="12700">
            <a:solidFill>
              <a:srgbClr val="5D4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0" y="372160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S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5504688" y="365760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A4C"/>
                </a:solidFill>
              </a:rPr>
              <a:t>Saisai</a:t>
            </a:r>
            <a:endParaRPr lang="en-US" sz="1600"/>
          </a:p>
        </p:txBody>
      </p:sp>
      <p:sp>
        <p:nvSpPr>
          <p:cNvPr id="33" name="Text 31"/>
          <p:cNvSpPr/>
          <p:nvPr/>
        </p:nvSpPr>
        <p:spPr>
          <a:xfrm>
            <a:off x="5047488" y="4233672"/>
            <a:ext cx="2103120" cy="5029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78C"/>
                </a:solidFill>
              </a:rPr>
              <a:t>UI/UX Designer &amp; Documentation Lead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680960" y="3474720"/>
            <a:ext cx="251460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845552" y="3639312"/>
            <a:ext cx="384048" cy="384048"/>
          </a:xfrm>
          <a:prstGeom prst="ellipse">
            <a:avLst/>
          </a:prstGeom>
          <a:solidFill>
            <a:srgbClr val="D98032"/>
          </a:solidFill>
          <a:ln w="12700">
            <a:solidFill>
              <a:srgbClr val="D98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863840" y="372160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C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8339328" y="3657600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A4C"/>
                </a:solidFill>
              </a:rPr>
              <a:t>Chintu</a:t>
            </a:r>
            <a:endParaRPr lang="en-US" sz="1600"/>
          </a:p>
        </p:txBody>
      </p:sp>
      <p:sp>
        <p:nvSpPr>
          <p:cNvPr id="38" name="Text 36"/>
          <p:cNvSpPr/>
          <p:nvPr/>
        </p:nvSpPr>
        <p:spPr>
          <a:xfrm>
            <a:off x="7882128" y="4233672"/>
            <a:ext cx="2103120" cy="50292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78C"/>
                </a:solidFill>
              </a:rPr>
              <a:t>Frontend Developer &amp; QA Tester</a:t>
            </a:r>
            <a:endParaRPr lang="en-US" sz="115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29425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529"/>
    </mc:Choice>
    <mc:Fallback xmlns="">
      <p:transition spd="slow" advTm="4952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7223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02A4C"/>
                </a:solidFill>
              </a:rPr>
              <a:t>Problem Statement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78C"/>
                </a:solidFill>
              </a:rPr>
              <a:t>Why academic advising needs a more proactive, data-informed approach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1E3"/>
          </a:solidFill>
          <a:ln w="8890">
            <a:solidFill>
              <a:srgbClr val="F5D4B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536192"/>
            <a:ext cx="384048" cy="384048"/>
          </a:xfrm>
          <a:prstGeom prst="ellipse">
            <a:avLst/>
          </a:prstGeom>
          <a:solidFill>
            <a:srgbClr val="D98032"/>
          </a:solidFill>
          <a:ln w="12700">
            <a:solidFill>
              <a:srgbClr val="D98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161848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!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353312" y="153619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02A4C"/>
                </a:solidFill>
              </a:rPr>
              <a:t>Current Challenge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4617720" cy="10515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1B2B42"/>
                </a:solidFill>
              </a:rPr>
              <a:t>Universities collect grades, attendance, assignment, course-performance and LMS-engagement data, but these signals are often fragmented across systems.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4617720" cy="11887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1B2B42"/>
                </a:solidFill>
              </a:rPr>
              <a:t>Students may discover academic problems only after performance has already declined, while advisors must manually identify who needs support and why.</a:t>
            </a:r>
            <a:endParaRPr lang="en-US" sz="1600"/>
          </a:p>
        </p:txBody>
      </p:sp>
      <p:sp>
        <p:nvSpPr>
          <p:cNvPr id="10" name="Shape 8"/>
          <p:cNvSpPr/>
          <p:nvPr/>
        </p:nvSpPr>
        <p:spPr>
          <a:xfrm>
            <a:off x="6172200" y="123444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E8F8F1"/>
          </a:solidFill>
          <a:ln w="8890">
            <a:solidFill>
              <a:srgbClr val="CDEEE1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46520" y="1536192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64808" y="161848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✓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6931152" y="1536192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02A4C"/>
                </a:solidFill>
              </a:rPr>
              <a:t>What is Needed</a:t>
            </a:r>
            <a:endParaRPr lang="en-US" sz="1900"/>
          </a:p>
        </p:txBody>
      </p:sp>
      <p:sp>
        <p:nvSpPr>
          <p:cNvPr id="14" name="Text 12"/>
          <p:cNvSpPr/>
          <p:nvPr/>
        </p:nvSpPr>
        <p:spPr>
          <a:xfrm>
            <a:off x="6446520" y="2148840"/>
            <a:ext cx="4617720" cy="594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B8F67"/>
                </a:solidFill>
              </a:rPr>
              <a:t>A unified advising platform that moves beyond displaying academic data.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6446520" y="2880360"/>
            <a:ext cx="4617720" cy="22860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>
                <a:solidFill>
                  <a:srgbClr val="1B2B42"/>
                </a:solidFill>
              </a:rPr>
              <a:t>Identify students who may need support</a:t>
            </a:r>
            <a:endParaRPr lang="en-US" sz="1400"/>
          </a:p>
          <a:p>
            <a:pPr marL="177800" indent="-177800">
              <a:buSzPct val="100000"/>
              <a:buChar char="•"/>
            </a:pPr>
            <a:r>
              <a:rPr lang="en-US" sz="1400">
                <a:solidFill>
                  <a:srgbClr val="1B2B42"/>
                </a:solidFill>
              </a:rPr>
              <a:t>Explain the factors contributing to academic risk</a:t>
            </a:r>
            <a:endParaRPr lang="en-US" sz="1400"/>
          </a:p>
          <a:p>
            <a:pPr marL="177800" indent="-177800">
              <a:buSzPct val="100000"/>
              <a:buChar char="•"/>
            </a:pPr>
            <a:r>
              <a:rPr lang="en-US" sz="1400">
                <a:solidFill>
                  <a:srgbClr val="1B2B42"/>
                </a:solidFill>
              </a:rPr>
              <a:t>Recommend appropriate, personalized actions</a:t>
            </a:r>
            <a:endParaRPr lang="en-US" sz="1400"/>
          </a:p>
          <a:p>
            <a:pPr marL="177800" indent="-177800">
              <a:buSzPct val="100000"/>
              <a:buChar char="•"/>
            </a:pPr>
            <a:r>
              <a:rPr lang="en-US" sz="1400">
                <a:solidFill>
                  <a:srgbClr val="1B2B42"/>
                </a:solidFill>
              </a:rPr>
              <a:t>Help advisors intervene earlier</a:t>
            </a:r>
            <a:endParaRPr lang="en-US" sz="1400"/>
          </a:p>
          <a:p>
            <a:pPr marL="177800" indent="-177800">
              <a:buSzPct val="100000"/>
              <a:buChar char="•"/>
            </a:pPr>
            <a:r>
              <a:rPr lang="en-US" sz="1400">
                <a:solidFill>
                  <a:srgbClr val="1B2B42"/>
                </a:solidFill>
              </a:rPr>
              <a:t>Keep humans involved in important decisions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29425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571"/>
    </mc:Choice>
    <mc:Fallback xmlns="">
      <p:transition spd="slow" advTm="6457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7223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02A4C"/>
                </a:solidFill>
              </a:rPr>
              <a:t>Project Description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78C"/>
                </a:solidFill>
              </a:rPr>
              <a:t>A full-stack advising platform that turns academic data into actionable support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627632" cy="2331720"/>
          </a:xfrm>
          <a:prstGeom prst="roundRect">
            <a:avLst>
              <a:gd name="adj" fmla="val 6742"/>
            </a:avLst>
          </a:prstGeom>
          <a:solidFill>
            <a:srgbClr val="E8F8F1"/>
          </a:solidFill>
          <a:ln w="8890">
            <a:solidFill>
              <a:srgbClr val="D3EE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5568" y="2103120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3856" y="2185416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1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612648" y="2743200"/>
            <a:ext cx="140817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102A4C"/>
                </a:solidFill>
              </a:rPr>
              <a:t>Student Data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630936" y="324612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66778C"/>
                </a:solidFill>
              </a:rPr>
              <a:t>Grades • attendance • assignments • LMS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2167128" y="2724912"/>
            <a:ext cx="228600" cy="411480"/>
          </a:xfrm>
          <a:prstGeom prst="chevron">
            <a:avLst/>
          </a:prstGeom>
          <a:solidFill>
            <a:srgbClr val="9BB0C8"/>
          </a:solidFill>
          <a:ln w="12700">
            <a:solidFill>
              <a:srgbClr val="9BB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23160" y="1828800"/>
            <a:ext cx="1627632" cy="2331720"/>
          </a:xfrm>
          <a:prstGeom prst="roundRect">
            <a:avLst>
              <a:gd name="adj" fmla="val 6742"/>
            </a:avLst>
          </a:prstGeom>
          <a:solidFill>
            <a:srgbClr val="EAF2FF"/>
          </a:solidFill>
          <a:ln w="8890">
            <a:solidFill>
              <a:srgbClr val="D8E7F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35808" y="2103120"/>
            <a:ext cx="384048" cy="384048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54096" y="2185416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2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2532888" y="2743200"/>
            <a:ext cx="140817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102A4C"/>
                </a:solidFill>
              </a:rPr>
              <a:t>Risk Prediction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2551176" y="324612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66778C"/>
                </a:solidFill>
              </a:rPr>
              <a:t>Estimate academic-support risk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087368" y="2724912"/>
            <a:ext cx="228600" cy="411480"/>
          </a:xfrm>
          <a:prstGeom prst="chevron">
            <a:avLst/>
          </a:prstGeom>
          <a:solidFill>
            <a:srgbClr val="9BB0C8"/>
          </a:solidFill>
          <a:ln w="12700">
            <a:solidFill>
              <a:srgbClr val="9BB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43400" y="1828800"/>
            <a:ext cx="1627632" cy="2331720"/>
          </a:xfrm>
          <a:prstGeom prst="roundRect">
            <a:avLst>
              <a:gd name="adj" fmla="val 6742"/>
            </a:avLst>
          </a:prstGeom>
          <a:solidFill>
            <a:srgbClr val="E8F8F1"/>
          </a:solidFill>
          <a:ln w="8890">
            <a:solidFill>
              <a:srgbClr val="D3EE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56048" y="2103120"/>
            <a:ext cx="384048" cy="384048"/>
          </a:xfrm>
          <a:prstGeom prst="ellipse">
            <a:avLst/>
          </a:prstGeom>
          <a:solidFill>
            <a:srgbClr val="5D46A8"/>
          </a:solidFill>
          <a:ln w="12700">
            <a:solidFill>
              <a:srgbClr val="5D4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74336" y="2185416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3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4453128" y="2743200"/>
            <a:ext cx="140817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102A4C"/>
                </a:solidFill>
              </a:rPr>
              <a:t>Explainability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4471416" y="324612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66778C"/>
                </a:solidFill>
              </a:rPr>
              <a:t>Show the factors behind the result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6007608" y="2724912"/>
            <a:ext cx="228600" cy="411480"/>
          </a:xfrm>
          <a:prstGeom prst="chevron">
            <a:avLst/>
          </a:prstGeom>
          <a:solidFill>
            <a:srgbClr val="9BB0C8"/>
          </a:solidFill>
          <a:ln w="12700">
            <a:solidFill>
              <a:srgbClr val="9BB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63640" y="1828800"/>
            <a:ext cx="1627632" cy="2331720"/>
          </a:xfrm>
          <a:prstGeom prst="roundRect">
            <a:avLst>
              <a:gd name="adj" fmla="val 6742"/>
            </a:avLst>
          </a:prstGeom>
          <a:solidFill>
            <a:srgbClr val="EAF2FF"/>
          </a:solidFill>
          <a:ln w="8890">
            <a:solidFill>
              <a:srgbClr val="D8E7F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76288" y="2103120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94576" y="2185416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4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6373368" y="2743200"/>
            <a:ext cx="140817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102A4C"/>
                </a:solidFill>
              </a:rPr>
              <a:t>Recommendations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6391656" y="324612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66778C"/>
                </a:solidFill>
              </a:rPr>
              <a:t>Suggest tutoring, planning or resources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7927848" y="2724912"/>
            <a:ext cx="228600" cy="411480"/>
          </a:xfrm>
          <a:prstGeom prst="chevron">
            <a:avLst/>
          </a:prstGeom>
          <a:solidFill>
            <a:srgbClr val="9BB0C8"/>
          </a:solidFill>
          <a:ln w="12700">
            <a:solidFill>
              <a:srgbClr val="9BB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83880" y="1828800"/>
            <a:ext cx="1627632" cy="2331720"/>
          </a:xfrm>
          <a:prstGeom prst="roundRect">
            <a:avLst>
              <a:gd name="adj" fmla="val 6742"/>
            </a:avLst>
          </a:prstGeom>
          <a:solidFill>
            <a:srgbClr val="E8F8F1"/>
          </a:solidFill>
          <a:ln w="8890">
            <a:solidFill>
              <a:srgbClr val="D3EEE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796528" y="2103120"/>
            <a:ext cx="384048" cy="384048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814816" y="2185416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5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8293608" y="2743200"/>
            <a:ext cx="140817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102A4C"/>
                </a:solidFill>
              </a:rPr>
              <a:t>Advisor + AI Support</a:t>
            </a:r>
            <a:endParaRPr lang="en-US" sz="1400"/>
          </a:p>
        </p:txBody>
      </p:sp>
      <p:sp>
        <p:nvSpPr>
          <p:cNvPr id="32" name="Text 30"/>
          <p:cNvSpPr/>
          <p:nvPr/>
        </p:nvSpPr>
        <p:spPr>
          <a:xfrm>
            <a:off x="8311896" y="324612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66778C"/>
                </a:solidFill>
              </a:rPr>
              <a:t>Human intervention + conversational guidance</a:t>
            </a:r>
            <a:endParaRPr lang="en-US" sz="1050"/>
          </a:p>
        </p:txBody>
      </p:sp>
      <p:sp>
        <p:nvSpPr>
          <p:cNvPr id="33" name="Shape 31"/>
          <p:cNvSpPr/>
          <p:nvPr/>
        </p:nvSpPr>
        <p:spPr>
          <a:xfrm>
            <a:off x="9848088" y="2724912"/>
            <a:ext cx="228600" cy="411480"/>
          </a:xfrm>
          <a:prstGeom prst="chevron">
            <a:avLst/>
          </a:prstGeom>
          <a:solidFill>
            <a:srgbClr val="9BB0C8"/>
          </a:solidFill>
          <a:ln w="12700">
            <a:solidFill>
              <a:srgbClr val="9BB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104120" y="1828800"/>
            <a:ext cx="1627632" cy="2331720"/>
          </a:xfrm>
          <a:prstGeom prst="roundRect">
            <a:avLst>
              <a:gd name="adj" fmla="val 6742"/>
            </a:avLst>
          </a:prstGeom>
          <a:solidFill>
            <a:srgbClr val="EAF2FF"/>
          </a:solidFill>
          <a:ln w="8890">
            <a:solidFill>
              <a:srgbClr val="D8E7F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716768" y="2103120"/>
            <a:ext cx="384048" cy="384048"/>
          </a:xfrm>
          <a:prstGeom prst="ellipse">
            <a:avLst/>
          </a:prstGeom>
          <a:solidFill>
            <a:srgbClr val="5D46A8"/>
          </a:solidFill>
          <a:ln w="12700">
            <a:solidFill>
              <a:srgbClr val="5D4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735056" y="2185416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6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10213848" y="2743200"/>
            <a:ext cx="140817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102A4C"/>
                </a:solidFill>
              </a:rPr>
              <a:t>Progress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10232136" y="3246120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>
                <a:solidFill>
                  <a:srgbClr val="66778C"/>
                </a:solidFill>
              </a:rPr>
              <a:t>Track follow-up and outcomes</a:t>
            </a:r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1965960" y="4846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29425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001"/>
    </mc:Choice>
    <mc:Fallback xmlns="">
      <p:transition spd="slow" advTm="8300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7223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02A4C"/>
                </a:solidFill>
              </a:rPr>
              <a:t>Student Persona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78C"/>
                </a:solidFill>
              </a:rPr>
              <a:t>Learn • Improve • Succeed</a:t>
            </a:r>
            <a:endParaRPr lang="en-US" sz="1250"/>
          </a:p>
        </p:txBody>
      </p:sp>
      <p:pic>
        <p:nvPicPr>
          <p:cNvPr id="4" name="Image 0" descr="/mnt/data/persona_0.png"/>
          <p:cNvPicPr>
            <a:picLocks noChangeAspect="1"/>
          </p:cNvPicPr>
          <p:nvPr/>
        </p:nvPicPr>
        <p:blipFill>
          <a:blip r:embed="rId3"/>
          <a:srcRect t="1818" b="21479"/>
          <a:stretch>
            <a:fillRect/>
          </a:stretch>
        </p:blipFill>
        <p:spPr>
          <a:xfrm>
            <a:off x="594360" y="1170432"/>
            <a:ext cx="379476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3502152"/>
            <a:ext cx="3794760" cy="2468880"/>
          </a:xfrm>
          <a:prstGeom prst="roundRect">
            <a:avLst>
              <a:gd name="adj" fmla="val 4444"/>
            </a:avLst>
          </a:prstGeom>
          <a:solidFill>
            <a:srgbClr val="E8F8F1"/>
          </a:solidFill>
          <a:ln w="8890">
            <a:solidFill>
              <a:srgbClr val="0B8F6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37307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8F67"/>
                </a:solidFill>
              </a:rPr>
              <a:t>Description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868680" y="4096512"/>
            <a:ext cx="3246120" cy="1325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B2B42"/>
                </a:solidFill>
              </a:rPr>
              <a:t>A current student who wants a clear view of academic progress, upcoming work, risk indicators and practical next steps.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4663440" y="1170432"/>
            <a:ext cx="3246120" cy="48006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37760" y="1481328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56048" y="1563624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✓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5440680" y="152704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B8F67"/>
                </a:solidFill>
              </a:rPr>
              <a:t>Goals</a:t>
            </a:r>
            <a:endParaRPr lang="en-US" sz="1700"/>
          </a:p>
        </p:txBody>
      </p:sp>
      <p:sp>
        <p:nvSpPr>
          <p:cNvPr id="12" name="Text 9"/>
          <p:cNvSpPr/>
          <p:nvPr/>
        </p:nvSpPr>
        <p:spPr>
          <a:xfrm>
            <a:off x="4937760" y="2057400"/>
            <a:ext cx="2697480" cy="33832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Track grades, attendance and progress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Understand why support is recommended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Receive personalized actions and resources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Ask academic questions through the AI advisor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8183880" y="1170432"/>
            <a:ext cx="3383280" cy="48006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458200" y="1481328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476488" y="1563624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!</a:t>
            </a:r>
            <a:endParaRPr lang="en-US" sz="1000"/>
          </a:p>
        </p:txBody>
      </p:sp>
      <p:sp>
        <p:nvSpPr>
          <p:cNvPr id="16" name="Text 13"/>
          <p:cNvSpPr/>
          <p:nvPr/>
        </p:nvSpPr>
        <p:spPr>
          <a:xfrm>
            <a:off x="8961120" y="152704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B8F67"/>
                </a:solidFill>
              </a:rPr>
              <a:t>Challenges</a:t>
            </a:r>
            <a:endParaRPr lang="en-US" sz="1700"/>
          </a:p>
        </p:txBody>
      </p:sp>
      <p:sp>
        <p:nvSpPr>
          <p:cNvPr id="17" name="Text 14"/>
          <p:cNvSpPr/>
          <p:nvPr/>
        </p:nvSpPr>
        <p:spPr>
          <a:xfrm>
            <a:off x="8458200" y="2057400"/>
            <a:ext cx="2743200" cy="31089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Fragmented academic information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Late awareness of declining performance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Generic rather than personalized support</a:t>
            </a:r>
            <a:endParaRPr lang="en-US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29425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126"/>
    </mc:Choice>
    <mc:Fallback xmlns="">
      <p:transition spd="slow" advTm="53126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7223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02A4C"/>
                </a:solidFill>
              </a:rPr>
              <a:t>Academic Advisor Persona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78C"/>
                </a:solidFill>
              </a:rPr>
              <a:t>Guide • Support • Make an Impact</a:t>
            </a:r>
            <a:endParaRPr lang="en-US" sz="1250"/>
          </a:p>
        </p:txBody>
      </p:sp>
      <p:pic>
        <p:nvPicPr>
          <p:cNvPr id="4" name="Image 0" descr="/mnt/data/persona_1.png"/>
          <p:cNvPicPr>
            <a:picLocks noChangeAspect="1"/>
          </p:cNvPicPr>
          <p:nvPr/>
        </p:nvPicPr>
        <p:blipFill>
          <a:blip r:embed="rId3"/>
          <a:srcRect t="3308" b="19203"/>
          <a:stretch>
            <a:fillRect/>
          </a:stretch>
        </p:blipFill>
        <p:spPr>
          <a:xfrm>
            <a:off x="594360" y="1170432"/>
            <a:ext cx="3794760" cy="211354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3502152"/>
            <a:ext cx="3794760" cy="2468880"/>
          </a:xfrm>
          <a:prstGeom prst="roundRect">
            <a:avLst>
              <a:gd name="adj" fmla="val 4444"/>
            </a:avLst>
          </a:prstGeom>
          <a:solidFill>
            <a:srgbClr val="EAF2FF"/>
          </a:solidFill>
          <a:ln w="8890">
            <a:solidFill>
              <a:srgbClr val="2569B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37307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569B8"/>
                </a:solidFill>
              </a:rPr>
              <a:t>Description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868680" y="4096512"/>
            <a:ext cx="3246120" cy="1325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B2B42"/>
                </a:solidFill>
              </a:rPr>
              <a:t>An academic advisor who needs to quickly identify students requiring attention and understand the evidence behind recommendations.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4663440" y="1170432"/>
            <a:ext cx="3246120" cy="48006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37760" y="1481328"/>
            <a:ext cx="384048" cy="384048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56048" y="1563624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✓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5440680" y="152704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569B8"/>
                </a:solidFill>
              </a:rPr>
              <a:t>Goals</a:t>
            </a:r>
            <a:endParaRPr lang="en-US" sz="1700"/>
          </a:p>
        </p:txBody>
      </p:sp>
      <p:sp>
        <p:nvSpPr>
          <p:cNvPr id="12" name="Text 9"/>
          <p:cNvSpPr/>
          <p:nvPr/>
        </p:nvSpPr>
        <p:spPr>
          <a:xfrm>
            <a:off x="4937760" y="2057400"/>
            <a:ext cx="2697480" cy="33832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Monitor assigned students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Prioritize students needing intervention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Review risk explanations and recommendations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Record interventions and follow-up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8183880" y="1170432"/>
            <a:ext cx="3383280" cy="48006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458200" y="1481328"/>
            <a:ext cx="384048" cy="384048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476488" y="1563624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!</a:t>
            </a:r>
            <a:endParaRPr lang="en-US" sz="1000"/>
          </a:p>
        </p:txBody>
      </p:sp>
      <p:sp>
        <p:nvSpPr>
          <p:cNvPr id="16" name="Text 13"/>
          <p:cNvSpPr/>
          <p:nvPr/>
        </p:nvSpPr>
        <p:spPr>
          <a:xfrm>
            <a:off x="8961120" y="152704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569B8"/>
                </a:solidFill>
              </a:rPr>
              <a:t>Challenges</a:t>
            </a:r>
            <a:endParaRPr lang="en-US" sz="1700"/>
          </a:p>
        </p:txBody>
      </p:sp>
      <p:sp>
        <p:nvSpPr>
          <p:cNvPr id="17" name="Text 14"/>
          <p:cNvSpPr/>
          <p:nvPr/>
        </p:nvSpPr>
        <p:spPr>
          <a:xfrm>
            <a:off x="8458200" y="2057400"/>
            <a:ext cx="2743200" cy="31089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Large advising caseloads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Manual review of multiple data sources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Limited time for proactive outreach</a:t>
            </a:r>
            <a:endParaRPr lang="en-US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29425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180"/>
    </mc:Choice>
    <mc:Fallback xmlns="">
      <p:transition spd="slow" advTm="5718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7223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02A4C"/>
                </a:solidFill>
              </a:rPr>
              <a:t>Administrator Persona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78C"/>
                </a:solidFill>
              </a:rPr>
              <a:t>Manage • Enable • Ensure Success</a:t>
            </a:r>
            <a:endParaRPr lang="en-US" sz="1250"/>
          </a:p>
        </p:txBody>
      </p:sp>
      <p:pic>
        <p:nvPicPr>
          <p:cNvPr id="4" name="Image 0" descr="/mnt/data/persona_2.png"/>
          <p:cNvPicPr>
            <a:picLocks noChangeAspect="1"/>
          </p:cNvPicPr>
          <p:nvPr/>
        </p:nvPicPr>
        <p:blipFill>
          <a:blip r:embed="rId3"/>
          <a:srcRect t="1818" b="18220"/>
          <a:stretch>
            <a:fillRect/>
          </a:stretch>
        </p:blipFill>
        <p:spPr>
          <a:xfrm>
            <a:off x="594360" y="1170432"/>
            <a:ext cx="3794760" cy="20391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3502152"/>
            <a:ext cx="3794760" cy="2468880"/>
          </a:xfrm>
          <a:prstGeom prst="roundRect">
            <a:avLst>
              <a:gd name="adj" fmla="val 4444"/>
            </a:avLst>
          </a:prstGeom>
          <a:solidFill>
            <a:srgbClr val="F0ECFF"/>
          </a:solidFill>
          <a:ln w="8890">
            <a:solidFill>
              <a:srgbClr val="5D46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8680" y="373075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5D46A8"/>
                </a:solidFill>
              </a:rPr>
              <a:t>Description</a:t>
            </a:r>
            <a:endParaRPr lang="en-US" sz="1500"/>
          </a:p>
        </p:txBody>
      </p:sp>
      <p:sp>
        <p:nvSpPr>
          <p:cNvPr id="7" name="Text 4"/>
          <p:cNvSpPr/>
          <p:nvPr/>
        </p:nvSpPr>
        <p:spPr>
          <a:xfrm>
            <a:off x="868680" y="4096512"/>
            <a:ext cx="3246120" cy="1325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solidFill>
                  <a:srgbClr val="1B2B42"/>
                </a:solidFill>
              </a:rPr>
              <a:t>A university administrator who needs to manage the platform, academic resources, access controls and system-level reporting.</a:t>
            </a:r>
            <a:endParaRPr lang="en-US" sz="1400"/>
          </a:p>
        </p:txBody>
      </p:sp>
      <p:sp>
        <p:nvSpPr>
          <p:cNvPr id="8" name="Shape 5"/>
          <p:cNvSpPr/>
          <p:nvPr/>
        </p:nvSpPr>
        <p:spPr>
          <a:xfrm>
            <a:off x="4663440" y="1170432"/>
            <a:ext cx="3246120" cy="480060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937760" y="1481328"/>
            <a:ext cx="384048" cy="384048"/>
          </a:xfrm>
          <a:prstGeom prst="ellipse">
            <a:avLst/>
          </a:prstGeom>
          <a:solidFill>
            <a:srgbClr val="5D46A8"/>
          </a:solidFill>
          <a:ln w="12700">
            <a:solidFill>
              <a:srgbClr val="5D4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56048" y="1563624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✓</a:t>
            </a:r>
            <a:endParaRPr lang="en-US" sz="1000"/>
          </a:p>
        </p:txBody>
      </p:sp>
      <p:sp>
        <p:nvSpPr>
          <p:cNvPr id="11" name="Text 8"/>
          <p:cNvSpPr/>
          <p:nvPr/>
        </p:nvSpPr>
        <p:spPr>
          <a:xfrm>
            <a:off x="5440680" y="152704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5D46A8"/>
                </a:solidFill>
              </a:rPr>
              <a:t>Goals</a:t>
            </a:r>
            <a:endParaRPr lang="en-US" sz="1700"/>
          </a:p>
        </p:txBody>
      </p:sp>
      <p:sp>
        <p:nvSpPr>
          <p:cNvPr id="12" name="Text 9"/>
          <p:cNvSpPr/>
          <p:nvPr/>
        </p:nvSpPr>
        <p:spPr>
          <a:xfrm>
            <a:off x="4937760" y="2057400"/>
            <a:ext cx="2697480" cy="338328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Manage users, roles and resources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Maintain approved advising content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Monitor system usage and outcomes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Support governance and auditability</a:t>
            </a:r>
            <a:endParaRPr lang="en-US" sz="1300"/>
          </a:p>
        </p:txBody>
      </p:sp>
      <p:sp>
        <p:nvSpPr>
          <p:cNvPr id="13" name="Shape 10"/>
          <p:cNvSpPr/>
          <p:nvPr/>
        </p:nvSpPr>
        <p:spPr>
          <a:xfrm>
            <a:off x="8183880" y="1170432"/>
            <a:ext cx="3383280" cy="48006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458200" y="1481328"/>
            <a:ext cx="384048" cy="384048"/>
          </a:xfrm>
          <a:prstGeom prst="ellipse">
            <a:avLst/>
          </a:prstGeom>
          <a:solidFill>
            <a:srgbClr val="5D46A8"/>
          </a:solidFill>
          <a:ln w="12700">
            <a:solidFill>
              <a:srgbClr val="5D4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476488" y="1563624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!</a:t>
            </a:r>
            <a:endParaRPr lang="en-US" sz="1000"/>
          </a:p>
        </p:txBody>
      </p:sp>
      <p:sp>
        <p:nvSpPr>
          <p:cNvPr id="16" name="Text 13"/>
          <p:cNvSpPr/>
          <p:nvPr/>
        </p:nvSpPr>
        <p:spPr>
          <a:xfrm>
            <a:off x="8961120" y="152704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5D46A8"/>
                </a:solidFill>
              </a:rPr>
              <a:t>Challenges</a:t>
            </a:r>
            <a:endParaRPr lang="en-US" sz="1700"/>
          </a:p>
        </p:txBody>
      </p:sp>
      <p:sp>
        <p:nvSpPr>
          <p:cNvPr id="17" name="Text 14"/>
          <p:cNvSpPr/>
          <p:nvPr/>
        </p:nvSpPr>
        <p:spPr>
          <a:xfrm>
            <a:off x="8458200" y="2057400"/>
            <a:ext cx="2743200" cy="31089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Data privacy and access control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Consistency of advising information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Responsible use of AI</a:t>
            </a:r>
            <a:endParaRPr lang="en-US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29425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049"/>
    </mc:Choice>
    <mc:Fallback xmlns="">
      <p:transition spd="slow" advTm="79049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7223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02A4C"/>
                </a:solidFill>
              </a:rPr>
              <a:t>Minimum Viable Product (MVP)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78C"/>
                </a:solidFill>
              </a:rPr>
              <a:t>The smallest complete system that demonstrates end-to-end academic support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7512" y="1399032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48132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ID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161288" y="1417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102A4C"/>
                </a:solidFill>
              </a:rPr>
              <a:t>Authentication &amp; Roles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704088" y="2075688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78C"/>
                </a:solidFill>
              </a:rPr>
              <a:t>Student, advisor and administrator access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3383280" y="123444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47872" y="1399032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148132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AP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4041648" y="1417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102A4C"/>
                </a:solidFill>
              </a:rPr>
              <a:t>Academic Profile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3584448" y="2075688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78C"/>
                </a:solidFill>
              </a:rPr>
              <a:t>Courses, grades, attendance and assignments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28232" y="1399032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46520" y="148132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SD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922008" y="1417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102A4C"/>
                </a:solidFill>
              </a:rPr>
              <a:t>Student Dashboard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6464808" y="2075688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78C"/>
                </a:solidFill>
              </a:rPr>
              <a:t>Progress, risk status and recommendations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9144000" y="123444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308592" y="1399032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26880" y="148132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AD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9802368" y="14173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102A4C"/>
                </a:solidFill>
              </a:rPr>
              <a:t>Advisor Dashboard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9345168" y="2075688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78C"/>
                </a:solidFill>
              </a:rPr>
              <a:t>Students, explanations and interventions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502920" y="356616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7512" y="3730752"/>
            <a:ext cx="384048" cy="384048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381304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ML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1161288" y="37490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102A4C"/>
                </a:solidFill>
              </a:rPr>
              <a:t>Risk Prediction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704088" y="4407408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78C"/>
                </a:solidFill>
              </a:rPr>
              <a:t>ML-based academic-support risk</a:t>
            </a:r>
            <a:endParaRPr lang="en-US" sz="1150"/>
          </a:p>
        </p:txBody>
      </p:sp>
      <p:sp>
        <p:nvSpPr>
          <p:cNvPr id="29" name="Shape 27"/>
          <p:cNvSpPr/>
          <p:nvPr/>
        </p:nvSpPr>
        <p:spPr>
          <a:xfrm>
            <a:off x="3383280" y="356616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547872" y="3730752"/>
            <a:ext cx="384048" cy="384048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66160" y="381304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XAI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4041648" y="37490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102A4C"/>
                </a:solidFill>
              </a:rPr>
              <a:t>Explainable AI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3584448" y="4407408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78C"/>
                </a:solidFill>
              </a:rPr>
              <a:t>Show factors influencing the result</a:t>
            </a:r>
            <a:endParaRPr lang="en-US" sz="1150"/>
          </a:p>
        </p:txBody>
      </p:sp>
      <p:sp>
        <p:nvSpPr>
          <p:cNvPr id="34" name="Shape 32"/>
          <p:cNvSpPr/>
          <p:nvPr/>
        </p:nvSpPr>
        <p:spPr>
          <a:xfrm>
            <a:off x="6263640" y="356616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28232" y="3730752"/>
            <a:ext cx="384048" cy="384048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46520" y="381304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RE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6922008" y="37490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102A4C"/>
                </a:solidFill>
              </a:rPr>
              <a:t>Recommendation Engine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6464808" y="4407408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78C"/>
                </a:solidFill>
              </a:rPr>
              <a:t>Map needs to actions and resources</a:t>
            </a:r>
            <a:endParaRPr lang="en-US" sz="1150"/>
          </a:p>
        </p:txBody>
      </p:sp>
      <p:sp>
        <p:nvSpPr>
          <p:cNvPr id="39" name="Shape 37"/>
          <p:cNvSpPr/>
          <p:nvPr/>
        </p:nvSpPr>
        <p:spPr>
          <a:xfrm>
            <a:off x="9144000" y="356616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308592" y="3730752"/>
            <a:ext cx="384048" cy="384048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326880" y="381304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IT</a:t>
            </a:r>
            <a:endParaRPr lang="en-US" sz="1000"/>
          </a:p>
        </p:txBody>
      </p:sp>
      <p:sp>
        <p:nvSpPr>
          <p:cNvPr id="42" name="Text 40"/>
          <p:cNvSpPr/>
          <p:nvPr/>
        </p:nvSpPr>
        <p:spPr>
          <a:xfrm>
            <a:off x="9802368" y="37490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b="1" dirty="0">
                <a:solidFill>
                  <a:srgbClr val="102A4C"/>
                </a:solidFill>
              </a:rPr>
              <a:t>Intervention Tracking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345168" y="4407408"/>
            <a:ext cx="2176272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>
                <a:solidFill>
                  <a:srgbClr val="66778C"/>
                </a:solidFill>
              </a:rPr>
              <a:t>Review actions and monitor follow-up</a:t>
            </a:r>
            <a:endParaRPr lang="en-US" sz="115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29425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23"/>
    </mc:Choice>
    <mc:Fallback xmlns="">
      <p:transition spd="slow" advTm="6462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7223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02A4C"/>
                </a:solidFill>
              </a:rPr>
              <a:t>Proposed System Architecture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78C"/>
                </a:solidFill>
              </a:rPr>
              <a:t>Separation between experience, application, data and intelligence layers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914400" y="1143000"/>
            <a:ext cx="10149840" cy="932688"/>
          </a:xfrm>
          <a:prstGeom prst="roundRect">
            <a:avLst>
              <a:gd name="adj" fmla="val 11765"/>
            </a:avLst>
          </a:prstGeom>
          <a:solidFill>
            <a:srgbClr val="E8F8F1"/>
          </a:solidFill>
          <a:ln w="8890">
            <a:solidFill>
              <a:srgbClr val="0B8F6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8720" y="1408176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07008" y="1490472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1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1737360" y="130759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A4C"/>
                </a:solidFill>
              </a:rPr>
              <a:t>Experience Layer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3886200" y="130759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8F67"/>
                </a:solidFill>
              </a:rPr>
              <a:t>React / Next.js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5852160" y="130759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B2B42"/>
                </a:solidFill>
              </a:rPr>
              <a:t>Student • Advisor • Administrator dashboards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914400" y="2377440"/>
            <a:ext cx="10149840" cy="932688"/>
          </a:xfrm>
          <a:prstGeom prst="roundRect">
            <a:avLst>
              <a:gd name="adj" fmla="val 11765"/>
            </a:avLst>
          </a:prstGeom>
          <a:solidFill>
            <a:srgbClr val="EAF2FF"/>
          </a:solidFill>
          <a:ln w="8890">
            <a:solidFill>
              <a:srgbClr val="2569B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88720" y="2642616"/>
            <a:ext cx="384048" cy="384048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07008" y="2724912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2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1737360" y="254203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A4C"/>
                </a:solidFill>
              </a:rPr>
              <a:t>Application Layer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3886200" y="25420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569B8"/>
                </a:solidFill>
              </a:rPr>
              <a:t>FastAPI / Python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5852160" y="254203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B2B42"/>
                </a:solidFill>
              </a:rPr>
              <a:t>REST APIs • auth • business logic</a:t>
            </a:r>
            <a:endParaRPr lang="en-US" sz="1300"/>
          </a:p>
        </p:txBody>
      </p:sp>
      <p:sp>
        <p:nvSpPr>
          <p:cNvPr id="16" name="Shape 14"/>
          <p:cNvSpPr/>
          <p:nvPr/>
        </p:nvSpPr>
        <p:spPr>
          <a:xfrm>
            <a:off x="914400" y="3611880"/>
            <a:ext cx="10149840" cy="932688"/>
          </a:xfrm>
          <a:prstGeom prst="roundRect">
            <a:avLst>
              <a:gd name="adj" fmla="val 11765"/>
            </a:avLst>
          </a:prstGeom>
          <a:solidFill>
            <a:srgbClr val="F0ECFF"/>
          </a:solidFill>
          <a:ln w="8890">
            <a:solidFill>
              <a:srgbClr val="5D46A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88720" y="3877056"/>
            <a:ext cx="384048" cy="384048"/>
          </a:xfrm>
          <a:prstGeom prst="ellipse">
            <a:avLst/>
          </a:prstGeom>
          <a:solidFill>
            <a:srgbClr val="5D46A8"/>
          </a:solidFill>
          <a:ln w="12700">
            <a:solidFill>
              <a:srgbClr val="5D4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07008" y="3959352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3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1737360" y="377647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A4C"/>
                </a:solidFill>
              </a:rPr>
              <a:t>Data Layer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3886200" y="377647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5D46A8"/>
                </a:solidFill>
              </a:rPr>
              <a:t>PostgreSQL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5852160" y="377647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B2B42"/>
                </a:solidFill>
              </a:rPr>
              <a:t>Academic records • users • interventions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914400" y="4846320"/>
            <a:ext cx="10149840" cy="932688"/>
          </a:xfrm>
          <a:prstGeom prst="roundRect">
            <a:avLst>
              <a:gd name="adj" fmla="val 11765"/>
            </a:avLst>
          </a:prstGeom>
          <a:solidFill>
            <a:srgbClr val="FFF1E3"/>
          </a:solidFill>
          <a:ln w="8890">
            <a:solidFill>
              <a:srgbClr val="D9803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88720" y="5111496"/>
            <a:ext cx="384048" cy="384048"/>
          </a:xfrm>
          <a:prstGeom prst="ellipse">
            <a:avLst/>
          </a:prstGeom>
          <a:solidFill>
            <a:srgbClr val="D98032"/>
          </a:solidFill>
          <a:ln w="12700">
            <a:solidFill>
              <a:srgbClr val="D98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07008" y="5193792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4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1737360" y="5010912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2A4C"/>
                </a:solidFill>
              </a:rPr>
              <a:t>Intelligence Layer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3886200" y="501091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D98032"/>
                </a:solidFill>
              </a:rPr>
              <a:t>ML + XAI + RAG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5852160" y="50109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1B2B42"/>
                </a:solidFill>
              </a:rPr>
              <a:t>Risk prediction • explanations • recommendations</a:t>
            </a:r>
            <a:endParaRPr lang="en-US" sz="130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29425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914"/>
    </mc:Choice>
    <mc:Fallback xmlns="">
      <p:transition spd="slow" advTm="61914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7223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02A4C"/>
                </a:solidFill>
              </a:rPr>
              <a:t>Technologies &amp; AI/ML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78C"/>
                </a:solidFill>
              </a:rPr>
              <a:t>A practical stack aligned with the team’s skills and project scope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35608" y="1536192"/>
            <a:ext cx="822960" cy="822960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08760" y="1755648"/>
            <a:ext cx="676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⚛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102A4C"/>
                </a:solidFill>
              </a:rPr>
              <a:t>React / Next.js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777240" y="2798064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6778C"/>
                </a:solidFill>
              </a:rPr>
              <a:t>Frontend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3429000" y="12801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70248" y="1536192"/>
            <a:ext cx="822960" cy="822960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43400" y="1755648"/>
            <a:ext cx="676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Py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3611880" y="248716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102A4C"/>
                </a:solidFill>
              </a:rPr>
              <a:t>Python / FastAPI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3611880" y="2798064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6778C"/>
                </a:solidFill>
              </a:rPr>
              <a:t>Backend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6263640" y="12801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04888" y="1536192"/>
            <a:ext cx="822960" cy="822960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78040" y="1755648"/>
            <a:ext cx="676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PG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6446520" y="248716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102A4C"/>
                </a:solidFill>
              </a:rPr>
              <a:t>PostgreSQL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6446520" y="2798064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6778C"/>
                </a:solidFill>
              </a:rPr>
              <a:t>Database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9098280" y="128016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939528" y="1536192"/>
            <a:ext cx="822960" cy="822960"/>
          </a:xfrm>
          <a:prstGeom prst="ellipse">
            <a:avLst/>
          </a:prstGeom>
          <a:solidFill>
            <a:srgbClr val="D98032"/>
          </a:solidFill>
          <a:ln w="12700">
            <a:solidFill>
              <a:srgbClr val="D98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12680" y="1755648"/>
            <a:ext cx="676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ML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9281160" y="248716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102A4C"/>
                </a:solidFill>
              </a:rPr>
              <a:t>scikit-learn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9281160" y="2798064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6778C"/>
                </a:solidFill>
              </a:rPr>
              <a:t>Machine Learning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594360" y="361188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435608" y="3867912"/>
            <a:ext cx="822960" cy="822960"/>
          </a:xfrm>
          <a:prstGeom prst="ellipse">
            <a:avLst/>
          </a:prstGeom>
          <a:solidFill>
            <a:srgbClr val="5D46A8"/>
          </a:solidFill>
          <a:ln w="12700">
            <a:solidFill>
              <a:srgbClr val="5D4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08760" y="4087368"/>
            <a:ext cx="676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XAI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777240" y="481888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102A4C"/>
                </a:solidFill>
              </a:rPr>
              <a:t>SHAP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777240" y="5129784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6778C"/>
                </a:solidFill>
              </a:rPr>
              <a:t>Explainability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3429000" y="361188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270248" y="3867912"/>
            <a:ext cx="822960" cy="822960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43400" y="4087368"/>
            <a:ext cx="676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AI</a:t>
            </a:r>
            <a:endParaRPr lang="en-US" sz="1500"/>
          </a:p>
        </p:txBody>
      </p:sp>
      <p:sp>
        <p:nvSpPr>
          <p:cNvPr id="32" name="Text 30"/>
          <p:cNvSpPr/>
          <p:nvPr/>
        </p:nvSpPr>
        <p:spPr>
          <a:xfrm>
            <a:off x="3611880" y="481888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102A4C"/>
                </a:solidFill>
              </a:rPr>
              <a:t>LLM + RAG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3611880" y="5129784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6778C"/>
                </a:solidFill>
              </a:rPr>
              <a:t>Conversational AI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6263640" y="361188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04888" y="3867912"/>
            <a:ext cx="822960" cy="822960"/>
          </a:xfrm>
          <a:prstGeom prst="ellipse">
            <a:avLst/>
          </a:prstGeom>
          <a:solidFill>
            <a:srgbClr val="102A4C"/>
          </a:solidFill>
          <a:ln w="12700">
            <a:solidFill>
              <a:srgbClr val="102A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78040" y="4087368"/>
            <a:ext cx="676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GH</a:t>
            </a:r>
            <a:endParaRPr lang="en-US" sz="1500"/>
          </a:p>
        </p:txBody>
      </p:sp>
      <p:sp>
        <p:nvSpPr>
          <p:cNvPr id="37" name="Text 35"/>
          <p:cNvSpPr/>
          <p:nvPr/>
        </p:nvSpPr>
        <p:spPr>
          <a:xfrm>
            <a:off x="6446520" y="481888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102A4C"/>
                </a:solidFill>
              </a:rPr>
              <a:t>GitHub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6446520" y="5129784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6778C"/>
                </a:solidFill>
              </a:rPr>
              <a:t>Collaboration</a:t>
            </a:r>
            <a:endParaRPr lang="en-US" sz="1050"/>
          </a:p>
        </p:txBody>
      </p:sp>
      <p:sp>
        <p:nvSpPr>
          <p:cNvPr id="39" name="Shape 37"/>
          <p:cNvSpPr/>
          <p:nvPr/>
        </p:nvSpPr>
        <p:spPr>
          <a:xfrm>
            <a:off x="9098280" y="361188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939528" y="3867912"/>
            <a:ext cx="822960" cy="822960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0012680" y="4087368"/>
            <a:ext cx="6766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</a:rPr>
              <a:t>▣</a:t>
            </a:r>
            <a:endParaRPr lang="en-US" sz="1500"/>
          </a:p>
        </p:txBody>
      </p:sp>
      <p:sp>
        <p:nvSpPr>
          <p:cNvPr id="42" name="Text 40"/>
          <p:cNvSpPr/>
          <p:nvPr/>
        </p:nvSpPr>
        <p:spPr>
          <a:xfrm>
            <a:off x="9281160" y="4818888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>
                <a:solidFill>
                  <a:srgbClr val="102A4C"/>
                </a:solidFill>
              </a:rPr>
              <a:t>Docker + CI/CD</a:t>
            </a:r>
            <a:endParaRPr lang="en-US" sz="1400"/>
          </a:p>
        </p:txBody>
      </p:sp>
      <p:sp>
        <p:nvSpPr>
          <p:cNvPr id="43" name="Text 41"/>
          <p:cNvSpPr/>
          <p:nvPr/>
        </p:nvSpPr>
        <p:spPr>
          <a:xfrm>
            <a:off x="9281160" y="5129784"/>
            <a:ext cx="21488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6778C"/>
                </a:solidFill>
              </a:rPr>
              <a:t>DevOps</a:t>
            </a:r>
            <a:endParaRPr lang="en-US" sz="105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29425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723"/>
    </mc:Choice>
    <mc:Fallback xmlns="">
      <p:transition spd="slow" advTm="10072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7223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02A4C"/>
                </a:solidFill>
              </a:rPr>
              <a:t>Project Schedule / Sprint Cadence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78C"/>
                </a:solidFill>
              </a:rPr>
              <a:t>Each sprint delivers a working increment toward the final MVP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84048" cy="384048"/>
          </a:xfrm>
          <a:prstGeom prst="ellipse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453896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0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914400" y="1764792"/>
            <a:ext cx="0" cy="658368"/>
          </a:xfrm>
          <a:prstGeom prst="line">
            <a:avLst/>
          </a:prstGeom>
          <a:noFill/>
          <a:ln w="25400">
            <a:solidFill>
              <a:srgbClr val="C8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71600" y="1234440"/>
            <a:ext cx="9784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91640" y="1389888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8F67"/>
                </a:solidFill>
              </a:rPr>
              <a:t>Sprint 0 — Discovery &amp; Planning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5120640" y="1399032"/>
            <a:ext cx="54406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1B2B42"/>
                </a:solidFill>
              </a:rPr>
              <a:t>Requirements • personas • architecture • backlog • working agreement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731520" y="2542032"/>
            <a:ext cx="384048" cy="384048"/>
          </a:xfrm>
          <a:prstGeom prst="ellipse">
            <a:avLst/>
          </a:prstGeom>
          <a:solidFill>
            <a:srgbClr val="2569B8"/>
          </a:solidFill>
          <a:ln w="12700">
            <a:solidFill>
              <a:srgbClr val="2569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624328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1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914400" y="2935224"/>
            <a:ext cx="0" cy="658368"/>
          </a:xfrm>
          <a:prstGeom prst="line">
            <a:avLst/>
          </a:prstGeom>
          <a:noFill/>
          <a:ln w="25400">
            <a:solidFill>
              <a:srgbClr val="C8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371600" y="2404872"/>
            <a:ext cx="9784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691640" y="256032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2569B8"/>
                </a:solidFill>
              </a:rPr>
              <a:t>Sprint 1 — Core Advisement Platform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5120640" y="2569464"/>
            <a:ext cx="54406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1B2B42"/>
                </a:solidFill>
              </a:rPr>
              <a:t>Authentication • academic data • APIs • student/advisor dashboards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731520" y="3712464"/>
            <a:ext cx="384048" cy="384048"/>
          </a:xfrm>
          <a:prstGeom prst="ellipse">
            <a:avLst/>
          </a:prstGeom>
          <a:solidFill>
            <a:srgbClr val="5D46A8"/>
          </a:solidFill>
          <a:ln w="12700">
            <a:solidFill>
              <a:srgbClr val="5D4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3794760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2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914400" y="4105656"/>
            <a:ext cx="0" cy="658368"/>
          </a:xfrm>
          <a:prstGeom prst="line">
            <a:avLst/>
          </a:prstGeom>
          <a:noFill/>
          <a:ln w="25400">
            <a:solidFill>
              <a:srgbClr val="C8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371600" y="3575304"/>
            <a:ext cx="9784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691640" y="3730752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5D46A8"/>
                </a:solidFill>
              </a:rPr>
              <a:t>Sprint 2 — Intelligence &amp; Intervention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5120640" y="3739896"/>
            <a:ext cx="54406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1B2B42"/>
                </a:solidFill>
              </a:rPr>
              <a:t>Risk prediction • explainability • recommendations • interventions</a:t>
            </a:r>
            <a:endParaRPr lang="en-US" sz="1250"/>
          </a:p>
        </p:txBody>
      </p:sp>
      <p:sp>
        <p:nvSpPr>
          <p:cNvPr id="22" name="Shape 20"/>
          <p:cNvSpPr/>
          <p:nvPr/>
        </p:nvSpPr>
        <p:spPr>
          <a:xfrm>
            <a:off x="731520" y="4882896"/>
            <a:ext cx="384048" cy="384048"/>
          </a:xfrm>
          <a:prstGeom prst="ellipse">
            <a:avLst/>
          </a:prstGeom>
          <a:solidFill>
            <a:srgbClr val="D98032"/>
          </a:solidFill>
          <a:ln w="12700">
            <a:solidFill>
              <a:srgbClr val="D980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" y="4965192"/>
            <a:ext cx="347472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</a:rPr>
              <a:t>3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914400" y="5276088"/>
            <a:ext cx="0" cy="658368"/>
          </a:xfrm>
          <a:prstGeom prst="line">
            <a:avLst/>
          </a:prstGeom>
          <a:noFill/>
          <a:ln w="25400">
            <a:solidFill>
              <a:srgbClr val="C8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71600" y="4745736"/>
            <a:ext cx="97840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6EE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691640" y="4901184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D98032"/>
                </a:solidFill>
              </a:rPr>
              <a:t>Sprint 3 — AI, Integration &amp; Release</a:t>
            </a:r>
            <a:endParaRPr lang="en-US" sz="1500"/>
          </a:p>
        </p:txBody>
      </p:sp>
      <p:sp>
        <p:nvSpPr>
          <p:cNvPr id="27" name="Text 25"/>
          <p:cNvSpPr/>
          <p:nvPr/>
        </p:nvSpPr>
        <p:spPr>
          <a:xfrm>
            <a:off x="5120640" y="4910328"/>
            <a:ext cx="544068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>
                <a:solidFill>
                  <a:srgbClr val="1B2B42"/>
                </a:solidFill>
              </a:rPr>
              <a:t>Conversational AI/RAG • testing • security • deployment</a:t>
            </a:r>
            <a:endParaRPr lang="en-US" sz="125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29425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26"/>
    </mc:Choice>
    <mc:Fallback xmlns="">
      <p:transition spd="slow" advTm="6722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7223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02A4C"/>
                </a:solidFill>
              </a:rPr>
              <a:t>Team Working Agreement &amp; Definition of Done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78C"/>
                </a:solidFill>
              </a:rPr>
              <a:t>How we will collaborate and what “complete” means</a:t>
            </a:r>
            <a:endParaRPr lang="en-US" sz="125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594360" y="1234440"/>
            <a:ext cx="5303520" cy="4663440"/>
          </a:xfrm>
          <a:prstGeom prst="roundRect">
            <a:avLst>
              <a:gd name="adj" fmla="val 2353"/>
            </a:avLst>
          </a:prstGeom>
          <a:solidFill>
            <a:srgbClr val="E8F8F1"/>
          </a:solidFill>
          <a:ln w="8890">
            <a:solidFill>
              <a:srgbClr val="CDEEE1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868680" y="150876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B8F67"/>
                </a:solidFill>
              </a:rPr>
              <a:t>Team Principles</a:t>
            </a:r>
            <a:endParaRPr lang="en-US" sz="1900"/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868680" y="2011680"/>
            <a:ext cx="4617720" cy="342900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Respectful, timely and transparent communication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Clear ownership with cross-component collaboration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Balanced workload and early escalation of blockers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Use GitHub issues, branches and pull requests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Attend Scrum ceremonies and give honest status updates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Document technical decisions and important changes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Integrate frequently rather than waiting until sprint end</a:t>
            </a:r>
            <a:endParaRPr lang="en-US" sz="130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6217920" y="1234440"/>
            <a:ext cx="5303520" cy="4663440"/>
          </a:xfrm>
          <a:prstGeom prst="roundRect">
            <a:avLst>
              <a:gd name="adj" fmla="val 2353"/>
            </a:avLst>
          </a:prstGeom>
          <a:solidFill>
            <a:srgbClr val="EAF2FF"/>
          </a:solidFill>
          <a:ln w="8890">
            <a:solidFill>
              <a:srgbClr val="D7E7F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6492240" y="15087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2569B8"/>
                </a:solidFill>
              </a:rPr>
              <a:t>Definition of Done</a:t>
            </a:r>
            <a:endParaRPr lang="en-US" sz="1900"/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6492240" y="2011680"/>
            <a:ext cx="4617720" cy="352044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User story meets acceptance criteria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Code runs without known blocking errors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Appropriate tests are completed and passing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Peer review is completed before merge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Database, API and UI changes are integrated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Documentation is updated where required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Product Owner verifies the completed story</a:t>
            </a:r>
            <a:endParaRPr lang="en-US" sz="1300"/>
          </a:p>
          <a:p>
            <a:pPr marL="165100" indent="-165100">
              <a:buSzPct val="100000"/>
              <a:buChar char="•"/>
            </a:pPr>
            <a:r>
              <a:rPr lang="en-US" sz="1300">
                <a:solidFill>
                  <a:srgbClr val="1B2B42"/>
                </a:solidFill>
              </a:rPr>
              <a:t>Work is demonstrated during the sprint review</a:t>
            </a:r>
            <a:endParaRPr lang="en-US" sz="13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29425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82880"/>
            <a:ext cx="72237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102A4C"/>
                </a:solidFill>
              </a:rPr>
              <a:t>Sprint 0 Retrospective</a:t>
            </a:r>
            <a:endParaRPr lang="en-US" sz="270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8638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6778C"/>
                </a:solidFill>
              </a:rPr>
              <a:t>What we learned from discovery and what happens next</a:t>
            </a:r>
            <a:endParaRPr lang="en-US" sz="125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E8F8F1"/>
          </a:solidFill>
          <a:ln w="8890">
            <a:solidFill>
              <a:srgbClr val="0B8F67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58952" y="15544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B8F67"/>
                </a:solidFill>
              </a:rPr>
              <a:t>What Went Well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2880360" cy="31089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>
                <a:solidFill>
                  <a:srgbClr val="1B2B42"/>
                </a:solidFill>
              </a:rPr>
              <a:t>Agreed on a capstone topic</a:t>
            </a:r>
            <a:endParaRPr lang="en-US" sz="1250"/>
          </a:p>
          <a:p>
            <a:pPr marL="158750" indent="-158750">
              <a:buSzPct val="100000"/>
              <a:buChar char="•"/>
            </a:pPr>
            <a:r>
              <a:rPr lang="en-US" sz="1250">
                <a:solidFill>
                  <a:srgbClr val="1B2B42"/>
                </a:solidFill>
              </a:rPr>
              <a:t>Defined the product direction</a:t>
            </a:r>
            <a:endParaRPr lang="en-US" sz="1250"/>
          </a:p>
          <a:p>
            <a:pPr marL="158750" indent="-158750">
              <a:buSzPct val="100000"/>
              <a:buChar char="•"/>
            </a:pPr>
            <a:r>
              <a:rPr lang="en-US" sz="1250">
                <a:solidFill>
                  <a:srgbClr val="1B2B42"/>
                </a:solidFill>
              </a:rPr>
              <a:t>Assigned Scrum and technical roles</a:t>
            </a:r>
            <a:endParaRPr lang="en-US" sz="1250"/>
          </a:p>
          <a:p>
            <a:pPr marL="158750" indent="-158750">
              <a:buSzPct val="100000"/>
              <a:buChar char="•"/>
            </a:pPr>
            <a:r>
              <a:rPr lang="en-US" sz="1250">
                <a:solidFill>
                  <a:srgbClr val="1B2B42"/>
                </a:solidFill>
              </a:rPr>
              <a:t>Identified three primary personas</a:t>
            </a:r>
            <a:endParaRPr lang="en-US" sz="1250"/>
          </a:p>
          <a:p>
            <a:pPr marL="158750" indent="-158750">
              <a:buSzPct val="100000"/>
              <a:buChar char="•"/>
            </a:pPr>
            <a:r>
              <a:rPr lang="en-US" sz="1250">
                <a:solidFill>
                  <a:srgbClr val="1B2B42"/>
                </a:solidFill>
              </a:rPr>
              <a:t>Established preliminary MVP and architecture</a:t>
            </a:r>
            <a:endParaRPr lang="en-US" sz="1250"/>
          </a:p>
        </p:txBody>
      </p:sp>
      <p:sp>
        <p:nvSpPr>
          <p:cNvPr id="7" name="Shape 5"/>
          <p:cNvSpPr/>
          <p:nvPr/>
        </p:nvSpPr>
        <p:spPr>
          <a:xfrm>
            <a:off x="4325112" y="123444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FFF1E3"/>
          </a:solidFill>
          <a:ln w="8890">
            <a:solidFill>
              <a:srgbClr val="D98032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81144" y="15544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D98032"/>
                </a:solidFill>
              </a:rPr>
              <a:t>What to Improve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4599432" y="2148840"/>
            <a:ext cx="2880360" cy="31089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>
                <a:solidFill>
                  <a:srgbClr val="1B2B42"/>
                </a:solidFill>
              </a:rPr>
              <a:t>Finalize detailed user stories and acceptance criteria</a:t>
            </a:r>
            <a:endParaRPr lang="en-US" sz="1250"/>
          </a:p>
          <a:p>
            <a:pPr marL="158750" indent="-158750">
              <a:buSzPct val="100000"/>
              <a:buChar char="•"/>
            </a:pPr>
            <a:r>
              <a:rPr lang="en-US" sz="1250">
                <a:solidFill>
                  <a:srgbClr val="1B2B42"/>
                </a:solidFill>
              </a:rPr>
              <a:t>Confirm data source / simulated dataset strategy</a:t>
            </a:r>
            <a:endParaRPr lang="en-US" sz="1250"/>
          </a:p>
          <a:p>
            <a:pPr marL="158750" indent="-158750">
              <a:buSzPct val="100000"/>
              <a:buChar char="•"/>
            </a:pPr>
            <a:r>
              <a:rPr lang="en-US" sz="1250">
                <a:solidFill>
                  <a:srgbClr val="1B2B42"/>
                </a:solidFill>
              </a:rPr>
              <a:t>Finalize UI wireframes</a:t>
            </a:r>
            <a:endParaRPr lang="en-US" sz="1250"/>
          </a:p>
          <a:p>
            <a:pPr marL="158750" indent="-158750">
              <a:buSzPct val="100000"/>
              <a:buChar char="•"/>
            </a:pPr>
            <a:r>
              <a:rPr lang="en-US" sz="1250">
                <a:solidFill>
                  <a:srgbClr val="1B2B42"/>
                </a:solidFill>
              </a:rPr>
              <a:t>Agree on deployment environment</a:t>
            </a:r>
            <a:endParaRPr lang="en-US" sz="1250"/>
          </a:p>
          <a:p>
            <a:pPr marL="158750" indent="-158750">
              <a:buSzPct val="100000"/>
              <a:buChar char="•"/>
            </a:pPr>
            <a:r>
              <a:rPr lang="en-US" sz="1250">
                <a:solidFill>
                  <a:srgbClr val="1B2B42"/>
                </a:solidFill>
              </a:rPr>
              <a:t>Refine AI scope to remain achievable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8147304" y="1234440"/>
            <a:ext cx="3520440" cy="4526280"/>
          </a:xfrm>
          <a:prstGeom prst="roundRect">
            <a:avLst>
              <a:gd name="adj" fmla="val 3117"/>
            </a:avLst>
          </a:prstGeom>
          <a:solidFill>
            <a:srgbClr val="EAF2FF"/>
          </a:solidFill>
          <a:ln w="8890">
            <a:solidFill>
              <a:srgbClr val="2569B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03336" y="1554480"/>
            <a:ext cx="2971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2569B8"/>
                </a:solidFill>
              </a:rPr>
              <a:t>Next Actions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8421624" y="2148840"/>
            <a:ext cx="2880360" cy="310896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158750" indent="-158750">
              <a:buSzPct val="100000"/>
              <a:buChar char="•"/>
            </a:pPr>
            <a:r>
              <a:rPr lang="en-US" sz="1250">
                <a:solidFill>
                  <a:srgbClr val="1B2B42"/>
                </a:solidFill>
              </a:rPr>
              <a:t>Complete product backlog</a:t>
            </a:r>
            <a:endParaRPr lang="en-US" sz="1250"/>
          </a:p>
          <a:p>
            <a:pPr marL="158750" indent="-158750">
              <a:buSzPct val="100000"/>
              <a:buChar char="•"/>
            </a:pPr>
            <a:r>
              <a:rPr lang="en-US" sz="1250">
                <a:solidFill>
                  <a:srgbClr val="1B2B42"/>
                </a:solidFill>
              </a:rPr>
              <a:t>Finalize ERD and API contracts</a:t>
            </a:r>
            <a:endParaRPr lang="en-US" sz="1250"/>
          </a:p>
          <a:p>
            <a:pPr marL="158750" indent="-158750">
              <a:buSzPct val="100000"/>
              <a:buChar char="•"/>
            </a:pPr>
            <a:r>
              <a:rPr lang="en-US" sz="1250">
                <a:solidFill>
                  <a:srgbClr val="1B2B42"/>
                </a:solidFill>
              </a:rPr>
              <a:t>Create initial UI wireframes</a:t>
            </a:r>
            <a:endParaRPr lang="en-US" sz="1250"/>
          </a:p>
          <a:p>
            <a:pPr marL="158750" indent="-158750">
              <a:buSzPct val="100000"/>
              <a:buChar char="•"/>
            </a:pPr>
            <a:r>
              <a:rPr lang="en-US" sz="1250">
                <a:solidFill>
                  <a:srgbClr val="1B2B42"/>
                </a:solidFill>
              </a:rPr>
              <a:t>Set up repository and branch strategy</a:t>
            </a:r>
            <a:endParaRPr lang="en-US" sz="1250"/>
          </a:p>
          <a:p>
            <a:pPr marL="158750" indent="-158750">
              <a:buSzPct val="100000"/>
              <a:buChar char="•"/>
            </a:pPr>
            <a:r>
              <a:rPr lang="en-US" sz="1250">
                <a:solidFill>
                  <a:srgbClr val="1B2B42"/>
                </a:solidFill>
              </a:rPr>
              <a:t>Prepare Sprint 1 backlog</a:t>
            </a:r>
            <a:endParaRPr lang="en-US" sz="1250"/>
          </a:p>
          <a:p>
            <a:pPr marL="158750" indent="-158750">
              <a:buSzPct val="100000"/>
              <a:buChar char="•"/>
            </a:pPr>
            <a:r>
              <a:rPr lang="en-US" sz="1250">
                <a:solidFill>
                  <a:srgbClr val="1B2B42"/>
                </a:solidFill>
              </a:rPr>
              <a:t>Begin core platform implementation</a:t>
            </a:r>
            <a:endParaRPr lang="en-US" sz="12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611112"/>
            <a:ext cx="320040" cy="164592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rgbClr val="29425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47472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45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Sprint 1 Planning — Core Advisement Platform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38912" y="749808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1809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the first functional student/advisor experience on top of the Sprint 0 foundation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1115568"/>
            <a:ext cx="10972800" cy="621792"/>
          </a:xfrm>
          <a:prstGeom prst="roundRect">
            <a:avLst>
              <a:gd name="adj" fmla="val 10294"/>
            </a:avLst>
          </a:prstGeom>
          <a:solidFill>
            <a:srgbClr val="E7F7F1"/>
          </a:solidFill>
          <a:ln w="12700">
            <a:solidFill>
              <a:srgbClr val="A7DD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" y="1261872"/>
            <a:ext cx="256032" cy="256032"/>
          </a:xfrm>
          <a:prstGeom prst="ellipse">
            <a:avLst/>
          </a:prstGeom>
          <a:solidFill>
            <a:srgbClr val="0B9B78"/>
          </a:solidFill>
          <a:ln w="12700">
            <a:solidFill>
              <a:srgbClr val="0B9B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307592"/>
            <a:ext cx="2560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FFFFFF"/>
                </a:solidFill>
              </a:rPr>
              <a:t>1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1078992" y="1225296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454"/>
                </a:solidFill>
              </a:rPr>
              <a:t>Sprint Goal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76272" y="1188720"/>
            <a:ext cx="8915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243B53"/>
                </a:solidFill>
              </a:rPr>
              <a:t>Deliver a working core platform where students and advisors can sign in, view essential academic information, and navigate initial dashboards.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530352" y="19659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454"/>
                </a:solidFill>
              </a:rPr>
              <a:t>Sprint 1 Backlog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450592" y="20116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718096"/>
                </a:solidFill>
              </a:rPr>
              <a:t>Prioritized work for the sprint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30352" y="2377440"/>
            <a:ext cx="2395728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76656" y="2532888"/>
            <a:ext cx="384048" cy="384048"/>
          </a:xfrm>
          <a:prstGeom prst="ellipse">
            <a:avLst/>
          </a:prstGeom>
          <a:solidFill>
            <a:srgbClr val="0B9B78"/>
          </a:solidFill>
          <a:ln w="12700">
            <a:solidFill>
              <a:srgbClr val="0B9B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76656" y="265176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</a:rPr>
              <a:t>AUTH</a:t>
            </a:r>
            <a:endParaRPr lang="en-US" sz="480" dirty="0"/>
          </a:p>
        </p:txBody>
      </p:sp>
      <p:sp>
        <p:nvSpPr>
          <p:cNvPr id="14" name="Text 12"/>
          <p:cNvSpPr/>
          <p:nvPr/>
        </p:nvSpPr>
        <p:spPr>
          <a:xfrm>
            <a:off x="1152144" y="25146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73454"/>
                </a:solidFill>
              </a:rPr>
              <a:t>Authentication &amp; Roles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94944" y="2980944"/>
            <a:ext cx="2057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10" dirty="0">
                <a:solidFill>
                  <a:srgbClr val="718096"/>
                </a:solidFill>
              </a:rPr>
              <a:t>Student, advisor and admin sign-in with role-based access.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3337560" y="2377440"/>
            <a:ext cx="2395728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483864" y="2532888"/>
            <a:ext cx="384048" cy="384048"/>
          </a:xfrm>
          <a:prstGeom prst="ellipse">
            <a:avLst/>
          </a:prstGeom>
          <a:solidFill>
            <a:srgbClr val="2D72C7"/>
          </a:solidFill>
          <a:ln w="12700">
            <a:solidFill>
              <a:srgbClr val="2D72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83864" y="265176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</a:rPr>
              <a:t>DATA</a:t>
            </a:r>
            <a:endParaRPr lang="en-US" sz="480" dirty="0"/>
          </a:p>
        </p:txBody>
      </p:sp>
      <p:sp>
        <p:nvSpPr>
          <p:cNvPr id="19" name="Text 17"/>
          <p:cNvSpPr/>
          <p:nvPr/>
        </p:nvSpPr>
        <p:spPr>
          <a:xfrm>
            <a:off x="3959352" y="25146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73454"/>
                </a:solidFill>
              </a:rPr>
              <a:t>Academic Data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3502152" y="2980944"/>
            <a:ext cx="2057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10" dirty="0">
                <a:solidFill>
                  <a:srgbClr val="718096"/>
                </a:solidFill>
              </a:rPr>
              <a:t>Create core academic profile structure for courses, grades and attendance.</a:t>
            </a:r>
            <a:endParaRPr lang="en-US" sz="710" dirty="0"/>
          </a:p>
        </p:txBody>
      </p:sp>
      <p:sp>
        <p:nvSpPr>
          <p:cNvPr id="21" name="Shape 19"/>
          <p:cNvSpPr/>
          <p:nvPr/>
        </p:nvSpPr>
        <p:spPr>
          <a:xfrm>
            <a:off x="6144768" y="2377440"/>
            <a:ext cx="2395728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291072" y="2532888"/>
            <a:ext cx="384048" cy="384048"/>
          </a:xfrm>
          <a:prstGeom prst="ellipse">
            <a:avLst/>
          </a:prstGeom>
          <a:solidFill>
            <a:srgbClr val="6B4AB8"/>
          </a:solidFill>
          <a:ln w="12700">
            <a:solidFill>
              <a:srgbClr val="6B4A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291072" y="265176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</a:rPr>
              <a:t>API</a:t>
            </a:r>
            <a:endParaRPr lang="en-US" sz="480" dirty="0"/>
          </a:p>
        </p:txBody>
      </p:sp>
      <p:sp>
        <p:nvSpPr>
          <p:cNvPr id="24" name="Text 22"/>
          <p:cNvSpPr/>
          <p:nvPr/>
        </p:nvSpPr>
        <p:spPr>
          <a:xfrm>
            <a:off x="6766560" y="25146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73454"/>
                </a:solidFill>
              </a:rPr>
              <a:t>Backend APIs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6309360" y="2980944"/>
            <a:ext cx="2057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10" dirty="0">
                <a:solidFill>
                  <a:srgbClr val="718096"/>
                </a:solidFill>
              </a:rPr>
              <a:t>Implement core services that connect academic data to the user experience.</a:t>
            </a:r>
            <a:endParaRPr lang="en-US" sz="710" dirty="0"/>
          </a:p>
        </p:txBody>
      </p:sp>
      <p:sp>
        <p:nvSpPr>
          <p:cNvPr id="26" name="Shape 24"/>
          <p:cNvSpPr/>
          <p:nvPr/>
        </p:nvSpPr>
        <p:spPr>
          <a:xfrm>
            <a:off x="8951976" y="2377440"/>
            <a:ext cx="2395728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9098280" y="2532888"/>
            <a:ext cx="384048" cy="384048"/>
          </a:xfrm>
          <a:prstGeom prst="ellipse">
            <a:avLst/>
          </a:prstGeom>
          <a:solidFill>
            <a:srgbClr val="E4872A"/>
          </a:solidFill>
          <a:ln w="12700">
            <a:solidFill>
              <a:srgbClr val="E48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098280" y="265176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</a:rPr>
              <a:t>UI</a:t>
            </a:r>
            <a:endParaRPr lang="en-US" sz="480" dirty="0"/>
          </a:p>
        </p:txBody>
      </p:sp>
      <p:sp>
        <p:nvSpPr>
          <p:cNvPr id="29" name="Text 27"/>
          <p:cNvSpPr/>
          <p:nvPr/>
        </p:nvSpPr>
        <p:spPr>
          <a:xfrm>
            <a:off x="9573768" y="251460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73454"/>
                </a:solidFill>
              </a:rPr>
              <a:t>UI/UX Wireframes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9116568" y="2980944"/>
            <a:ext cx="2057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10" dirty="0">
                <a:solidFill>
                  <a:srgbClr val="718096"/>
                </a:solidFill>
              </a:rPr>
              <a:t>Design the first user flows and dashboard wireframes for key roles.</a:t>
            </a:r>
            <a:endParaRPr lang="en-US" sz="710" dirty="0"/>
          </a:p>
        </p:txBody>
      </p:sp>
      <p:sp>
        <p:nvSpPr>
          <p:cNvPr id="31" name="Shape 29"/>
          <p:cNvSpPr/>
          <p:nvPr/>
        </p:nvSpPr>
        <p:spPr>
          <a:xfrm>
            <a:off x="530352" y="3840480"/>
            <a:ext cx="2395728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76656" y="3995928"/>
            <a:ext cx="384048" cy="384048"/>
          </a:xfrm>
          <a:prstGeom prst="ellipse">
            <a:avLst/>
          </a:prstGeom>
          <a:solidFill>
            <a:srgbClr val="2D72C7"/>
          </a:solidFill>
          <a:ln w="12700">
            <a:solidFill>
              <a:srgbClr val="2D72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76656" y="41148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</a:rPr>
              <a:t>STU</a:t>
            </a:r>
            <a:endParaRPr lang="en-US" sz="480" dirty="0"/>
          </a:p>
        </p:txBody>
      </p:sp>
      <p:sp>
        <p:nvSpPr>
          <p:cNvPr id="34" name="Text 32"/>
          <p:cNvSpPr/>
          <p:nvPr/>
        </p:nvSpPr>
        <p:spPr>
          <a:xfrm>
            <a:off x="1152144" y="3977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73454"/>
                </a:solidFill>
              </a:rPr>
              <a:t>Student Dashboard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694944" y="4443984"/>
            <a:ext cx="2057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10" dirty="0">
                <a:solidFill>
                  <a:srgbClr val="718096"/>
                </a:solidFill>
              </a:rPr>
              <a:t>Show progress, academic status and personalized support information.</a:t>
            </a:r>
            <a:endParaRPr lang="en-US" sz="710" dirty="0"/>
          </a:p>
        </p:txBody>
      </p:sp>
      <p:sp>
        <p:nvSpPr>
          <p:cNvPr id="36" name="Shape 34"/>
          <p:cNvSpPr/>
          <p:nvPr/>
        </p:nvSpPr>
        <p:spPr>
          <a:xfrm>
            <a:off x="3337560" y="3840480"/>
            <a:ext cx="2395728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483864" y="3995928"/>
            <a:ext cx="384048" cy="384048"/>
          </a:xfrm>
          <a:prstGeom prst="ellipse">
            <a:avLst/>
          </a:prstGeom>
          <a:solidFill>
            <a:srgbClr val="0B9B78"/>
          </a:solidFill>
          <a:ln w="12700">
            <a:solidFill>
              <a:srgbClr val="0B9B7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483864" y="41148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</a:rPr>
              <a:t>ADV</a:t>
            </a:r>
            <a:endParaRPr lang="en-US" sz="480" dirty="0"/>
          </a:p>
        </p:txBody>
      </p:sp>
      <p:sp>
        <p:nvSpPr>
          <p:cNvPr id="39" name="Text 37"/>
          <p:cNvSpPr/>
          <p:nvPr/>
        </p:nvSpPr>
        <p:spPr>
          <a:xfrm>
            <a:off x="3959352" y="3977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73454"/>
                </a:solidFill>
              </a:rPr>
              <a:t>Advisor Dashboard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3502152" y="4443984"/>
            <a:ext cx="2057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10" dirty="0">
                <a:solidFill>
                  <a:srgbClr val="718096"/>
                </a:solidFill>
              </a:rPr>
              <a:t>Surface students needing attention, explanations and intervention context.</a:t>
            </a:r>
            <a:endParaRPr lang="en-US" sz="710" dirty="0"/>
          </a:p>
        </p:txBody>
      </p:sp>
      <p:sp>
        <p:nvSpPr>
          <p:cNvPr id="41" name="Shape 39"/>
          <p:cNvSpPr/>
          <p:nvPr/>
        </p:nvSpPr>
        <p:spPr>
          <a:xfrm>
            <a:off x="6144768" y="3840480"/>
            <a:ext cx="2395728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291072" y="3995928"/>
            <a:ext cx="384048" cy="384048"/>
          </a:xfrm>
          <a:prstGeom prst="ellipse">
            <a:avLst/>
          </a:prstGeom>
          <a:solidFill>
            <a:srgbClr val="6B4AB8"/>
          </a:solidFill>
          <a:ln w="12700">
            <a:solidFill>
              <a:srgbClr val="6B4A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291072" y="41148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</a:rPr>
              <a:t>INT</a:t>
            </a:r>
            <a:endParaRPr lang="en-US" sz="480" dirty="0"/>
          </a:p>
        </p:txBody>
      </p:sp>
      <p:sp>
        <p:nvSpPr>
          <p:cNvPr id="44" name="Text 42"/>
          <p:cNvSpPr/>
          <p:nvPr/>
        </p:nvSpPr>
        <p:spPr>
          <a:xfrm>
            <a:off x="6766560" y="3977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73454"/>
                </a:solidFill>
              </a:rPr>
              <a:t>Frontend–Backend Integration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6309360" y="4443984"/>
            <a:ext cx="2057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10" dirty="0">
                <a:solidFill>
                  <a:srgbClr val="718096"/>
                </a:solidFill>
              </a:rPr>
              <a:t>Connect dashboard components with APIs and shared data models.</a:t>
            </a:r>
            <a:endParaRPr lang="en-US" sz="710" dirty="0"/>
          </a:p>
        </p:txBody>
      </p:sp>
      <p:sp>
        <p:nvSpPr>
          <p:cNvPr id="46" name="Shape 44"/>
          <p:cNvSpPr/>
          <p:nvPr/>
        </p:nvSpPr>
        <p:spPr>
          <a:xfrm>
            <a:off x="8951976" y="3840480"/>
            <a:ext cx="2395728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9098280" y="3995928"/>
            <a:ext cx="384048" cy="384048"/>
          </a:xfrm>
          <a:prstGeom prst="ellipse">
            <a:avLst/>
          </a:prstGeom>
          <a:solidFill>
            <a:srgbClr val="E4872A"/>
          </a:solidFill>
          <a:ln w="12700">
            <a:solidFill>
              <a:srgbClr val="E48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9098280" y="4114800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</a:rPr>
              <a:t>TEST</a:t>
            </a:r>
            <a:endParaRPr lang="en-US" sz="480" dirty="0"/>
          </a:p>
        </p:txBody>
      </p:sp>
      <p:sp>
        <p:nvSpPr>
          <p:cNvPr id="49" name="Text 47"/>
          <p:cNvSpPr/>
          <p:nvPr/>
        </p:nvSpPr>
        <p:spPr>
          <a:xfrm>
            <a:off x="9573768" y="3977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73454"/>
                </a:solidFill>
              </a:rPr>
              <a:t>Basic Testing</a:t>
            </a:r>
            <a:endParaRPr lang="en-US" sz="930" dirty="0"/>
          </a:p>
        </p:txBody>
      </p:sp>
      <p:sp>
        <p:nvSpPr>
          <p:cNvPr id="50" name="Text 48"/>
          <p:cNvSpPr/>
          <p:nvPr/>
        </p:nvSpPr>
        <p:spPr>
          <a:xfrm>
            <a:off x="9116568" y="4443984"/>
            <a:ext cx="2057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710" dirty="0">
                <a:solidFill>
                  <a:srgbClr val="718096"/>
                </a:solidFill>
              </a:rPr>
              <a:t>Validate integration, usability and critical user flows before review.</a:t>
            </a:r>
            <a:endParaRPr lang="en-US" sz="710" dirty="0"/>
          </a:p>
        </p:txBody>
      </p:sp>
      <p:sp>
        <p:nvSpPr>
          <p:cNvPr id="51" name="Shape 49"/>
          <p:cNvSpPr/>
          <p:nvPr/>
        </p:nvSpPr>
        <p:spPr>
          <a:xfrm>
            <a:off x="530352" y="5358384"/>
            <a:ext cx="10817352" cy="713232"/>
          </a:xfrm>
          <a:prstGeom prst="roundRect">
            <a:avLst>
              <a:gd name="adj" fmla="val 6410"/>
            </a:avLst>
          </a:prstGeom>
          <a:solidFill>
            <a:srgbClr val="F1F6FB"/>
          </a:solidFill>
          <a:ln w="12700">
            <a:solidFill>
              <a:srgbClr val="C7D8E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49808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3454"/>
                </a:solidFill>
              </a:rPr>
              <a:t>Expected Sprint Outcome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816352" y="5477256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E7F7F1"/>
          </a:solidFill>
          <a:ln w="12700">
            <a:solidFill>
              <a:srgbClr val="E7F7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2889504" y="5527548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B9B78"/>
                </a:solidFill>
              </a:rPr>
              <a:t>Sign-in works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4096512" y="5477256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E9F2FD"/>
          </a:solidFill>
          <a:ln w="12700">
            <a:solidFill>
              <a:srgbClr val="E9F2F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169664" y="5527548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2D72C7"/>
                </a:solidFill>
              </a:rPr>
              <a:t>Academic profile ready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5742432" y="5477256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F2EEFB"/>
          </a:solidFill>
          <a:ln w="12700">
            <a:solidFill>
              <a:srgbClr val="F2EEF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815584" y="5527548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6B4AB8"/>
                </a:solidFill>
              </a:rPr>
              <a:t>Dashboards visible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7388352" y="5477256"/>
            <a:ext cx="1600200" cy="292608"/>
          </a:xfrm>
          <a:prstGeom prst="roundRect">
            <a:avLst>
              <a:gd name="adj" fmla="val 18750"/>
            </a:avLst>
          </a:prstGeom>
          <a:solidFill>
            <a:srgbClr val="FFF1E4"/>
          </a:solidFill>
          <a:ln w="12700">
            <a:solidFill>
              <a:srgbClr val="FFF1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461504" y="5527548"/>
            <a:ext cx="1453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E4872A"/>
                </a:solidFill>
              </a:rPr>
              <a:t>Core APIs connected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9125712" y="5477256"/>
            <a:ext cx="1508760" cy="292608"/>
          </a:xfrm>
          <a:prstGeom prst="roundRect">
            <a:avLst>
              <a:gd name="adj" fmla="val 18750"/>
            </a:avLst>
          </a:prstGeom>
          <a:solidFill>
            <a:srgbClr val="E7F7F1"/>
          </a:solidFill>
          <a:ln w="12700">
            <a:solidFill>
              <a:srgbClr val="E7F7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9198864" y="5527548"/>
            <a:ext cx="1362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0B9B78"/>
                </a:solidFill>
              </a:rPr>
              <a:t>Key flows tested</a:t>
            </a:r>
            <a:endParaRPr lang="en-US" sz="720" dirty="0"/>
          </a:p>
        </p:txBody>
      </p:sp>
      <p:sp>
        <p:nvSpPr>
          <p:cNvPr id="6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65392"/>
            <a:ext cx="201168" cy="12801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540">
                <a:solidFill>
                  <a:srgbClr val="6B778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850"/>
    </mc:Choice>
    <mc:Fallback xmlns="">
      <p:transition spd="slow" advTm="3985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8F67"/>
          </a:solidFill>
          <a:ln w="12700">
            <a:solidFill>
              <a:srgbClr val="0B8F6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188720" y="2148840"/>
            <a:ext cx="9784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>
                <a:solidFill>
                  <a:srgbClr val="FFFFFF"/>
                </a:solidFill>
              </a:rPr>
              <a:t>THANK YOU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1828800" y="2971800"/>
            <a:ext cx="85039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BEE9D9"/>
                </a:solidFill>
              </a:rPr>
              <a:t>AI-Powered Personalized Academic Advisement System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3886200" y="379476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694"/>
    </mc:Choice>
    <mc:Fallback xmlns="">
      <p:transition spd="slow" advTm="15694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2,&quot;left&quot;:46.8,&quot;top&quot;:97.2,&quot;width&quot;:860.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2,&quot;left&quot;:46.8,&quot;top&quot;:97.2,&quot;width&quot;:860.4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2,&quot;left&quot;:46.8,&quot;top&quot;:97.2,&quot;width&quot;:860.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2,&quot;left&quot;:46.8,&quot;top&quot;:97.2,&quot;width&quot;:860.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2,&quot;left&quot;:46.8,&quot;top&quot;:97.2,&quot;width&quot;:860.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7.2,&quot;left&quot;:46.8,&quot;top&quot;:97.2,&quot;width&quot;:860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13E3AFB01CA8409F02D36E2146A942" ma:contentTypeVersion="1" ma:contentTypeDescription="Create a new document." ma:contentTypeScope="" ma:versionID="a2a956af9ca83becec116bca5d8ac55f">
  <xsd:schema xmlns:xsd="http://www.w3.org/2001/XMLSchema" xmlns:xs="http://www.w3.org/2001/XMLSchema" xmlns:p="http://schemas.microsoft.com/office/2006/metadata/properties" xmlns:ns3="d9f36c8b-d0a4-46ec-b424-bbf497752d02" targetNamespace="http://schemas.microsoft.com/office/2006/metadata/properties" ma:root="true" ma:fieldsID="81d829be2af5e1ff7322677694cc5600" ns3:_="">
    <xsd:import namespace="d9f36c8b-d0a4-46ec-b424-bbf497752d0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f36c8b-d0a4-46ec-b424-bbf497752d0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A360DD2-9930-4FAB-B877-75E8D578753E}">
  <ds:schemaRefs/>
</ds:datastoreItem>
</file>

<file path=customXml/itemProps2.xml><?xml version="1.0" encoding="utf-8"?>
<ds:datastoreItem xmlns:ds="http://schemas.openxmlformats.org/officeDocument/2006/customXml" ds:itemID="{E823FE9B-3B4F-4B02-8939-B271E5BAF980}">
  <ds:schemaRefs/>
</ds:datastoreItem>
</file>

<file path=customXml/itemProps3.xml><?xml version="1.0" encoding="utf-8"?>
<ds:datastoreItem xmlns:ds="http://schemas.openxmlformats.org/officeDocument/2006/customXml" ds:itemID="{08CDF36F-3D18-4671-BE55-2ADDB25900B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1231</Words>
  <Application>Microsoft Office PowerPoint</Application>
  <PresentationFormat>Widescreen</PresentationFormat>
  <Paragraphs>321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Carlito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Capstone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Personalized Academic Advisement System — Sprint 0</dc:title>
  <dc:subject>Sprint 0</dc:subject>
  <dc:creator>OpenAI</dc:creator>
  <cp:lastModifiedBy>Pranali Dukhande</cp:lastModifiedBy>
  <cp:revision>18</cp:revision>
  <dcterms:created xsi:type="dcterms:W3CDTF">2026-09-20T14:38:00Z</dcterms:created>
  <dcterms:modified xsi:type="dcterms:W3CDTF">2026-09-30T00:33:26Z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0x0101000913E3AFB01CA8409F02D36E2146A942</vt:lpwstr>
  </property>
  <property fmtid="{D5CDD505-2E9C-101B-9397-08002B2CF9AE}" pid="3" name="KSOProductBuildVer">
    <vt:lpwstr>2052-12.1.0.28505</vt:lpwstr>
  </property>
  <property fmtid="{D5CDD505-2E9C-101B-9397-08002B2CF9AE}" pid="4" name="ICV">
    <vt:lpwstr>DE3E6BB7D82A4055B9AFF217CB0CAAE1_12</vt:lpwstr>
  </property>
</Properties>
</file>