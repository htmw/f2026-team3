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2" r:id="rId5"/>
    <p:sldId id="274" r:id="rId6"/>
    <p:sldId id="259" r:id="rId7"/>
    <p:sldId id="260" r:id="rId8"/>
    <p:sldId id="275" r:id="rId9"/>
    <p:sldId id="276" r:id="rId10"/>
    <p:sldId id="277" r:id="rId11"/>
    <p:sldId id="278" r:id="rId12"/>
    <p:sldId id="279" r:id="rId13"/>
    <p:sldId id="280" r:id="rId14"/>
    <p:sldId id="261" r:id="rId15"/>
    <p:sldId id="262" r:id="rId16"/>
    <p:sldId id="263" r:id="rId17"/>
    <p:sldId id="264" r:id="rId18"/>
    <p:sldId id="265" r:id="rId19"/>
    <p:sldId id="273" r:id="rId20"/>
    <p:sldId id="266" r:id="rId21"/>
    <p:sldId id="267" r:id="rId22"/>
    <p:sldId id="268" r:id="rId23"/>
    <p:sldId id="269" r:id="rId24"/>
    <p:sldId id="27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li Dukhande" userId="0ae46a4f0aa76adb" providerId="LiveId" clId="{DA6FBA60-F893-443A-AEE5-71C6A73E4BD7}"/>
    <pc:docChg chg="undo custSel addSld modSld modShowInfo">
      <pc:chgData name="Pranali Dukhande" userId="0ae46a4f0aa76adb" providerId="LiveId" clId="{DA6FBA60-F893-443A-AEE5-71C6A73E4BD7}" dt="2026-10-20T22:15:16.580" v="134" actId="1035"/>
      <pc:docMkLst>
        <pc:docMk/>
      </pc:docMkLst>
      <pc:sldChg chg="modSp mod">
        <pc:chgData name="Pranali Dukhande" userId="0ae46a4f0aa76adb" providerId="LiveId" clId="{DA6FBA60-F893-443A-AEE5-71C6A73E4BD7}" dt="2026-10-19T09:52:46.644" v="89" actId="20577"/>
        <pc:sldMkLst>
          <pc:docMk/>
          <pc:sldMk cId="0" sldId="261"/>
        </pc:sldMkLst>
        <pc:spChg chg="mod">
          <ac:chgData name="Pranali Dukhande" userId="0ae46a4f0aa76adb" providerId="LiveId" clId="{DA6FBA60-F893-443A-AEE5-71C6A73E4BD7}" dt="2026-10-19T09:52:46.644" v="89" actId="20577"/>
          <ac:spMkLst>
            <pc:docMk/>
            <pc:sldMk cId="0" sldId="261"/>
            <ac:spMk id="8" creationId="{00000000-0000-0000-0000-000000000000}"/>
          </ac:spMkLst>
        </pc:spChg>
      </pc:sldChg>
      <pc:sldChg chg="modSp mod">
        <pc:chgData name="Pranali Dukhande" userId="0ae46a4f0aa76adb" providerId="LiveId" clId="{DA6FBA60-F893-443A-AEE5-71C6A73E4BD7}" dt="2026-10-19T09:52:51.492" v="91" actId="20577"/>
        <pc:sldMkLst>
          <pc:docMk/>
          <pc:sldMk cId="0" sldId="262"/>
        </pc:sldMkLst>
        <pc:spChg chg="mod">
          <ac:chgData name="Pranali Dukhande" userId="0ae46a4f0aa76adb" providerId="LiveId" clId="{DA6FBA60-F893-443A-AEE5-71C6A73E4BD7}" dt="2026-10-19T09:52:51.492" v="91" actId="20577"/>
          <ac:spMkLst>
            <pc:docMk/>
            <pc:sldMk cId="0" sldId="262"/>
            <ac:spMk id="8" creationId="{00000000-0000-0000-0000-000000000000}"/>
          </ac:spMkLst>
        </pc:spChg>
      </pc:sldChg>
      <pc:sldChg chg="modSp mod">
        <pc:chgData name="Pranali Dukhande" userId="0ae46a4f0aa76adb" providerId="LiveId" clId="{DA6FBA60-F893-443A-AEE5-71C6A73E4BD7}" dt="2026-10-19T09:52:59.108" v="93" actId="20577"/>
        <pc:sldMkLst>
          <pc:docMk/>
          <pc:sldMk cId="0" sldId="263"/>
        </pc:sldMkLst>
        <pc:spChg chg="mod">
          <ac:chgData name="Pranali Dukhande" userId="0ae46a4f0aa76adb" providerId="LiveId" clId="{DA6FBA60-F893-443A-AEE5-71C6A73E4BD7}" dt="2026-10-19T09:52:59.108" v="93" actId="20577"/>
          <ac:spMkLst>
            <pc:docMk/>
            <pc:sldMk cId="0" sldId="263"/>
            <ac:spMk id="8" creationId="{00000000-0000-0000-0000-000000000000}"/>
          </ac:spMkLst>
        </pc:spChg>
      </pc:sldChg>
      <pc:sldChg chg="modSp mod">
        <pc:chgData name="Pranali Dukhande" userId="0ae46a4f0aa76adb" providerId="LiveId" clId="{DA6FBA60-F893-443A-AEE5-71C6A73E4BD7}" dt="2026-10-19T09:53:03.693" v="95" actId="20577"/>
        <pc:sldMkLst>
          <pc:docMk/>
          <pc:sldMk cId="0" sldId="264"/>
        </pc:sldMkLst>
        <pc:spChg chg="mod">
          <ac:chgData name="Pranali Dukhande" userId="0ae46a4f0aa76adb" providerId="LiveId" clId="{DA6FBA60-F893-443A-AEE5-71C6A73E4BD7}" dt="2026-10-19T09:53:03.693" v="95" actId="20577"/>
          <ac:spMkLst>
            <pc:docMk/>
            <pc:sldMk cId="0" sldId="264"/>
            <ac:spMk id="8" creationId="{00000000-0000-0000-0000-000000000000}"/>
          </ac:spMkLst>
        </pc:spChg>
      </pc:sldChg>
      <pc:sldChg chg="modSp mod">
        <pc:chgData name="Pranali Dukhande" userId="0ae46a4f0aa76adb" providerId="LiveId" clId="{DA6FBA60-F893-443A-AEE5-71C6A73E4BD7}" dt="2026-10-19T09:53:09.071" v="97" actId="20577"/>
        <pc:sldMkLst>
          <pc:docMk/>
          <pc:sldMk cId="0" sldId="265"/>
        </pc:sldMkLst>
        <pc:spChg chg="mod">
          <ac:chgData name="Pranali Dukhande" userId="0ae46a4f0aa76adb" providerId="LiveId" clId="{DA6FBA60-F893-443A-AEE5-71C6A73E4BD7}" dt="2026-10-19T09:53:09.071" v="97" actId="20577"/>
          <ac:spMkLst>
            <pc:docMk/>
            <pc:sldMk cId="0" sldId="265"/>
            <ac:spMk id="8" creationId="{00000000-0000-0000-0000-000000000000}"/>
          </ac:spMkLst>
        </pc:spChg>
      </pc:sldChg>
      <pc:sldChg chg="modSp mod">
        <pc:chgData name="Pranali Dukhande" userId="0ae46a4f0aa76adb" providerId="LiveId" clId="{DA6FBA60-F893-443A-AEE5-71C6A73E4BD7}" dt="2026-10-19T09:53:20.102" v="102" actId="20577"/>
        <pc:sldMkLst>
          <pc:docMk/>
          <pc:sldMk cId="0" sldId="266"/>
        </pc:sldMkLst>
        <pc:spChg chg="mod">
          <ac:chgData name="Pranali Dukhande" userId="0ae46a4f0aa76adb" providerId="LiveId" clId="{DA6FBA60-F893-443A-AEE5-71C6A73E4BD7}" dt="2026-10-19T09:53:20.102" v="102" actId="20577"/>
          <ac:spMkLst>
            <pc:docMk/>
            <pc:sldMk cId="0" sldId="266"/>
            <ac:spMk id="8" creationId="{00000000-0000-0000-0000-000000000000}"/>
          </ac:spMkLst>
        </pc:spChg>
      </pc:sldChg>
      <pc:sldChg chg="modSp mod">
        <pc:chgData name="Pranali Dukhande" userId="0ae46a4f0aa76adb" providerId="LiveId" clId="{DA6FBA60-F893-443A-AEE5-71C6A73E4BD7}" dt="2026-10-19T09:54:21.312" v="116" actId="255"/>
        <pc:sldMkLst>
          <pc:docMk/>
          <pc:sldMk cId="0" sldId="267"/>
        </pc:sldMkLst>
        <pc:spChg chg="mod">
          <ac:chgData name="Pranali Dukhande" userId="0ae46a4f0aa76adb" providerId="LiveId" clId="{DA6FBA60-F893-443A-AEE5-71C6A73E4BD7}" dt="2026-10-19T09:53:23.708" v="104" actId="20577"/>
          <ac:spMkLst>
            <pc:docMk/>
            <pc:sldMk cId="0" sldId="267"/>
            <ac:spMk id="8" creationId="{00000000-0000-0000-0000-000000000000}"/>
          </ac:spMkLst>
        </pc:spChg>
        <pc:spChg chg="mod">
          <ac:chgData name="Pranali Dukhande" userId="0ae46a4f0aa76adb" providerId="LiveId" clId="{DA6FBA60-F893-443A-AEE5-71C6A73E4BD7}" dt="2026-10-19T09:54:21.312" v="116" actId="255"/>
          <ac:spMkLst>
            <pc:docMk/>
            <pc:sldMk cId="0" sldId="267"/>
            <ac:spMk id="21" creationId="{00000000-0000-0000-0000-000000000000}"/>
          </ac:spMkLst>
        </pc:spChg>
      </pc:sldChg>
      <pc:sldChg chg="modSp mod">
        <pc:chgData name="Pranali Dukhande" userId="0ae46a4f0aa76adb" providerId="LiveId" clId="{DA6FBA60-F893-443A-AEE5-71C6A73E4BD7}" dt="2026-10-19T09:53:28.003" v="106" actId="20577"/>
        <pc:sldMkLst>
          <pc:docMk/>
          <pc:sldMk cId="0" sldId="268"/>
        </pc:sldMkLst>
        <pc:spChg chg="mod">
          <ac:chgData name="Pranali Dukhande" userId="0ae46a4f0aa76adb" providerId="LiveId" clId="{DA6FBA60-F893-443A-AEE5-71C6A73E4BD7}" dt="2026-10-19T09:53:28.003" v="106" actId="20577"/>
          <ac:spMkLst>
            <pc:docMk/>
            <pc:sldMk cId="0" sldId="268"/>
            <ac:spMk id="8" creationId="{00000000-0000-0000-0000-000000000000}"/>
          </ac:spMkLst>
        </pc:spChg>
      </pc:sldChg>
      <pc:sldChg chg="modSp mod">
        <pc:chgData name="Pranali Dukhande" userId="0ae46a4f0aa76adb" providerId="LiveId" clId="{DA6FBA60-F893-443A-AEE5-71C6A73E4BD7}" dt="2026-10-19T09:53:31.985" v="108" actId="20577"/>
        <pc:sldMkLst>
          <pc:docMk/>
          <pc:sldMk cId="0" sldId="269"/>
        </pc:sldMkLst>
        <pc:spChg chg="mod">
          <ac:chgData name="Pranali Dukhande" userId="0ae46a4f0aa76adb" providerId="LiveId" clId="{DA6FBA60-F893-443A-AEE5-71C6A73E4BD7}" dt="2026-10-19T09:53:31.985" v="108" actId="20577"/>
          <ac:spMkLst>
            <pc:docMk/>
            <pc:sldMk cId="0" sldId="269"/>
            <ac:spMk id="8" creationId="{00000000-0000-0000-0000-000000000000}"/>
          </ac:spMkLst>
        </pc:spChg>
      </pc:sldChg>
      <pc:sldChg chg="modSp mod">
        <pc:chgData name="Pranali Dukhande" userId="0ae46a4f0aa76adb" providerId="LiveId" clId="{DA6FBA60-F893-443A-AEE5-71C6A73E4BD7}" dt="2026-10-19T09:53:35.950" v="110" actId="20577"/>
        <pc:sldMkLst>
          <pc:docMk/>
          <pc:sldMk cId="0" sldId="270"/>
        </pc:sldMkLst>
        <pc:spChg chg="mod">
          <ac:chgData name="Pranali Dukhande" userId="0ae46a4f0aa76adb" providerId="LiveId" clId="{DA6FBA60-F893-443A-AEE5-71C6A73E4BD7}" dt="2026-10-19T09:53:35.950" v="110" actId="20577"/>
          <ac:spMkLst>
            <pc:docMk/>
            <pc:sldMk cId="0" sldId="270"/>
            <ac:spMk id="8" creationId="{00000000-0000-0000-0000-000000000000}"/>
          </ac:spMkLst>
        </pc:spChg>
      </pc:sldChg>
      <pc:sldChg chg="modSp mod">
        <pc:chgData name="Pranali Dukhande" userId="0ae46a4f0aa76adb" providerId="LiveId" clId="{DA6FBA60-F893-443A-AEE5-71C6A73E4BD7}" dt="2026-10-19T09:53:14.997" v="100" actId="1038"/>
        <pc:sldMkLst>
          <pc:docMk/>
          <pc:sldMk cId="3320736158" sldId="273"/>
        </pc:sldMkLst>
        <pc:spChg chg="mod">
          <ac:chgData name="Pranali Dukhande" userId="0ae46a4f0aa76adb" providerId="LiveId" clId="{DA6FBA60-F893-443A-AEE5-71C6A73E4BD7}" dt="2026-10-19T09:53:14.997" v="100" actId="1038"/>
          <ac:spMkLst>
            <pc:docMk/>
            <pc:sldMk cId="3320736158" sldId="273"/>
            <ac:spMk id="6" creationId="{2489956F-29D9-7F16-8EDD-ACFFAC7F96BA}"/>
          </ac:spMkLst>
        </pc:spChg>
        <pc:spChg chg="mod">
          <ac:chgData name="Pranali Dukhande" userId="0ae46a4f0aa76adb" providerId="LiveId" clId="{DA6FBA60-F893-443A-AEE5-71C6A73E4BD7}" dt="2026-10-19T09:53:13.192" v="99" actId="20577"/>
          <ac:spMkLst>
            <pc:docMk/>
            <pc:sldMk cId="3320736158" sldId="273"/>
            <ac:spMk id="8" creationId="{C3F7F254-4627-B147-EAB1-017967275052}"/>
          </ac:spMkLst>
        </pc:spChg>
      </pc:sldChg>
      <pc:sldChg chg="addSp delSp modSp mod">
        <pc:chgData name="Pranali Dukhande" userId="0ae46a4f0aa76adb" providerId="LiveId" clId="{DA6FBA60-F893-443A-AEE5-71C6A73E4BD7}" dt="2026-10-19T09:50:52.298" v="67" actId="20577"/>
        <pc:sldMkLst>
          <pc:docMk/>
          <pc:sldMk cId="3551089223" sldId="275"/>
        </pc:sldMkLst>
        <pc:spChg chg="mod">
          <ac:chgData name="Pranali Dukhande" userId="0ae46a4f0aa76adb" providerId="LiveId" clId="{DA6FBA60-F893-443A-AEE5-71C6A73E4BD7}" dt="2026-10-19T09:50:52.298" v="67" actId="20577"/>
          <ac:spMkLst>
            <pc:docMk/>
            <pc:sldMk cId="3551089223" sldId="275"/>
            <ac:spMk id="8" creationId="{ED255F70-88F5-6F17-5437-DDC449A07AFC}"/>
          </ac:spMkLst>
        </pc:spChg>
        <pc:picChg chg="add mod">
          <ac:chgData name="Pranali Dukhande" userId="0ae46a4f0aa76adb" providerId="LiveId" clId="{DA6FBA60-F893-443A-AEE5-71C6A73E4BD7}" dt="2026-10-19T09:14:15.180" v="3" actId="1076"/>
          <ac:picMkLst>
            <pc:docMk/>
            <pc:sldMk cId="3551089223" sldId="275"/>
            <ac:picMk id="9" creationId="{25A1A005-0AC4-36D8-17AA-D879C3884D02}"/>
          </ac:picMkLst>
        </pc:picChg>
        <pc:picChg chg="del">
          <ac:chgData name="Pranali Dukhande" userId="0ae46a4f0aa76adb" providerId="LiveId" clId="{DA6FBA60-F893-443A-AEE5-71C6A73E4BD7}" dt="2026-10-19T09:14:01.365" v="0" actId="478"/>
          <ac:picMkLst>
            <pc:docMk/>
            <pc:sldMk cId="3551089223" sldId="275"/>
            <ac:picMk id="30" creationId="{50D62640-DBE1-48B7-6D64-C41784BDECAF}"/>
          </ac:picMkLst>
        </pc:picChg>
      </pc:sldChg>
      <pc:sldChg chg="addSp delSp modSp add mod">
        <pc:chgData name="Pranali Dukhande" userId="0ae46a4f0aa76adb" providerId="LiveId" clId="{DA6FBA60-F893-443A-AEE5-71C6A73E4BD7}" dt="2026-10-19T09:52:06.577" v="71" actId="20577"/>
        <pc:sldMkLst>
          <pc:docMk/>
          <pc:sldMk cId="1491962607" sldId="276"/>
        </pc:sldMkLst>
        <pc:spChg chg="mod">
          <ac:chgData name="Pranali Dukhande" userId="0ae46a4f0aa76adb" providerId="LiveId" clId="{DA6FBA60-F893-443A-AEE5-71C6A73E4BD7}" dt="2026-10-19T09:36:06.128" v="17" actId="20577"/>
          <ac:spMkLst>
            <pc:docMk/>
            <pc:sldMk cId="1491962607" sldId="276"/>
            <ac:spMk id="4" creationId="{411D3534-3731-467F-AC5E-0A3B3A2DDA7F}"/>
          </ac:spMkLst>
        </pc:spChg>
        <pc:spChg chg="mod">
          <ac:chgData name="Pranali Dukhande" userId="0ae46a4f0aa76adb" providerId="LiveId" clId="{DA6FBA60-F893-443A-AEE5-71C6A73E4BD7}" dt="2026-10-19T09:52:06.577" v="71" actId="20577"/>
          <ac:spMkLst>
            <pc:docMk/>
            <pc:sldMk cId="1491962607" sldId="276"/>
            <ac:spMk id="8" creationId="{9497096B-200F-CFCB-3FE5-7FD4A2A507E4}"/>
          </ac:spMkLst>
        </pc:spChg>
        <pc:picChg chg="del">
          <ac:chgData name="Pranali Dukhande" userId="0ae46a4f0aa76adb" providerId="LiveId" clId="{DA6FBA60-F893-443A-AEE5-71C6A73E4BD7}" dt="2026-10-19T09:37:43.409" v="32" actId="478"/>
          <ac:picMkLst>
            <pc:docMk/>
            <pc:sldMk cId="1491962607" sldId="276"/>
            <ac:picMk id="9" creationId="{8C3E6EE8-4007-99C6-CF9C-B1B28CF751D0}"/>
          </ac:picMkLst>
        </pc:picChg>
        <pc:picChg chg="add mod">
          <ac:chgData name="Pranali Dukhande" userId="0ae46a4f0aa76adb" providerId="LiveId" clId="{DA6FBA60-F893-443A-AEE5-71C6A73E4BD7}" dt="2026-10-19T09:48:37.044" v="62" actId="1076"/>
          <ac:picMkLst>
            <pc:docMk/>
            <pc:sldMk cId="1491962607" sldId="276"/>
            <ac:picMk id="10" creationId="{8A2B6ACF-B583-D8F5-BAF9-3970DE9AB2D4}"/>
          </ac:picMkLst>
        </pc:picChg>
      </pc:sldChg>
      <pc:sldChg chg="addSp delSp modSp add mod">
        <pc:chgData name="Pranali Dukhande" userId="0ae46a4f0aa76adb" providerId="LiveId" clId="{DA6FBA60-F893-443A-AEE5-71C6A73E4BD7}" dt="2026-10-19T09:52:12.958" v="73" actId="20577"/>
        <pc:sldMkLst>
          <pc:docMk/>
          <pc:sldMk cId="2275271677" sldId="277"/>
        </pc:sldMkLst>
        <pc:spChg chg="mod">
          <ac:chgData name="Pranali Dukhande" userId="0ae46a4f0aa76adb" providerId="LiveId" clId="{DA6FBA60-F893-443A-AEE5-71C6A73E4BD7}" dt="2026-10-19T09:37:35.872" v="31" actId="20577"/>
          <ac:spMkLst>
            <pc:docMk/>
            <pc:sldMk cId="2275271677" sldId="277"/>
            <ac:spMk id="4" creationId="{A0D6BDEC-82E2-1502-11F9-3B4B8F8A2583}"/>
          </ac:spMkLst>
        </pc:spChg>
        <pc:spChg chg="mod">
          <ac:chgData name="Pranali Dukhande" userId="0ae46a4f0aa76adb" providerId="LiveId" clId="{DA6FBA60-F893-443A-AEE5-71C6A73E4BD7}" dt="2026-10-19T09:52:12.958" v="73" actId="20577"/>
          <ac:spMkLst>
            <pc:docMk/>
            <pc:sldMk cId="2275271677" sldId="277"/>
            <ac:spMk id="8" creationId="{312A1764-D3F7-EA3E-CEB7-A43E740D0E52}"/>
          </ac:spMkLst>
        </pc:spChg>
        <pc:picChg chg="del">
          <ac:chgData name="Pranali Dukhande" userId="0ae46a4f0aa76adb" providerId="LiveId" clId="{DA6FBA60-F893-443A-AEE5-71C6A73E4BD7}" dt="2026-10-19T09:37:46.750" v="33" actId="478"/>
          <ac:picMkLst>
            <pc:docMk/>
            <pc:sldMk cId="2275271677" sldId="277"/>
            <ac:picMk id="9" creationId="{E54CA64B-984A-D705-A15E-6422F7882A38}"/>
          </ac:picMkLst>
        </pc:picChg>
        <pc:picChg chg="add mod">
          <ac:chgData name="Pranali Dukhande" userId="0ae46a4f0aa76adb" providerId="LiveId" clId="{DA6FBA60-F893-443A-AEE5-71C6A73E4BD7}" dt="2026-10-19T09:38:12.760" v="36" actId="1076"/>
          <ac:picMkLst>
            <pc:docMk/>
            <pc:sldMk cId="2275271677" sldId="277"/>
            <ac:picMk id="10" creationId="{E48DDE3F-33D8-8DBC-440C-F3B212FA9A57}"/>
          </ac:picMkLst>
        </pc:picChg>
      </pc:sldChg>
      <pc:sldChg chg="addSp delSp modSp add mod">
        <pc:chgData name="Pranali Dukhande" userId="0ae46a4f0aa76adb" providerId="LiveId" clId="{DA6FBA60-F893-443A-AEE5-71C6A73E4BD7}" dt="2026-10-19T09:52:18.931" v="75" actId="20577"/>
        <pc:sldMkLst>
          <pc:docMk/>
          <pc:sldMk cId="3155002706" sldId="278"/>
        </pc:sldMkLst>
        <pc:spChg chg="mod">
          <ac:chgData name="Pranali Dukhande" userId="0ae46a4f0aa76adb" providerId="LiveId" clId="{DA6FBA60-F893-443A-AEE5-71C6A73E4BD7}" dt="2026-10-19T09:37:04.032" v="23"/>
          <ac:spMkLst>
            <pc:docMk/>
            <pc:sldMk cId="3155002706" sldId="278"/>
            <ac:spMk id="4" creationId="{ACDCAA2B-F66F-6DA2-0C22-72FECD40C3F0}"/>
          </ac:spMkLst>
        </pc:spChg>
        <pc:spChg chg="mod">
          <ac:chgData name="Pranali Dukhande" userId="0ae46a4f0aa76adb" providerId="LiveId" clId="{DA6FBA60-F893-443A-AEE5-71C6A73E4BD7}" dt="2026-10-19T09:52:18.931" v="75" actId="20577"/>
          <ac:spMkLst>
            <pc:docMk/>
            <pc:sldMk cId="3155002706" sldId="278"/>
            <ac:spMk id="8" creationId="{A681A46E-6107-6E13-6D82-02CD0A014F33}"/>
          </ac:spMkLst>
        </pc:spChg>
        <pc:picChg chg="del">
          <ac:chgData name="Pranali Dukhande" userId="0ae46a4f0aa76adb" providerId="LiveId" clId="{DA6FBA60-F893-443A-AEE5-71C6A73E4BD7}" dt="2026-10-19T09:38:18.806" v="37" actId="478"/>
          <ac:picMkLst>
            <pc:docMk/>
            <pc:sldMk cId="3155002706" sldId="278"/>
            <ac:picMk id="9" creationId="{57298948-81A0-8C65-DB0F-8CFD53A6E7BC}"/>
          </ac:picMkLst>
        </pc:picChg>
        <pc:picChg chg="add del mod">
          <ac:chgData name="Pranali Dukhande" userId="0ae46a4f0aa76adb" providerId="LiveId" clId="{DA6FBA60-F893-443A-AEE5-71C6A73E4BD7}" dt="2026-10-19T09:46:56.538" v="51" actId="478"/>
          <ac:picMkLst>
            <pc:docMk/>
            <pc:sldMk cId="3155002706" sldId="278"/>
            <ac:picMk id="10" creationId="{74F1E4A2-7716-D68E-3564-ED91DEACA0C2}"/>
          </ac:picMkLst>
        </pc:picChg>
        <pc:picChg chg="add mod">
          <ac:chgData name="Pranali Dukhande" userId="0ae46a4f0aa76adb" providerId="LiveId" clId="{DA6FBA60-F893-443A-AEE5-71C6A73E4BD7}" dt="2026-10-19T09:47:25.815" v="55" actId="1076"/>
          <ac:picMkLst>
            <pc:docMk/>
            <pc:sldMk cId="3155002706" sldId="278"/>
            <ac:picMk id="12" creationId="{C1757BCD-C63F-8575-D95A-B86313837AB0}"/>
          </ac:picMkLst>
        </pc:picChg>
      </pc:sldChg>
      <pc:sldChg chg="addSp delSp modSp add mod">
        <pc:chgData name="Pranali Dukhande" userId="0ae46a4f0aa76adb" providerId="LiveId" clId="{DA6FBA60-F893-443A-AEE5-71C6A73E4BD7}" dt="2026-10-20T22:15:16.580" v="134" actId="1035"/>
        <pc:sldMkLst>
          <pc:docMk/>
          <pc:sldMk cId="3323812862" sldId="279"/>
        </pc:sldMkLst>
        <pc:spChg chg="mod">
          <ac:chgData name="Pranali Dukhande" userId="0ae46a4f0aa76adb" providerId="LiveId" clId="{DA6FBA60-F893-443A-AEE5-71C6A73E4BD7}" dt="2026-10-19T09:37:15.079" v="25"/>
          <ac:spMkLst>
            <pc:docMk/>
            <pc:sldMk cId="3323812862" sldId="279"/>
            <ac:spMk id="4" creationId="{FE97AD65-BCB4-A1D9-7096-071E7187F36F}"/>
          </ac:spMkLst>
        </pc:spChg>
        <pc:spChg chg="mod">
          <ac:chgData name="Pranali Dukhande" userId="0ae46a4f0aa76adb" providerId="LiveId" clId="{DA6FBA60-F893-443A-AEE5-71C6A73E4BD7}" dt="2026-10-19T09:52:25.005" v="79" actId="20577"/>
          <ac:spMkLst>
            <pc:docMk/>
            <pc:sldMk cId="3323812862" sldId="279"/>
            <ac:spMk id="8" creationId="{368EB4F4-35DC-41A0-66B2-03B0D9F1E5A7}"/>
          </ac:spMkLst>
        </pc:spChg>
        <pc:picChg chg="del">
          <ac:chgData name="Pranali Dukhande" userId="0ae46a4f0aa76adb" providerId="LiveId" clId="{DA6FBA60-F893-443A-AEE5-71C6A73E4BD7}" dt="2026-10-19T09:38:52.802" v="43" actId="478"/>
          <ac:picMkLst>
            <pc:docMk/>
            <pc:sldMk cId="3323812862" sldId="279"/>
            <ac:picMk id="9" creationId="{84FB3B5A-146C-AF0B-45AF-CF7705F5A867}"/>
          </ac:picMkLst>
        </pc:picChg>
        <pc:picChg chg="add del mod">
          <ac:chgData name="Pranali Dukhande" userId="0ae46a4f0aa76adb" providerId="LiveId" clId="{DA6FBA60-F893-443A-AEE5-71C6A73E4BD7}" dt="2026-10-19T09:47:33.841" v="56" actId="478"/>
          <ac:picMkLst>
            <pc:docMk/>
            <pc:sldMk cId="3323812862" sldId="279"/>
            <ac:picMk id="10" creationId="{A936FC10-D5FC-0A92-98C8-104302FD50EF}"/>
          </ac:picMkLst>
        </pc:picChg>
        <pc:picChg chg="add mod">
          <ac:chgData name="Pranali Dukhande" userId="0ae46a4f0aa76adb" providerId="LiveId" clId="{DA6FBA60-F893-443A-AEE5-71C6A73E4BD7}" dt="2026-10-20T22:15:16.580" v="134" actId="1035"/>
          <ac:picMkLst>
            <pc:docMk/>
            <pc:sldMk cId="3323812862" sldId="279"/>
            <ac:picMk id="12" creationId="{E7FDFAFC-FA40-F701-4739-719880B83822}"/>
          </ac:picMkLst>
        </pc:picChg>
      </pc:sldChg>
      <pc:sldChg chg="addSp delSp modSp add mod">
        <pc:chgData name="Pranali Dukhande" userId="0ae46a4f0aa76adb" providerId="LiveId" clId="{DA6FBA60-F893-443A-AEE5-71C6A73E4BD7}" dt="2026-10-19T09:52:39.509" v="87" actId="20577"/>
        <pc:sldMkLst>
          <pc:docMk/>
          <pc:sldMk cId="599320122" sldId="280"/>
        </pc:sldMkLst>
        <pc:spChg chg="mod">
          <ac:chgData name="Pranali Dukhande" userId="0ae46a4f0aa76adb" providerId="LiveId" clId="{DA6FBA60-F893-443A-AEE5-71C6A73E4BD7}" dt="2026-10-19T09:37:30.966" v="28"/>
          <ac:spMkLst>
            <pc:docMk/>
            <pc:sldMk cId="599320122" sldId="280"/>
            <ac:spMk id="4" creationId="{E0E587E1-502E-0B66-9B34-BAAA0108BA81}"/>
          </ac:spMkLst>
        </pc:spChg>
        <pc:spChg chg="add del mod">
          <ac:chgData name="Pranali Dukhande" userId="0ae46a4f0aa76adb" providerId="LiveId" clId="{DA6FBA60-F893-443A-AEE5-71C6A73E4BD7}" dt="2026-10-19T09:52:39.509" v="87" actId="20577"/>
          <ac:spMkLst>
            <pc:docMk/>
            <pc:sldMk cId="599320122" sldId="280"/>
            <ac:spMk id="8" creationId="{71C3ADD4-B6FF-E2B3-5DFA-9FDBC5D067EB}"/>
          </ac:spMkLst>
        </pc:spChg>
        <pc:picChg chg="del">
          <ac:chgData name="Pranali Dukhande" userId="0ae46a4f0aa76adb" providerId="LiveId" clId="{DA6FBA60-F893-443A-AEE5-71C6A73E4BD7}" dt="2026-10-19T09:42:18.798" v="45" actId="478"/>
          <ac:picMkLst>
            <pc:docMk/>
            <pc:sldMk cId="599320122" sldId="280"/>
            <ac:picMk id="9" creationId="{1D76D995-2CD3-91F7-AA70-115768D206F3}"/>
          </ac:picMkLst>
        </pc:picChg>
        <pc:picChg chg="add mod">
          <ac:chgData name="Pranali Dukhande" userId="0ae46a4f0aa76adb" providerId="LiveId" clId="{DA6FBA60-F893-443A-AEE5-71C6A73E4BD7}" dt="2026-10-19T09:42:42.953" v="50" actId="14100"/>
          <ac:picMkLst>
            <pc:docMk/>
            <pc:sldMk cId="599320122" sldId="280"/>
            <ac:picMk id="10" creationId="{59A0D6AB-6216-32D2-E23D-4871F5368BFC}"/>
          </ac:picMkLst>
        </pc:picChg>
      </pc:sldChg>
    </pc:docChg>
  </pc:docChgLst>
  <pc:docChgLst>
    <pc:chgData name="Tafadzwa Nhesvure" userId="b6c48072fc6894db" providerId="LiveId" clId="{BCFD5894-93DC-494E-AD9B-3AA450D5BA69}"/>
    <pc:docChg chg="undo custSel modSld">
      <pc:chgData name="Tafadzwa Nhesvure" userId="b6c48072fc6894db" providerId="LiveId" clId="{BCFD5894-93DC-494E-AD9B-3AA450D5BA69}" dt="2026-10-18T15:41:29.910" v="18" actId="6549"/>
      <pc:docMkLst>
        <pc:docMk/>
      </pc:docMkLst>
      <pc:sldChg chg="modSp mod">
        <pc:chgData name="Tafadzwa Nhesvure" userId="b6c48072fc6894db" providerId="LiveId" clId="{BCFD5894-93DC-494E-AD9B-3AA450D5BA69}" dt="2026-10-18T15:38:55.681" v="12" actId="20577"/>
        <pc:sldMkLst>
          <pc:docMk/>
          <pc:sldMk cId="0" sldId="256"/>
        </pc:sldMkLst>
        <pc:spChg chg="mod">
          <ac:chgData name="Tafadzwa Nhesvure" userId="b6c48072fc6894db" providerId="LiveId" clId="{BCFD5894-93DC-494E-AD9B-3AA450D5BA69}" dt="2026-10-18T15:38:55.681" v="12" actId="20577"/>
          <ac:spMkLst>
            <pc:docMk/>
            <pc:sldMk cId="0" sldId="256"/>
            <ac:spMk id="4" creationId="{00000000-0000-0000-0000-000000000000}"/>
          </ac:spMkLst>
        </pc:spChg>
        <pc:picChg chg="mod">
          <ac:chgData name="Tafadzwa Nhesvure" userId="b6c48072fc6894db" providerId="LiveId" clId="{BCFD5894-93DC-494E-AD9B-3AA450D5BA69}" dt="2026-10-18T15:38:40.831" v="6" actId="1076"/>
          <ac:picMkLst>
            <pc:docMk/>
            <pc:sldMk cId="0" sldId="256"/>
            <ac:picMk id="2" creationId="{00000000-0000-0000-0000-000000000000}"/>
          </ac:picMkLst>
        </pc:picChg>
      </pc:sldChg>
      <pc:sldChg chg="modSp mod">
        <pc:chgData name="Tafadzwa Nhesvure" userId="b6c48072fc6894db" providerId="LiveId" clId="{BCFD5894-93DC-494E-AD9B-3AA450D5BA69}" dt="2026-10-18T15:40:29.625" v="13" actId="20577"/>
        <pc:sldMkLst>
          <pc:docMk/>
          <pc:sldMk cId="0" sldId="264"/>
        </pc:sldMkLst>
        <pc:spChg chg="mod">
          <ac:chgData name="Tafadzwa Nhesvure" userId="b6c48072fc6894db" providerId="LiveId" clId="{BCFD5894-93DC-494E-AD9B-3AA450D5BA69}" dt="2026-10-18T15:40:29.625" v="13" actId="20577"/>
          <ac:spMkLst>
            <pc:docMk/>
            <pc:sldMk cId="0" sldId="264"/>
            <ac:spMk id="28" creationId="{00000000-0000-0000-0000-000000000000}"/>
          </ac:spMkLst>
        </pc:spChg>
      </pc:sldChg>
      <pc:sldChg chg="modSp mod">
        <pc:chgData name="Tafadzwa Nhesvure" userId="b6c48072fc6894db" providerId="LiveId" clId="{BCFD5894-93DC-494E-AD9B-3AA450D5BA69}" dt="2026-10-18T15:41:29.910" v="18" actId="6549"/>
        <pc:sldMkLst>
          <pc:docMk/>
          <pc:sldMk cId="0" sldId="270"/>
        </pc:sldMkLst>
        <pc:spChg chg="mod">
          <ac:chgData name="Tafadzwa Nhesvure" userId="b6c48072fc6894db" providerId="LiveId" clId="{BCFD5894-93DC-494E-AD9B-3AA450D5BA69}" dt="2026-10-18T15:41:29.910" v="18" actId="6549"/>
          <ac:spMkLst>
            <pc:docMk/>
            <pc:sldMk cId="0" sldId="270"/>
            <ac:spMk id="5"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00" b="1" i="0" u="none" strike="noStrike" baseline="0" dirty="0"/>
              <a:t>Completed / Committed Ratio</a:t>
            </a:r>
            <a:endParaRPr lang="en-IN" dirty="0"/>
          </a:p>
        </c:rich>
      </c:tx>
      <c:overlay val="0"/>
      <c:spPr>
        <a:noFill/>
        <a:ln>
          <a:solidFill>
            <a:schemeClr val="accent1"/>
          </a:solid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Sheet1!$B$1</c:f>
              <c:strCache>
                <c:ptCount val="1"/>
                <c:pt idx="0">
                  <c:v>Points</c:v>
                </c:pt>
              </c:strCache>
            </c:strRef>
          </c:tx>
          <c:spPr>
            <a:solidFill>
              <a:schemeClr val="accent1"/>
            </a:solidFill>
            <a:ln>
              <a:noFill/>
            </a:ln>
            <a:effectLst/>
          </c:spPr>
          <c:invertIfNegative val="0"/>
          <c:cat>
            <c:strRef>
              <c:f>Sheet1!$A$2:$A$4</c:f>
              <c:strCache>
                <c:ptCount val="3"/>
                <c:pt idx="0">
                  <c:v>Commitment</c:v>
                </c:pt>
                <c:pt idx="1">
                  <c:v>Delivered</c:v>
                </c:pt>
                <c:pt idx="2">
                  <c:v>Carry Over</c:v>
                </c:pt>
              </c:strCache>
            </c:strRef>
          </c:cat>
          <c:val>
            <c:numRef>
              <c:f>Sheet1!$B$2:$B$4</c:f>
              <c:numCache>
                <c:formatCode>General</c:formatCode>
                <c:ptCount val="3"/>
                <c:pt idx="0">
                  <c:v>110</c:v>
                </c:pt>
                <c:pt idx="1">
                  <c:v>110</c:v>
                </c:pt>
                <c:pt idx="2">
                  <c:v>0</c:v>
                </c:pt>
              </c:numCache>
            </c:numRef>
          </c:val>
          <c:extLst>
            <c:ext xmlns:c16="http://schemas.microsoft.com/office/drawing/2014/chart" uri="{C3380CC4-5D6E-409C-BE32-E72D297353CC}">
              <c16:uniqueId val="{00000000-2687-4612-80C1-9D04A485DE7B}"/>
            </c:ext>
          </c:extLst>
        </c:ser>
        <c:dLbls>
          <c:showLegendKey val="0"/>
          <c:showVal val="0"/>
          <c:showCatName val="0"/>
          <c:showSerName val="0"/>
          <c:showPercent val="0"/>
          <c:showBubbleSize val="0"/>
        </c:dLbls>
        <c:gapWidth val="182"/>
        <c:axId val="927541872"/>
        <c:axId val="927540432"/>
      </c:barChart>
      <c:catAx>
        <c:axId val="9275418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27540432"/>
        <c:crosses val="autoZero"/>
        <c:auto val="1"/>
        <c:lblAlgn val="ctr"/>
        <c:lblOffset val="100"/>
        <c:noMultiLvlLbl val="0"/>
      </c:catAx>
      <c:valAx>
        <c:axId val="9275404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275418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8ED843-09BC-4804-A240-9A6F1BDF675D}" type="datetimeFigureOut">
              <a:rPr lang="en-IN" smtClean="0"/>
              <a:t>20-10-2026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8C1F7-B6DC-4F79-8DC8-57DB2B91A639}" type="slidenum">
              <a:rPr lang="en-IN" smtClean="0"/>
              <a:t>‹#›</a:t>
            </a:fld>
            <a:endParaRPr lang="en-IN"/>
          </a:p>
        </p:txBody>
      </p:sp>
    </p:spTree>
    <p:extLst>
      <p:ext uri="{BB962C8B-B14F-4D97-AF65-F5344CB8AC3E}">
        <p14:creationId xmlns:p14="http://schemas.microsoft.com/office/powerpoint/2010/main" val="3462786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t>
            </a:r>
            <a:r>
              <a:rPr lang="en-US" dirty="0" err="1"/>
              <a:t>Saisai</a:t>
            </a:r>
            <a:r>
              <a:rPr lang="en-US" dirty="0"/>
              <a:t> Hu (Zoey). Introduce yourself as requested in the team feedback.</a:t>
            </a:r>
          </a:p>
          <a:p>
            <a:endParaRPr lang="en-US" dirty="0"/>
          </a:p>
          <a:p>
            <a:r>
              <a:rPr lang="en-US" dirty="0"/>
              <a:t>Thank you, Li. Hi everyone, I’m </a:t>
            </a:r>
            <a:r>
              <a:rPr lang="en-US" dirty="0" err="1"/>
              <a:t>Saisai</a:t>
            </a:r>
            <a:r>
              <a:rPr lang="en-US" dirty="0"/>
              <a:t>, and my role is UI/UX and documentation. I’ll present our Sprint 1 metrics and introduce the product demonstration.</a:t>
            </a:r>
          </a:p>
          <a:p>
            <a:endParaRPr lang="en-US" dirty="0"/>
          </a:p>
          <a:p>
            <a:r>
              <a:rPr lang="en-US" dirty="0"/>
              <a:t>According to the team’s Sprint 1 summary, we planned 110 story points and delivered 110 story points. This gives us a completion rate of 100 percent and a team velocity of 110 points. The summary reports zero points carried over from the committed Sprint 1 backlog.</a:t>
            </a:r>
          </a:p>
          <a:p>
            <a:endParaRPr lang="en-US" dirty="0"/>
          </a:p>
          <a:p>
            <a:r>
              <a:rPr lang="en-US" dirty="0"/>
              <a:t>These figures describe the scope of this sprint. Additional features, such as the advisor profile and degree progress, remain planned for Sprint 2.</a:t>
            </a:r>
          </a:p>
          <a:p>
            <a:endParaRPr lang="en-US" dirty="0"/>
          </a:p>
          <a:p>
            <a:r>
              <a:rPr lang="en-US" dirty="0"/>
              <a:t>The burndown chart shows how the remaining work changed during the sprint.</a:t>
            </a:r>
          </a:p>
          <a:p>
            <a:endParaRPr lang="en-US" dirty="0"/>
          </a:p>
          <a:p>
            <a:r>
              <a:rPr lang="en-US" dirty="0"/>
              <a:t>Presenter preparation, not spoken: 110 planned, 110 delivered, zero carryover and the supplied burndown come from the team deck. Confirm with the Jira owner before recording. The chart includes October 19, so confirm whether its final point is actual or projected. Do not present the chart as independently verified. Sprint 2 advisor work must be distinguished from unfinished Sprint 1 commitments.</a:t>
            </a:r>
          </a:p>
          <a:p>
            <a:endParaRPr lang="en-IN" dirty="0"/>
          </a:p>
        </p:txBody>
      </p:sp>
      <p:sp>
        <p:nvSpPr>
          <p:cNvPr id="4" name="Slide Number Placeholder 3"/>
          <p:cNvSpPr>
            <a:spLocks noGrp="1"/>
          </p:cNvSpPr>
          <p:nvPr>
            <p:ph type="sldNum" sz="quarter" idx="5"/>
          </p:nvPr>
        </p:nvSpPr>
        <p:spPr/>
        <p:txBody>
          <a:bodyPr/>
          <a:lstStyle/>
          <a:p>
            <a:fld id="{F958C1F7-B6DC-4F79-8DC8-57DB2B91A639}" type="slidenum">
              <a:rPr lang="en-IN" smtClean="0"/>
              <a:t>20</a:t>
            </a:fld>
            <a:endParaRPr lang="en-IN"/>
          </a:p>
        </p:txBody>
      </p:sp>
    </p:spTree>
    <p:extLst>
      <p:ext uri="{BB962C8B-B14F-4D97-AF65-F5344CB8AC3E}">
        <p14:creationId xmlns:p14="http://schemas.microsoft.com/office/powerpoint/2010/main" val="417044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t>
            </a:r>
            <a:r>
              <a:rPr lang="en-US" dirty="0" err="1"/>
              <a:t>Saisai</a:t>
            </a:r>
            <a:r>
              <a:rPr lang="en-US" dirty="0"/>
              <a:t> Hu (Zoey).</a:t>
            </a:r>
          </a:p>
          <a:p>
            <a:endParaRPr lang="en-US" dirty="0"/>
          </a:p>
          <a:p>
            <a:r>
              <a:rPr lang="en-US" dirty="0"/>
              <a:t>Next, let’s look at the product demonstration.</a:t>
            </a:r>
          </a:p>
          <a:p>
            <a:endParaRPr lang="en-US" dirty="0"/>
          </a:p>
          <a:p>
            <a:r>
              <a:rPr lang="en-US" dirty="0"/>
              <a:t>The screenshots on this slide introduce the student interface and the administrator interface. The student view focuses on the academic profile and course history, including GPA and credits. The administrator view provides an overview of student and advisor information.</a:t>
            </a:r>
          </a:p>
          <a:p>
            <a:endParaRPr lang="en-US" dirty="0"/>
          </a:p>
          <a:p>
            <a:r>
              <a:rPr lang="en-US" dirty="0"/>
              <a:t>For the live demonstration, we will show the current integrated application and check how academic information appears in these views. This will help us connect the sprint results to what a user can actually see and do.</a:t>
            </a:r>
          </a:p>
          <a:p>
            <a:endParaRPr lang="en-US" dirty="0"/>
          </a:p>
          <a:p>
            <a:r>
              <a:rPr lang="en-US" dirty="0"/>
              <a:t>That concludes my section. I’ll now hand over to Pranali for the retrospective and our Sprint 2 plans.</a:t>
            </a:r>
          </a:p>
          <a:p>
            <a:endParaRPr lang="en-US" dirty="0"/>
          </a:p>
          <a:p>
            <a:r>
              <a:rPr lang="en-US" dirty="0"/>
              <a:t>If another teammate controls the live demo, say: I will now hand over to our teammate for the live demonstration. Resume the final handoff to Pranali after the demo.</a:t>
            </a:r>
          </a:p>
          <a:p>
            <a:endParaRPr lang="en-US" dirty="0"/>
          </a:p>
          <a:p>
            <a:r>
              <a:rPr lang="en-US" dirty="0"/>
              <a:t>Presenter preparation, not spoken: preserve the supplied screenshots. They show the student and admin interfaces but do not independently establish that every visible function is connected or operational. Do not describe the unmerged personal dashboard patch as deployed. Confirm who will share the application before recording. Source: supplied </a:t>
            </a:r>
            <a:r>
              <a:rPr lang="en-US" dirty="0" err="1"/>
              <a:t>AcadMate</a:t>
            </a:r>
            <a:r>
              <a:rPr lang="en-US"/>
              <a:t> Sprint 1 deck and team messages dated October 18, 2026.</a:t>
            </a:r>
          </a:p>
          <a:p>
            <a:endParaRPr lang="en-IN"/>
          </a:p>
        </p:txBody>
      </p:sp>
      <p:sp>
        <p:nvSpPr>
          <p:cNvPr id="4" name="Slide Number Placeholder 3"/>
          <p:cNvSpPr>
            <a:spLocks noGrp="1"/>
          </p:cNvSpPr>
          <p:nvPr>
            <p:ph type="sldNum" sz="quarter" idx="5"/>
          </p:nvPr>
        </p:nvSpPr>
        <p:spPr/>
        <p:txBody>
          <a:bodyPr/>
          <a:lstStyle/>
          <a:p>
            <a:fld id="{F958C1F7-B6DC-4F79-8DC8-57DB2B91A639}" type="slidenum">
              <a:rPr lang="en-IN" smtClean="0"/>
              <a:t>22</a:t>
            </a:fld>
            <a:endParaRPr lang="en-IN"/>
          </a:p>
        </p:txBody>
      </p:sp>
    </p:spTree>
    <p:extLst>
      <p:ext uri="{BB962C8B-B14F-4D97-AF65-F5344CB8AC3E}">
        <p14:creationId xmlns:p14="http://schemas.microsoft.com/office/powerpoint/2010/main" val="1056426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F5B18FE-FC05-409D-ABB6-B289E96633D4}"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78B0D6-4091-4724-8A22-CA6142E4E2BE}"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CA5599-5D2E-45F8-859F-500BA58C64E7}"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BE6D80-F48A-4B0D-B676-CE8EF496A61B}" type="datetime1">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CC01DA-B626-43EB-A094-82A4C246A984}" type="datetime1">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D0D66D-C74C-41A8-A917-E757602EECBD}" type="datetime1">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42C43F-2DCD-4FEF-9A7C-48E8498C4D25}" type="datetime1">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CB46BD-846E-4FE8-A4A4-4FF9EF0C5AD3}" type="datetime1">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E01D3E-D14C-49A2-872D-A7ABFB2234F7}" type="datetime1">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1D8201-D272-4BD5-8C4D-4DB9F4FB2D07}"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B3E7A6-09B1-4BC2-A3A9-236C9ED4CE59}" type="datetime1">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BFCFE"/>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B8F67"/>
          </a:solidFill>
          <a:ln w="12700">
            <a:solidFill>
              <a:srgbClr val="0B8F67"/>
            </a:solidFill>
            <a:prstDash val="solid"/>
          </a:ln>
        </p:spPr>
        <p:txBody>
          <a:bodyPr/>
          <a:lstStyle/>
          <a:p>
            <a:endParaRPr lang="en-US"/>
          </a:p>
        </p:txBody>
      </p:sp>
      <p:sp>
        <p:nvSpPr>
          <p:cNvPr id="3" name="Text 1"/>
          <p:cNvSpPr/>
          <p:nvPr/>
        </p:nvSpPr>
        <p:spPr>
          <a:xfrm>
            <a:off x="9281160" y="164592"/>
            <a:ext cx="2423160" cy="384048"/>
          </a:xfrm>
          <a:prstGeom prst="rect">
            <a:avLst/>
          </a:prstGeom>
          <a:noFill/>
        </p:spPr>
        <p:txBody>
          <a:bodyPr wrap="square" lIns="0" tIns="0" rIns="0" bIns="0" rtlCol="0" anchor="ctr"/>
          <a:lstStyle/>
          <a:p>
            <a:pPr marL="0" indent="0" algn="r">
              <a:buNone/>
            </a:pPr>
            <a:r>
              <a:rPr lang="en-US" sz="1000" b="1">
                <a:solidFill>
                  <a:srgbClr val="102A4C"/>
                </a:solidFill>
                <a:latin typeface="Aptos" pitchFamily="34" charset="0"/>
                <a:ea typeface="Aptos" pitchFamily="34" charset="-122"/>
                <a:cs typeface="Aptos" pitchFamily="34" charset="-120"/>
              </a:rPr>
              <a:t>AI-Powered Personalized</a:t>
            </a:r>
            <a:endParaRPr lang="en-US" sz="1000"/>
          </a:p>
          <a:p>
            <a:pPr marL="0" indent="0" algn="r">
              <a:buNone/>
            </a:pPr>
            <a:r>
              <a:rPr lang="en-US" sz="1000" b="1">
                <a:solidFill>
                  <a:srgbClr val="102A4C"/>
                </a:solidFill>
                <a:latin typeface="Aptos" pitchFamily="34" charset="0"/>
                <a:ea typeface="Aptos" pitchFamily="34" charset="-122"/>
                <a:cs typeface="Aptos" pitchFamily="34" charset="-120"/>
              </a:rPr>
              <a:t>Academic Advisement System</a:t>
            </a:r>
            <a:endParaRPr lang="en-US" sz="1000"/>
          </a:p>
        </p:txBody>
      </p:sp>
      <p:sp>
        <p:nvSpPr>
          <p:cNvPr id="4" name="Text 2"/>
          <p:cNvSpPr/>
          <p:nvPr/>
        </p:nvSpPr>
        <p:spPr>
          <a:xfrm>
            <a:off x="10607040" y="603504"/>
            <a:ext cx="1078992" cy="228600"/>
          </a:xfrm>
          <a:prstGeom prst="rect">
            <a:avLst/>
          </a:prstGeom>
          <a:noFill/>
        </p:spPr>
        <p:txBody>
          <a:bodyPr wrap="square" lIns="0" tIns="0" rIns="0" bIns="0" rtlCol="0" anchor="ctr"/>
          <a:lstStyle/>
          <a:p>
            <a:pPr marL="0" indent="0" algn="r">
              <a:buNone/>
            </a:pPr>
            <a:r>
              <a:rPr lang="en-US" sz="1000">
                <a:solidFill>
                  <a:srgbClr val="62748A"/>
                </a:solidFill>
              </a:rPr>
              <a:t>Sprint 0</a:t>
            </a:r>
            <a:endParaRPr lang="en-US" sz="1000"/>
          </a:p>
        </p:txBody>
      </p:sp>
      <p:sp>
        <p:nvSpPr>
          <p:cNvPr id="5" name="Shape 3"/>
          <p:cNvSpPr/>
          <p:nvPr/>
        </p:nvSpPr>
        <p:spPr>
          <a:xfrm>
            <a:off x="320040" y="6565392"/>
            <a:ext cx="11475720" cy="0"/>
          </a:xfrm>
          <a:prstGeom prst="line">
            <a:avLst/>
          </a:prstGeom>
          <a:noFill/>
          <a:ln w="12700">
            <a:solidFill>
              <a:srgbClr val="0B8F67"/>
            </a:solidFill>
            <a:prstDash val="solid"/>
          </a:ln>
        </p:spPr>
        <p:txBody>
          <a:bodyPr/>
          <a:lstStyle/>
          <a:p>
            <a:endParaRPr lang="en-US"/>
          </a:p>
        </p:txBody>
      </p:sp>
      <p:sp>
        <p:nvSpPr>
          <p:cNvPr id="6" name="Text 4"/>
          <p:cNvSpPr/>
          <p:nvPr/>
        </p:nvSpPr>
        <p:spPr>
          <a:xfrm>
            <a:off x="411480" y="6629400"/>
            <a:ext cx="6858000" cy="164592"/>
          </a:xfrm>
          <a:prstGeom prst="rect">
            <a:avLst/>
          </a:prstGeom>
          <a:noFill/>
        </p:spPr>
        <p:txBody>
          <a:bodyPr wrap="square" lIns="0" tIns="0" rIns="0" bIns="0" rtlCol="0" anchor="ctr"/>
          <a:lstStyle/>
          <a:p>
            <a:pPr marL="0" indent="0">
              <a:buNone/>
            </a:pPr>
            <a:r>
              <a:rPr lang="en-US" sz="800">
                <a:solidFill>
                  <a:srgbClr val="29425F"/>
                </a:solidFill>
              </a:rPr>
              <a:t>AI-Powered Personalized Academic Advisement System   |   Sprint 0</a:t>
            </a:r>
            <a:endParaRPr lang="en-US" sz="800"/>
          </a:p>
        </p:txBody>
      </p:sp>
      <p:sp>
        <p:nvSpPr>
          <p:cNvPr id="25" name="Slide Number Placeholder 0"/>
          <p:cNvSpPr>
            <a:spLocks noGrp="1"/>
          </p:cNvSpPr>
          <p:nvPr>
            <p:ph type="sldNum" sz="quarter" idx="4294967295"/>
          </p:nvPr>
        </p:nvSpPr>
        <p:spPr>
          <a:xfrm>
            <a:off x="11384280" y="6611112"/>
            <a:ext cx="320040" cy="164592"/>
          </a:xfrm>
          <a:prstGeom prst="rect">
            <a:avLst/>
          </a:prstGeom>
        </p:spPr>
        <p:txBody>
          <a:bodyPr/>
          <a:lstStyle>
            <a:lvl1pPr>
              <a:defRPr sz="800">
                <a:solidFill>
                  <a:srgbClr val="29425F"/>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517845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AFDCB2-9972-450E-94BE-527CD3F1333B}" type="datetime1">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1431772" y="14567"/>
            <a:ext cx="9328149" cy="5947321"/>
          </a:xfrm>
          <a:prstGeom prst="rect">
            <a:avLst/>
          </a:prstGeom>
        </p:spPr>
      </p:pic>
      <p:sp>
        <p:nvSpPr>
          <p:cNvPr id="3" name="Rectangle 2"/>
          <p:cNvSpPr/>
          <p:nvPr/>
        </p:nvSpPr>
        <p:spPr>
          <a:xfrm>
            <a:off x="0" y="5961888"/>
            <a:ext cx="12191695" cy="896112"/>
          </a:xfrm>
          <a:prstGeom prst="rect">
            <a:avLst/>
          </a:prstGeom>
          <a:solidFill>
            <a:srgbClr val="133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6080760"/>
            <a:ext cx="10972800" cy="407804"/>
          </a:xfrm>
          <a:prstGeom prst="rect">
            <a:avLst/>
          </a:prstGeom>
          <a:noFill/>
        </p:spPr>
        <p:txBody>
          <a:bodyPr wrap="square" lIns="36576" tIns="22860" rIns="36576">
            <a:spAutoFit/>
          </a:bodyPr>
          <a:lstStyle/>
          <a:p>
            <a:pPr>
              <a:spcAft>
                <a:spcPts val="500"/>
              </a:spcAft>
              <a:defRPr sz="2200" b="1">
                <a:solidFill>
                  <a:srgbClr val="FFFFFF"/>
                </a:solidFill>
                <a:latin typeface="Aptos"/>
              </a:defRPr>
            </a:pPr>
            <a:r>
              <a:rPr dirty="0"/>
              <a:t>SPRINT 1  |  CORE ADVISEMENT PLATFORM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AGENDA</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dirty="0"/>
              <a:t>Sprint 1 review</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A focused review of the product, sprint evidence and next increment.</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t>02</a:t>
            </a:r>
          </a:p>
        </p:txBody>
      </p:sp>
      <p:sp>
        <p:nvSpPr>
          <p:cNvPr id="9" name="Rounded Rectangle 8"/>
          <p:cNvSpPr/>
          <p:nvPr/>
        </p:nvSpPr>
        <p:spPr>
          <a:xfrm>
            <a:off x="640080" y="1755648"/>
            <a:ext cx="5349240"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755648"/>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1901952"/>
            <a:ext cx="4983479"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01  Product &amp; team</a:t>
            </a:r>
          </a:p>
        </p:txBody>
      </p:sp>
      <p:sp>
        <p:nvSpPr>
          <p:cNvPr id="12" name="TextBox 11"/>
          <p:cNvSpPr txBox="1"/>
          <p:nvPr/>
        </p:nvSpPr>
        <p:spPr>
          <a:xfrm>
            <a:off x="822959" y="2377440"/>
            <a:ext cx="4965192"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Scope, personas, ownership</a:t>
            </a:r>
          </a:p>
        </p:txBody>
      </p:sp>
      <p:sp>
        <p:nvSpPr>
          <p:cNvPr id="13" name="Rounded Rectangle 12"/>
          <p:cNvSpPr/>
          <p:nvPr/>
        </p:nvSpPr>
        <p:spPr>
          <a:xfrm>
            <a:off x="6309360" y="1755648"/>
            <a:ext cx="5349240"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1755648"/>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1901952"/>
            <a:ext cx="4983479"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02  Solution design</a:t>
            </a:r>
          </a:p>
        </p:txBody>
      </p:sp>
      <p:sp>
        <p:nvSpPr>
          <p:cNvPr id="16" name="TextBox 15"/>
          <p:cNvSpPr txBox="1"/>
          <p:nvPr/>
        </p:nvSpPr>
        <p:spPr>
          <a:xfrm>
            <a:off x="6492240" y="2377440"/>
            <a:ext cx="4965192"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Architecture, data model, technology</a:t>
            </a:r>
          </a:p>
        </p:txBody>
      </p:sp>
      <p:sp>
        <p:nvSpPr>
          <p:cNvPr id="17" name="Rounded Rectangle 16"/>
          <p:cNvSpPr/>
          <p:nvPr/>
        </p:nvSpPr>
        <p:spPr>
          <a:xfrm>
            <a:off x="640080" y="3675887"/>
            <a:ext cx="5349240"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675887"/>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59" y="3822191"/>
            <a:ext cx="4983479"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03  Sprint execution</a:t>
            </a:r>
          </a:p>
        </p:txBody>
      </p:sp>
      <p:sp>
        <p:nvSpPr>
          <p:cNvPr id="20" name="TextBox 19"/>
          <p:cNvSpPr txBox="1"/>
          <p:nvPr/>
        </p:nvSpPr>
        <p:spPr>
          <a:xfrm>
            <a:off x="822959" y="4297679"/>
            <a:ext cx="4965192"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Backlogs, data, tests and status</a:t>
            </a:r>
          </a:p>
        </p:txBody>
      </p:sp>
      <p:sp>
        <p:nvSpPr>
          <p:cNvPr id="21" name="Rounded Rectangle 20"/>
          <p:cNvSpPr/>
          <p:nvPr/>
        </p:nvSpPr>
        <p:spPr>
          <a:xfrm>
            <a:off x="6309360" y="3675887"/>
            <a:ext cx="5349240"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60" y="3675887"/>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0" y="3822191"/>
            <a:ext cx="4983479"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04  Outcomes &amp; next steps</a:t>
            </a:r>
          </a:p>
        </p:txBody>
      </p:sp>
      <p:sp>
        <p:nvSpPr>
          <p:cNvPr id="24" name="TextBox 23"/>
          <p:cNvSpPr txBox="1"/>
          <p:nvPr/>
        </p:nvSpPr>
        <p:spPr>
          <a:xfrm>
            <a:off x="6492240" y="4297679"/>
            <a:ext cx="4965192"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Metrics, demo, retrospective, Sprint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PEOPLE + COLLABORATION</a:t>
            </a:r>
          </a:p>
        </p:txBody>
      </p:sp>
      <p:sp>
        <p:nvSpPr>
          <p:cNvPr id="4" name="TextBox 3"/>
          <p:cNvSpPr txBox="1"/>
          <p:nvPr/>
        </p:nvSpPr>
        <p:spPr>
          <a:xfrm>
            <a:off x="470916" y="4555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dirty="0"/>
              <a:t>Team ownership</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t>03</a:t>
            </a:r>
          </a:p>
        </p:txBody>
      </p:sp>
      <p:sp>
        <p:nvSpPr>
          <p:cNvPr id="9" name="Rounded Rectangle 8"/>
          <p:cNvSpPr/>
          <p:nvPr/>
        </p:nvSpPr>
        <p:spPr>
          <a:xfrm>
            <a:off x="545931" y="972749"/>
            <a:ext cx="2697480" cy="64856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5931" y="972749"/>
            <a:ext cx="64008" cy="64856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8810" y="1119052"/>
            <a:ext cx="2331720"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Tafadzwa</a:t>
            </a:r>
          </a:p>
        </p:txBody>
      </p:sp>
      <p:sp>
        <p:nvSpPr>
          <p:cNvPr id="12" name="TextBox 11"/>
          <p:cNvSpPr txBox="1"/>
          <p:nvPr/>
        </p:nvSpPr>
        <p:spPr>
          <a:xfrm>
            <a:off x="747098" y="1375083"/>
            <a:ext cx="2313432" cy="182879"/>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Product Owner • AI/ML</a:t>
            </a:r>
          </a:p>
        </p:txBody>
      </p:sp>
      <p:sp>
        <p:nvSpPr>
          <p:cNvPr id="13" name="Rounded Rectangle 12"/>
          <p:cNvSpPr/>
          <p:nvPr/>
        </p:nvSpPr>
        <p:spPr>
          <a:xfrm>
            <a:off x="3417147" y="972749"/>
            <a:ext cx="2697480" cy="64856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17147" y="972749"/>
            <a:ext cx="64008" cy="64856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00027" y="1119052"/>
            <a:ext cx="2331720"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Pranali</a:t>
            </a:r>
          </a:p>
        </p:txBody>
      </p:sp>
      <p:sp>
        <p:nvSpPr>
          <p:cNvPr id="16" name="TextBox 15"/>
          <p:cNvSpPr txBox="1"/>
          <p:nvPr/>
        </p:nvSpPr>
        <p:spPr>
          <a:xfrm>
            <a:off x="3593881" y="1342606"/>
            <a:ext cx="2313432" cy="182879"/>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Scrum Master • Backend</a:t>
            </a:r>
          </a:p>
        </p:txBody>
      </p:sp>
      <p:sp>
        <p:nvSpPr>
          <p:cNvPr id="17" name="Rounded Rectangle 16"/>
          <p:cNvSpPr/>
          <p:nvPr/>
        </p:nvSpPr>
        <p:spPr>
          <a:xfrm>
            <a:off x="6288363" y="972749"/>
            <a:ext cx="2697480" cy="64856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88363" y="972749"/>
            <a:ext cx="64008" cy="64856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1243" y="1119052"/>
            <a:ext cx="2331720"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Lyno</a:t>
            </a:r>
          </a:p>
        </p:txBody>
      </p:sp>
      <p:sp>
        <p:nvSpPr>
          <p:cNvPr id="20" name="TextBox 19"/>
          <p:cNvSpPr txBox="1"/>
          <p:nvPr/>
        </p:nvSpPr>
        <p:spPr>
          <a:xfrm>
            <a:off x="6465097" y="1340440"/>
            <a:ext cx="2313432" cy="182879"/>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Frontend • LLM</a:t>
            </a:r>
          </a:p>
        </p:txBody>
      </p:sp>
      <p:sp>
        <p:nvSpPr>
          <p:cNvPr id="21" name="Rounded Rectangle 20"/>
          <p:cNvSpPr/>
          <p:nvPr/>
        </p:nvSpPr>
        <p:spPr>
          <a:xfrm>
            <a:off x="9159579" y="972749"/>
            <a:ext cx="2697480" cy="64856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59579" y="972749"/>
            <a:ext cx="64008" cy="64856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42458" y="1119052"/>
            <a:ext cx="2331720"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Liangxian Li</a:t>
            </a:r>
          </a:p>
        </p:txBody>
      </p:sp>
      <p:sp>
        <p:nvSpPr>
          <p:cNvPr id="24" name="TextBox 23"/>
          <p:cNvSpPr txBox="1"/>
          <p:nvPr/>
        </p:nvSpPr>
        <p:spPr>
          <a:xfrm>
            <a:off x="9342458" y="1339212"/>
            <a:ext cx="2313432" cy="182879"/>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Backend</a:t>
            </a:r>
          </a:p>
        </p:txBody>
      </p:sp>
      <p:sp>
        <p:nvSpPr>
          <p:cNvPr id="25" name="Rounded Rectangle 24"/>
          <p:cNvSpPr/>
          <p:nvPr/>
        </p:nvSpPr>
        <p:spPr>
          <a:xfrm>
            <a:off x="804672" y="3696838"/>
            <a:ext cx="2726486" cy="750644"/>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4672" y="3696838"/>
            <a:ext cx="64696" cy="750644"/>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7550" y="3843142"/>
            <a:ext cx="2356793" cy="33086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Datta</a:t>
            </a:r>
          </a:p>
        </p:txBody>
      </p:sp>
      <p:sp>
        <p:nvSpPr>
          <p:cNvPr id="28" name="TextBox 27"/>
          <p:cNvSpPr txBox="1"/>
          <p:nvPr/>
        </p:nvSpPr>
        <p:spPr>
          <a:xfrm>
            <a:off x="979243" y="4124217"/>
            <a:ext cx="2338308" cy="269304"/>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Database • Backend</a:t>
            </a:r>
          </a:p>
        </p:txBody>
      </p:sp>
      <p:sp>
        <p:nvSpPr>
          <p:cNvPr id="29" name="Rounded Rectangle 28"/>
          <p:cNvSpPr/>
          <p:nvPr/>
        </p:nvSpPr>
        <p:spPr>
          <a:xfrm>
            <a:off x="3675888" y="3696838"/>
            <a:ext cx="2726486" cy="750644"/>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75888" y="3696838"/>
            <a:ext cx="64696" cy="750644"/>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58767" y="3843142"/>
            <a:ext cx="2356793" cy="33086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Saisai</a:t>
            </a:r>
          </a:p>
        </p:txBody>
      </p:sp>
      <p:sp>
        <p:nvSpPr>
          <p:cNvPr id="32" name="TextBox 31"/>
          <p:cNvSpPr txBox="1"/>
          <p:nvPr/>
        </p:nvSpPr>
        <p:spPr>
          <a:xfrm>
            <a:off x="3851198" y="4139377"/>
            <a:ext cx="2338308" cy="269304"/>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UI/UX • Documentation</a:t>
            </a:r>
          </a:p>
        </p:txBody>
      </p:sp>
      <p:sp>
        <p:nvSpPr>
          <p:cNvPr id="33" name="Rounded Rectangle 32"/>
          <p:cNvSpPr/>
          <p:nvPr/>
        </p:nvSpPr>
        <p:spPr>
          <a:xfrm>
            <a:off x="6547104" y="3696838"/>
            <a:ext cx="2726486" cy="750644"/>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547104" y="3696838"/>
            <a:ext cx="64696" cy="750644"/>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5" name="TextBox 34"/>
          <p:cNvSpPr txBox="1"/>
          <p:nvPr/>
        </p:nvSpPr>
        <p:spPr>
          <a:xfrm>
            <a:off x="6729983" y="3843142"/>
            <a:ext cx="2356793" cy="33086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Chintu</a:t>
            </a:r>
          </a:p>
        </p:txBody>
      </p:sp>
      <p:sp>
        <p:nvSpPr>
          <p:cNvPr id="36" name="TextBox 35"/>
          <p:cNvSpPr txBox="1"/>
          <p:nvPr/>
        </p:nvSpPr>
        <p:spPr>
          <a:xfrm>
            <a:off x="6729984" y="4125335"/>
            <a:ext cx="2338308" cy="269304"/>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Frontend • QA</a:t>
            </a:r>
          </a:p>
        </p:txBody>
      </p:sp>
      <p:sp>
        <p:nvSpPr>
          <p:cNvPr id="41" name="Rectangle 40">
            <a:extLst>
              <a:ext uri="{FF2B5EF4-FFF2-40B4-BE49-F238E27FC236}">
                <a16:creationId xmlns:a16="http://schemas.microsoft.com/office/drawing/2014/main" id="{BE4EC0E5-131D-03FD-DCF8-1C1305B2B27C}"/>
              </a:ext>
            </a:extLst>
          </p:cNvPr>
          <p:cNvSpPr/>
          <p:nvPr/>
        </p:nvSpPr>
        <p:spPr>
          <a:xfrm>
            <a:off x="894279" y="1760679"/>
            <a:ext cx="1856554" cy="1764784"/>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B6A31858-41F3-CB79-5DB9-4D53CF5761CB}"/>
              </a:ext>
            </a:extLst>
          </p:cNvPr>
          <p:cNvSpPr/>
          <p:nvPr/>
        </p:nvSpPr>
        <p:spPr>
          <a:xfrm>
            <a:off x="3593881" y="1762097"/>
            <a:ext cx="2331720" cy="1700344"/>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DD083CAE-2B8A-C2DA-3131-3A413D9F6F60}"/>
              </a:ext>
            </a:extLst>
          </p:cNvPr>
          <p:cNvSpPr/>
          <p:nvPr/>
        </p:nvSpPr>
        <p:spPr>
          <a:xfrm>
            <a:off x="6547104" y="1762097"/>
            <a:ext cx="2331720" cy="1656270"/>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7" name="Rectangle 46">
            <a:extLst>
              <a:ext uri="{FF2B5EF4-FFF2-40B4-BE49-F238E27FC236}">
                <a16:creationId xmlns:a16="http://schemas.microsoft.com/office/drawing/2014/main" id="{EDE5AD4A-E7AE-4EBB-2129-DBB29F716902}"/>
              </a:ext>
            </a:extLst>
          </p:cNvPr>
          <p:cNvSpPr/>
          <p:nvPr/>
        </p:nvSpPr>
        <p:spPr>
          <a:xfrm>
            <a:off x="3845839" y="4593785"/>
            <a:ext cx="2331720" cy="1753415"/>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Rectangle 48">
            <a:extLst>
              <a:ext uri="{FF2B5EF4-FFF2-40B4-BE49-F238E27FC236}">
                <a16:creationId xmlns:a16="http://schemas.microsoft.com/office/drawing/2014/main" id="{76F9C8E3-988C-84A4-F23F-97E7124B3602}"/>
              </a:ext>
            </a:extLst>
          </p:cNvPr>
          <p:cNvSpPr/>
          <p:nvPr/>
        </p:nvSpPr>
        <p:spPr>
          <a:xfrm>
            <a:off x="6729984" y="4593786"/>
            <a:ext cx="2331720" cy="1753415"/>
          </a:xfrm>
          <a:prstGeom prst="rect">
            <a:avLst/>
          </a:prstGeom>
          <a:blipFill dpi="0" rotWithShape="1">
            <a:blip r:embed="rId6">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50">
            <a:extLst>
              <a:ext uri="{FF2B5EF4-FFF2-40B4-BE49-F238E27FC236}">
                <a16:creationId xmlns:a16="http://schemas.microsoft.com/office/drawing/2014/main" id="{18F040A7-CF81-676D-EC4C-EB8DE0C4B2A3}"/>
              </a:ext>
            </a:extLst>
          </p:cNvPr>
          <p:cNvSpPr/>
          <p:nvPr/>
        </p:nvSpPr>
        <p:spPr>
          <a:xfrm>
            <a:off x="911691" y="4601381"/>
            <a:ext cx="2331720" cy="1719829"/>
          </a:xfrm>
          <a:prstGeom prst="rect">
            <a:avLst/>
          </a:prstGeom>
          <a:blipFill dpi="0" rotWithShape="1">
            <a:blip r:embed="rId7">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53" name="Rectangle 52">
            <a:extLst>
              <a:ext uri="{FF2B5EF4-FFF2-40B4-BE49-F238E27FC236}">
                <a16:creationId xmlns:a16="http://schemas.microsoft.com/office/drawing/2014/main" id="{C3224696-4810-50FE-3D3B-E196D72E476F}"/>
              </a:ext>
            </a:extLst>
          </p:cNvPr>
          <p:cNvSpPr/>
          <p:nvPr/>
        </p:nvSpPr>
        <p:spPr>
          <a:xfrm>
            <a:off x="9342458" y="1796407"/>
            <a:ext cx="2331720" cy="1713872"/>
          </a:xfrm>
          <a:prstGeom prst="rect">
            <a:avLst/>
          </a:prstGeom>
          <a:blipFill dpi="0" rotWithShape="1">
            <a:blip r:embed="rId8">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E2CA1-907C-10B6-B0F2-3DCAF278EDD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7D7562-DA94-56A0-020E-6A98BCFA783C}"/>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8CF48DA-77EB-80A6-B10B-F2CDE0C27D03}"/>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AGENDA</a:t>
            </a:r>
          </a:p>
        </p:txBody>
      </p:sp>
      <p:sp>
        <p:nvSpPr>
          <p:cNvPr id="4" name="TextBox 3">
            <a:extLst>
              <a:ext uri="{FF2B5EF4-FFF2-40B4-BE49-F238E27FC236}">
                <a16:creationId xmlns:a16="http://schemas.microsoft.com/office/drawing/2014/main" id="{338906BD-4633-A583-1F8F-3AC8DEE1D9B3}"/>
              </a:ext>
            </a:extLst>
          </p:cNvPr>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lang="en-IN" sz="2800" b="1" dirty="0"/>
              <a:t>Improvements from Professor Feedback</a:t>
            </a:r>
            <a:endParaRPr dirty="0"/>
          </a:p>
        </p:txBody>
      </p:sp>
      <p:sp>
        <p:nvSpPr>
          <p:cNvPr id="6" name="Rectangle 5">
            <a:extLst>
              <a:ext uri="{FF2B5EF4-FFF2-40B4-BE49-F238E27FC236}">
                <a16:creationId xmlns:a16="http://schemas.microsoft.com/office/drawing/2014/main" id="{E2950D99-3629-B453-C8E7-63BBC22AE0E8}"/>
              </a:ext>
            </a:extLst>
          </p:cNvPr>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090F042-07D7-4015-6EA0-9662B9A574AC}"/>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49EBA085-6ACE-2501-6FFA-FAC657623F87}"/>
              </a:ext>
            </a:extLst>
          </p:cNvPr>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t>02</a:t>
            </a:r>
          </a:p>
        </p:txBody>
      </p:sp>
      <p:sp>
        <p:nvSpPr>
          <p:cNvPr id="9" name="Rounded Rectangle 8">
            <a:extLst>
              <a:ext uri="{FF2B5EF4-FFF2-40B4-BE49-F238E27FC236}">
                <a16:creationId xmlns:a16="http://schemas.microsoft.com/office/drawing/2014/main" id="{318B6E18-C0B4-333C-4085-B230177548D9}"/>
              </a:ext>
            </a:extLst>
          </p:cNvPr>
          <p:cNvSpPr/>
          <p:nvPr/>
        </p:nvSpPr>
        <p:spPr>
          <a:xfrm>
            <a:off x="640080" y="1755648"/>
            <a:ext cx="10835640"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44886C28-B22E-78F2-E74F-FFBC20617E7A}"/>
              </a:ext>
            </a:extLst>
          </p:cNvPr>
          <p:cNvSpPr/>
          <p:nvPr/>
        </p:nvSpPr>
        <p:spPr>
          <a:xfrm>
            <a:off x="640080" y="1755648"/>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98C4814-F661-03F0-6D05-B60A88DE7522}"/>
              </a:ext>
            </a:extLst>
          </p:cNvPr>
          <p:cNvSpPr txBox="1"/>
          <p:nvPr/>
        </p:nvSpPr>
        <p:spPr>
          <a:xfrm>
            <a:off x="822959" y="2070678"/>
            <a:ext cx="10482074" cy="59247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lang="en-US" sz="1700" dirty="0"/>
              <a:t>The professor advised our team to give individual introductions while presenting so that each member is properly introduced in the presentation keep the presentation seem like a one team.</a:t>
            </a:r>
            <a:endParaRPr dirty="0"/>
          </a:p>
        </p:txBody>
      </p:sp>
      <p:sp>
        <p:nvSpPr>
          <p:cNvPr id="17" name="Rounded Rectangle 16">
            <a:extLst>
              <a:ext uri="{FF2B5EF4-FFF2-40B4-BE49-F238E27FC236}">
                <a16:creationId xmlns:a16="http://schemas.microsoft.com/office/drawing/2014/main" id="{74AC92BB-DE5E-5DEF-AF8D-FE68763FBA60}"/>
              </a:ext>
            </a:extLst>
          </p:cNvPr>
          <p:cNvSpPr/>
          <p:nvPr/>
        </p:nvSpPr>
        <p:spPr>
          <a:xfrm>
            <a:off x="640080" y="3675887"/>
            <a:ext cx="10835640"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3B237BEB-E09B-414C-3978-E299281450A1}"/>
              </a:ext>
            </a:extLst>
          </p:cNvPr>
          <p:cNvSpPr/>
          <p:nvPr/>
        </p:nvSpPr>
        <p:spPr>
          <a:xfrm>
            <a:off x="640080" y="3675887"/>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353F7409-431E-09E2-AA8E-C26B5BC9D37E}"/>
              </a:ext>
            </a:extLst>
          </p:cNvPr>
          <p:cNvSpPr txBox="1"/>
          <p:nvPr/>
        </p:nvSpPr>
        <p:spPr>
          <a:xfrm>
            <a:off x="822959" y="4233672"/>
            <a:ext cx="10383521" cy="346249"/>
          </a:xfrm>
          <a:prstGeom prst="rect">
            <a:avLst/>
          </a:prstGeom>
          <a:noFill/>
        </p:spPr>
        <p:txBody>
          <a:bodyPr wrap="square" lIns="36576" tIns="22860" rIns="36576">
            <a:spAutoFit/>
          </a:bodyPr>
          <a:lstStyle/>
          <a:p>
            <a:r>
              <a:rPr lang="en-IN" sz="1700" b="1" dirty="0">
                <a:solidFill>
                  <a:srgbClr val="133458"/>
                </a:solidFill>
                <a:latin typeface="Aptos"/>
              </a:rPr>
              <a:t>Writing actionable retrospective points clearly and presenting how we conducted the retrospective</a:t>
            </a:r>
            <a:r>
              <a:rPr lang="en-IN" dirty="0"/>
              <a:t>.</a:t>
            </a:r>
          </a:p>
        </p:txBody>
      </p:sp>
    </p:spTree>
    <p:extLst>
      <p:ext uri="{BB962C8B-B14F-4D97-AF65-F5344CB8AC3E}">
        <p14:creationId xmlns:p14="http://schemas.microsoft.com/office/powerpoint/2010/main" val="1862404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182880"/>
            <a:ext cx="7223760" cy="438912"/>
          </a:xfrm>
          <a:prstGeom prst="rect">
            <a:avLst/>
          </a:prstGeom>
          <a:noFill/>
        </p:spPr>
        <p:txBody>
          <a:bodyPr wrap="square" lIns="0" tIns="0" rIns="0" bIns="0" rtlCol="0" anchor="ctr"/>
          <a:lstStyle/>
          <a:p>
            <a:pPr marL="0" indent="0">
              <a:buNone/>
            </a:pPr>
            <a:r>
              <a:rPr lang="en-US" sz="2700" b="1">
                <a:solidFill>
                  <a:srgbClr val="102A4C"/>
                </a:solidFill>
              </a:rPr>
              <a:t>Project Description</a:t>
            </a:r>
            <a:endParaRPr lang="en-US" sz="2700"/>
          </a:p>
        </p:txBody>
      </p:sp>
      <p:sp>
        <p:nvSpPr>
          <p:cNvPr id="3" name="Text 1"/>
          <p:cNvSpPr/>
          <p:nvPr/>
        </p:nvSpPr>
        <p:spPr>
          <a:xfrm>
            <a:off x="457200" y="658368"/>
            <a:ext cx="7863840" cy="256032"/>
          </a:xfrm>
          <a:prstGeom prst="rect">
            <a:avLst/>
          </a:prstGeom>
          <a:noFill/>
        </p:spPr>
        <p:txBody>
          <a:bodyPr wrap="square" lIns="0" tIns="0" rIns="0" bIns="0" rtlCol="0" anchor="ctr"/>
          <a:lstStyle/>
          <a:p>
            <a:pPr marL="0" indent="0">
              <a:buNone/>
            </a:pPr>
            <a:r>
              <a:rPr lang="en-US" sz="1250" dirty="0">
                <a:solidFill>
                  <a:srgbClr val="66778C"/>
                </a:solidFill>
              </a:rPr>
              <a:t>A full-stack advising platform that turns academic data into actionable support</a:t>
            </a:r>
            <a:endParaRPr lang="en-US" sz="1250" dirty="0"/>
          </a:p>
        </p:txBody>
      </p:sp>
      <p:sp>
        <p:nvSpPr>
          <p:cNvPr id="4" name="Shape 2"/>
          <p:cNvSpPr/>
          <p:nvPr/>
        </p:nvSpPr>
        <p:spPr>
          <a:xfrm>
            <a:off x="502920" y="1828800"/>
            <a:ext cx="1627632" cy="2331720"/>
          </a:xfrm>
          <a:prstGeom prst="roundRect">
            <a:avLst>
              <a:gd name="adj" fmla="val 6742"/>
            </a:avLst>
          </a:prstGeom>
          <a:solidFill>
            <a:srgbClr val="E8F8F1"/>
          </a:solidFill>
          <a:ln w="8890">
            <a:solidFill>
              <a:srgbClr val="D3EEE4"/>
            </a:solidFill>
            <a:prstDash val="solid"/>
          </a:ln>
          <a:effectLst>
            <a:outerShdw algn="bl" rotWithShape="0">
              <a:srgbClr val="000000">
                <a:alpha val="0"/>
              </a:srgbClr>
            </a:outerShdw>
          </a:effectLst>
        </p:spPr>
        <p:txBody>
          <a:bodyPr/>
          <a:lstStyle/>
          <a:p>
            <a:endParaRPr lang="en-US"/>
          </a:p>
        </p:txBody>
      </p:sp>
      <p:sp>
        <p:nvSpPr>
          <p:cNvPr id="5" name="Shape 3"/>
          <p:cNvSpPr/>
          <p:nvPr/>
        </p:nvSpPr>
        <p:spPr>
          <a:xfrm>
            <a:off x="1115568" y="2103120"/>
            <a:ext cx="384048" cy="384048"/>
          </a:xfrm>
          <a:prstGeom prst="ellipse">
            <a:avLst/>
          </a:prstGeom>
          <a:solidFill>
            <a:srgbClr val="0B8F67"/>
          </a:solidFill>
          <a:ln w="12700">
            <a:solidFill>
              <a:srgbClr val="0B8F67"/>
            </a:solidFill>
            <a:prstDash val="solid"/>
          </a:ln>
        </p:spPr>
        <p:txBody>
          <a:bodyPr/>
          <a:lstStyle/>
          <a:p>
            <a:endParaRPr lang="en-US"/>
          </a:p>
        </p:txBody>
      </p:sp>
      <p:sp>
        <p:nvSpPr>
          <p:cNvPr id="6" name="Text 4"/>
          <p:cNvSpPr/>
          <p:nvPr/>
        </p:nvSpPr>
        <p:spPr>
          <a:xfrm>
            <a:off x="1133856" y="2185416"/>
            <a:ext cx="347472" cy="155448"/>
          </a:xfrm>
          <a:prstGeom prst="rect">
            <a:avLst/>
          </a:prstGeom>
          <a:noFill/>
        </p:spPr>
        <p:txBody>
          <a:bodyPr wrap="square" lIns="0" tIns="0" rIns="0" bIns="0" rtlCol="0" anchor="ctr"/>
          <a:lstStyle/>
          <a:p>
            <a:pPr marL="0" indent="0" algn="ctr">
              <a:buNone/>
            </a:pPr>
            <a:r>
              <a:rPr lang="en-US" sz="1000" b="1">
                <a:solidFill>
                  <a:srgbClr val="FFFFFF"/>
                </a:solidFill>
              </a:rPr>
              <a:t>1</a:t>
            </a:r>
            <a:endParaRPr lang="en-US" sz="1000"/>
          </a:p>
        </p:txBody>
      </p:sp>
      <p:sp>
        <p:nvSpPr>
          <p:cNvPr id="7" name="Text 5"/>
          <p:cNvSpPr/>
          <p:nvPr/>
        </p:nvSpPr>
        <p:spPr>
          <a:xfrm>
            <a:off x="612648" y="2743200"/>
            <a:ext cx="1408176" cy="384048"/>
          </a:xfrm>
          <a:prstGeom prst="rect">
            <a:avLst/>
          </a:prstGeom>
          <a:noFill/>
        </p:spPr>
        <p:txBody>
          <a:bodyPr wrap="square" lIns="0" tIns="0" rIns="0" bIns="0" rtlCol="0" anchor="ctr">
            <a:normAutofit/>
          </a:bodyPr>
          <a:lstStyle/>
          <a:p>
            <a:pPr marL="0" indent="0" algn="ctr">
              <a:buNone/>
            </a:pPr>
            <a:r>
              <a:rPr lang="en-US" sz="1400" b="1">
                <a:solidFill>
                  <a:srgbClr val="102A4C"/>
                </a:solidFill>
              </a:rPr>
              <a:t>Student Data</a:t>
            </a:r>
            <a:endParaRPr lang="en-US" sz="1400"/>
          </a:p>
        </p:txBody>
      </p:sp>
      <p:sp>
        <p:nvSpPr>
          <p:cNvPr id="8" name="Text 6"/>
          <p:cNvSpPr/>
          <p:nvPr/>
        </p:nvSpPr>
        <p:spPr>
          <a:xfrm>
            <a:off x="630936" y="3246120"/>
            <a:ext cx="1371600" cy="566928"/>
          </a:xfrm>
          <a:prstGeom prst="rect">
            <a:avLst/>
          </a:prstGeom>
          <a:noFill/>
        </p:spPr>
        <p:txBody>
          <a:bodyPr wrap="square" lIns="0" tIns="0" rIns="0" bIns="0" rtlCol="0" anchor="ctr">
            <a:normAutofit/>
          </a:bodyPr>
          <a:lstStyle/>
          <a:p>
            <a:pPr marL="0" indent="0" algn="ctr">
              <a:buNone/>
            </a:pPr>
            <a:r>
              <a:rPr lang="en-US" sz="1050">
                <a:solidFill>
                  <a:srgbClr val="66778C"/>
                </a:solidFill>
              </a:rPr>
              <a:t>Grades • attendance • assignments • LMS</a:t>
            </a:r>
            <a:endParaRPr lang="en-US" sz="1050"/>
          </a:p>
        </p:txBody>
      </p:sp>
      <p:sp>
        <p:nvSpPr>
          <p:cNvPr id="9" name="Shape 7"/>
          <p:cNvSpPr/>
          <p:nvPr/>
        </p:nvSpPr>
        <p:spPr>
          <a:xfrm>
            <a:off x="2167128" y="2724912"/>
            <a:ext cx="228600" cy="411480"/>
          </a:xfrm>
          <a:prstGeom prst="chevron">
            <a:avLst/>
          </a:prstGeom>
          <a:solidFill>
            <a:srgbClr val="9BB0C8"/>
          </a:solidFill>
          <a:ln w="12700">
            <a:solidFill>
              <a:srgbClr val="9BB0C8"/>
            </a:solidFill>
            <a:prstDash val="solid"/>
          </a:ln>
        </p:spPr>
        <p:txBody>
          <a:bodyPr/>
          <a:lstStyle/>
          <a:p>
            <a:endParaRPr lang="en-US"/>
          </a:p>
        </p:txBody>
      </p:sp>
      <p:sp>
        <p:nvSpPr>
          <p:cNvPr id="10" name="Shape 8"/>
          <p:cNvSpPr/>
          <p:nvPr/>
        </p:nvSpPr>
        <p:spPr>
          <a:xfrm>
            <a:off x="2423160" y="1828800"/>
            <a:ext cx="1627632" cy="2331720"/>
          </a:xfrm>
          <a:prstGeom prst="roundRect">
            <a:avLst>
              <a:gd name="adj" fmla="val 6742"/>
            </a:avLst>
          </a:prstGeom>
          <a:solidFill>
            <a:srgbClr val="EAF2FF"/>
          </a:solidFill>
          <a:ln w="8890">
            <a:solidFill>
              <a:srgbClr val="D8E7FA"/>
            </a:solidFill>
            <a:prstDash val="solid"/>
          </a:ln>
          <a:effectLst>
            <a:outerShdw algn="bl" rotWithShape="0">
              <a:srgbClr val="000000">
                <a:alpha val="0"/>
              </a:srgbClr>
            </a:outerShdw>
          </a:effectLst>
        </p:spPr>
        <p:txBody>
          <a:bodyPr/>
          <a:lstStyle/>
          <a:p>
            <a:endParaRPr lang="en-US"/>
          </a:p>
        </p:txBody>
      </p:sp>
      <p:sp>
        <p:nvSpPr>
          <p:cNvPr id="11" name="Shape 9"/>
          <p:cNvSpPr/>
          <p:nvPr/>
        </p:nvSpPr>
        <p:spPr>
          <a:xfrm>
            <a:off x="3035808" y="2103120"/>
            <a:ext cx="384048" cy="384048"/>
          </a:xfrm>
          <a:prstGeom prst="ellipse">
            <a:avLst/>
          </a:prstGeom>
          <a:solidFill>
            <a:srgbClr val="2569B8"/>
          </a:solidFill>
          <a:ln w="12700">
            <a:solidFill>
              <a:srgbClr val="2569B8"/>
            </a:solidFill>
            <a:prstDash val="solid"/>
          </a:ln>
        </p:spPr>
        <p:txBody>
          <a:bodyPr/>
          <a:lstStyle/>
          <a:p>
            <a:endParaRPr lang="en-US"/>
          </a:p>
        </p:txBody>
      </p:sp>
      <p:sp>
        <p:nvSpPr>
          <p:cNvPr id="12" name="Text 10"/>
          <p:cNvSpPr/>
          <p:nvPr/>
        </p:nvSpPr>
        <p:spPr>
          <a:xfrm>
            <a:off x="3054096" y="2185416"/>
            <a:ext cx="347472" cy="155448"/>
          </a:xfrm>
          <a:prstGeom prst="rect">
            <a:avLst/>
          </a:prstGeom>
          <a:noFill/>
        </p:spPr>
        <p:txBody>
          <a:bodyPr wrap="square" lIns="0" tIns="0" rIns="0" bIns="0" rtlCol="0" anchor="ctr"/>
          <a:lstStyle/>
          <a:p>
            <a:pPr marL="0" indent="0" algn="ctr">
              <a:buNone/>
            </a:pPr>
            <a:r>
              <a:rPr lang="en-US" sz="1000" b="1">
                <a:solidFill>
                  <a:srgbClr val="FFFFFF"/>
                </a:solidFill>
              </a:rPr>
              <a:t>2</a:t>
            </a:r>
            <a:endParaRPr lang="en-US" sz="1000"/>
          </a:p>
        </p:txBody>
      </p:sp>
      <p:sp>
        <p:nvSpPr>
          <p:cNvPr id="13" name="Text 11"/>
          <p:cNvSpPr/>
          <p:nvPr/>
        </p:nvSpPr>
        <p:spPr>
          <a:xfrm>
            <a:off x="2532888" y="2743200"/>
            <a:ext cx="1408176" cy="384048"/>
          </a:xfrm>
          <a:prstGeom prst="rect">
            <a:avLst/>
          </a:prstGeom>
          <a:noFill/>
        </p:spPr>
        <p:txBody>
          <a:bodyPr wrap="square" lIns="0" tIns="0" rIns="0" bIns="0" rtlCol="0" anchor="ctr">
            <a:normAutofit/>
          </a:bodyPr>
          <a:lstStyle/>
          <a:p>
            <a:pPr marL="0" indent="0" algn="ctr">
              <a:buNone/>
            </a:pPr>
            <a:r>
              <a:rPr lang="en-US" sz="1400" b="1">
                <a:solidFill>
                  <a:srgbClr val="102A4C"/>
                </a:solidFill>
              </a:rPr>
              <a:t>Risk Prediction</a:t>
            </a:r>
            <a:endParaRPr lang="en-US" sz="1400"/>
          </a:p>
        </p:txBody>
      </p:sp>
      <p:sp>
        <p:nvSpPr>
          <p:cNvPr id="14" name="Text 12"/>
          <p:cNvSpPr/>
          <p:nvPr/>
        </p:nvSpPr>
        <p:spPr>
          <a:xfrm>
            <a:off x="2551176" y="3246120"/>
            <a:ext cx="1371600" cy="566928"/>
          </a:xfrm>
          <a:prstGeom prst="rect">
            <a:avLst/>
          </a:prstGeom>
          <a:noFill/>
        </p:spPr>
        <p:txBody>
          <a:bodyPr wrap="square" lIns="0" tIns="0" rIns="0" bIns="0" rtlCol="0" anchor="ctr">
            <a:normAutofit/>
          </a:bodyPr>
          <a:lstStyle/>
          <a:p>
            <a:pPr marL="0" indent="0" algn="ctr">
              <a:buNone/>
            </a:pPr>
            <a:r>
              <a:rPr lang="en-US" sz="1050">
                <a:solidFill>
                  <a:srgbClr val="66778C"/>
                </a:solidFill>
              </a:rPr>
              <a:t>Estimate academic-support risk</a:t>
            </a:r>
            <a:endParaRPr lang="en-US" sz="1050"/>
          </a:p>
        </p:txBody>
      </p:sp>
      <p:sp>
        <p:nvSpPr>
          <p:cNvPr id="15" name="Shape 13"/>
          <p:cNvSpPr/>
          <p:nvPr/>
        </p:nvSpPr>
        <p:spPr>
          <a:xfrm>
            <a:off x="4087368" y="2724912"/>
            <a:ext cx="228600" cy="411480"/>
          </a:xfrm>
          <a:prstGeom prst="chevron">
            <a:avLst/>
          </a:prstGeom>
          <a:solidFill>
            <a:srgbClr val="9BB0C8"/>
          </a:solidFill>
          <a:ln w="12700">
            <a:solidFill>
              <a:srgbClr val="9BB0C8"/>
            </a:solidFill>
            <a:prstDash val="solid"/>
          </a:ln>
        </p:spPr>
        <p:txBody>
          <a:bodyPr/>
          <a:lstStyle/>
          <a:p>
            <a:endParaRPr lang="en-US"/>
          </a:p>
        </p:txBody>
      </p:sp>
      <p:sp>
        <p:nvSpPr>
          <p:cNvPr id="16" name="Shape 14"/>
          <p:cNvSpPr/>
          <p:nvPr/>
        </p:nvSpPr>
        <p:spPr>
          <a:xfrm>
            <a:off x="4343400" y="1828800"/>
            <a:ext cx="1627632" cy="2331720"/>
          </a:xfrm>
          <a:prstGeom prst="roundRect">
            <a:avLst>
              <a:gd name="adj" fmla="val 6742"/>
            </a:avLst>
          </a:prstGeom>
          <a:solidFill>
            <a:srgbClr val="E8F8F1"/>
          </a:solidFill>
          <a:ln w="8890">
            <a:solidFill>
              <a:srgbClr val="D3EEE4"/>
            </a:solidFill>
            <a:prstDash val="solid"/>
          </a:ln>
          <a:effectLst>
            <a:outerShdw algn="bl" rotWithShape="0">
              <a:srgbClr val="000000">
                <a:alpha val="0"/>
              </a:srgbClr>
            </a:outerShdw>
          </a:effectLst>
        </p:spPr>
        <p:txBody>
          <a:bodyPr/>
          <a:lstStyle/>
          <a:p>
            <a:endParaRPr lang="en-US"/>
          </a:p>
        </p:txBody>
      </p:sp>
      <p:sp>
        <p:nvSpPr>
          <p:cNvPr id="17" name="Shape 15"/>
          <p:cNvSpPr/>
          <p:nvPr/>
        </p:nvSpPr>
        <p:spPr>
          <a:xfrm>
            <a:off x="4956048" y="2103120"/>
            <a:ext cx="384048" cy="384048"/>
          </a:xfrm>
          <a:prstGeom prst="ellipse">
            <a:avLst/>
          </a:prstGeom>
          <a:solidFill>
            <a:srgbClr val="5D46A8"/>
          </a:solidFill>
          <a:ln w="12700">
            <a:solidFill>
              <a:srgbClr val="5D46A8"/>
            </a:solidFill>
            <a:prstDash val="solid"/>
          </a:ln>
        </p:spPr>
        <p:txBody>
          <a:bodyPr/>
          <a:lstStyle/>
          <a:p>
            <a:endParaRPr lang="en-US"/>
          </a:p>
        </p:txBody>
      </p:sp>
      <p:sp>
        <p:nvSpPr>
          <p:cNvPr id="18" name="Text 16"/>
          <p:cNvSpPr/>
          <p:nvPr/>
        </p:nvSpPr>
        <p:spPr>
          <a:xfrm>
            <a:off x="4974336" y="2185416"/>
            <a:ext cx="347472" cy="155448"/>
          </a:xfrm>
          <a:prstGeom prst="rect">
            <a:avLst/>
          </a:prstGeom>
          <a:noFill/>
        </p:spPr>
        <p:txBody>
          <a:bodyPr wrap="square" lIns="0" tIns="0" rIns="0" bIns="0" rtlCol="0" anchor="ctr"/>
          <a:lstStyle/>
          <a:p>
            <a:pPr marL="0" indent="0" algn="ctr">
              <a:buNone/>
            </a:pPr>
            <a:r>
              <a:rPr lang="en-US" sz="1000" b="1">
                <a:solidFill>
                  <a:srgbClr val="FFFFFF"/>
                </a:solidFill>
              </a:rPr>
              <a:t>3</a:t>
            </a:r>
            <a:endParaRPr lang="en-US" sz="1000"/>
          </a:p>
        </p:txBody>
      </p:sp>
      <p:sp>
        <p:nvSpPr>
          <p:cNvPr id="19" name="Text 17"/>
          <p:cNvSpPr/>
          <p:nvPr/>
        </p:nvSpPr>
        <p:spPr>
          <a:xfrm>
            <a:off x="4453128" y="2743200"/>
            <a:ext cx="1408176" cy="384048"/>
          </a:xfrm>
          <a:prstGeom prst="rect">
            <a:avLst/>
          </a:prstGeom>
          <a:noFill/>
        </p:spPr>
        <p:txBody>
          <a:bodyPr wrap="square" lIns="0" tIns="0" rIns="0" bIns="0" rtlCol="0" anchor="ctr">
            <a:normAutofit/>
          </a:bodyPr>
          <a:lstStyle/>
          <a:p>
            <a:pPr marL="0" indent="0" algn="ctr">
              <a:buNone/>
            </a:pPr>
            <a:r>
              <a:rPr lang="en-US" sz="1400" b="1">
                <a:solidFill>
                  <a:srgbClr val="102A4C"/>
                </a:solidFill>
              </a:rPr>
              <a:t>Explainability</a:t>
            </a:r>
            <a:endParaRPr lang="en-US" sz="1400"/>
          </a:p>
        </p:txBody>
      </p:sp>
      <p:sp>
        <p:nvSpPr>
          <p:cNvPr id="20" name="Text 18"/>
          <p:cNvSpPr/>
          <p:nvPr/>
        </p:nvSpPr>
        <p:spPr>
          <a:xfrm>
            <a:off x="4471416" y="3246120"/>
            <a:ext cx="1371600" cy="566928"/>
          </a:xfrm>
          <a:prstGeom prst="rect">
            <a:avLst/>
          </a:prstGeom>
          <a:noFill/>
        </p:spPr>
        <p:txBody>
          <a:bodyPr wrap="square" lIns="0" tIns="0" rIns="0" bIns="0" rtlCol="0" anchor="ctr">
            <a:normAutofit/>
          </a:bodyPr>
          <a:lstStyle/>
          <a:p>
            <a:pPr marL="0" indent="0" algn="ctr">
              <a:buNone/>
            </a:pPr>
            <a:r>
              <a:rPr lang="en-US" sz="1050">
                <a:solidFill>
                  <a:srgbClr val="66778C"/>
                </a:solidFill>
              </a:rPr>
              <a:t>Show the factors behind the result</a:t>
            </a:r>
            <a:endParaRPr lang="en-US" sz="1050"/>
          </a:p>
        </p:txBody>
      </p:sp>
      <p:sp>
        <p:nvSpPr>
          <p:cNvPr id="21" name="Shape 19"/>
          <p:cNvSpPr/>
          <p:nvPr/>
        </p:nvSpPr>
        <p:spPr>
          <a:xfrm>
            <a:off x="6007608" y="2724912"/>
            <a:ext cx="228600" cy="411480"/>
          </a:xfrm>
          <a:prstGeom prst="chevron">
            <a:avLst/>
          </a:prstGeom>
          <a:solidFill>
            <a:srgbClr val="9BB0C8"/>
          </a:solidFill>
          <a:ln w="12700">
            <a:solidFill>
              <a:srgbClr val="9BB0C8"/>
            </a:solidFill>
            <a:prstDash val="solid"/>
          </a:ln>
        </p:spPr>
        <p:txBody>
          <a:bodyPr/>
          <a:lstStyle/>
          <a:p>
            <a:endParaRPr lang="en-US"/>
          </a:p>
        </p:txBody>
      </p:sp>
      <p:sp>
        <p:nvSpPr>
          <p:cNvPr id="22" name="Shape 20"/>
          <p:cNvSpPr/>
          <p:nvPr/>
        </p:nvSpPr>
        <p:spPr>
          <a:xfrm>
            <a:off x="6263640" y="1828800"/>
            <a:ext cx="1627632" cy="2331720"/>
          </a:xfrm>
          <a:prstGeom prst="roundRect">
            <a:avLst>
              <a:gd name="adj" fmla="val 6742"/>
            </a:avLst>
          </a:prstGeom>
          <a:solidFill>
            <a:srgbClr val="EAF2FF"/>
          </a:solidFill>
          <a:ln w="8890">
            <a:solidFill>
              <a:srgbClr val="D8E7FA"/>
            </a:solidFill>
            <a:prstDash val="solid"/>
          </a:ln>
          <a:effectLst>
            <a:outerShdw algn="bl" rotWithShape="0">
              <a:srgbClr val="000000">
                <a:alpha val="0"/>
              </a:srgbClr>
            </a:outerShdw>
          </a:effectLst>
        </p:spPr>
        <p:txBody>
          <a:bodyPr/>
          <a:lstStyle/>
          <a:p>
            <a:endParaRPr lang="en-US"/>
          </a:p>
        </p:txBody>
      </p:sp>
      <p:sp>
        <p:nvSpPr>
          <p:cNvPr id="23" name="Shape 21"/>
          <p:cNvSpPr/>
          <p:nvPr/>
        </p:nvSpPr>
        <p:spPr>
          <a:xfrm>
            <a:off x="6876288" y="2103120"/>
            <a:ext cx="384048" cy="384048"/>
          </a:xfrm>
          <a:prstGeom prst="ellipse">
            <a:avLst/>
          </a:prstGeom>
          <a:solidFill>
            <a:srgbClr val="0B8F67"/>
          </a:solidFill>
          <a:ln w="12700">
            <a:solidFill>
              <a:srgbClr val="0B8F67"/>
            </a:solidFill>
            <a:prstDash val="solid"/>
          </a:ln>
        </p:spPr>
        <p:txBody>
          <a:bodyPr/>
          <a:lstStyle/>
          <a:p>
            <a:endParaRPr lang="en-US"/>
          </a:p>
        </p:txBody>
      </p:sp>
      <p:sp>
        <p:nvSpPr>
          <p:cNvPr id="24" name="Text 22"/>
          <p:cNvSpPr/>
          <p:nvPr/>
        </p:nvSpPr>
        <p:spPr>
          <a:xfrm>
            <a:off x="6894576" y="2185416"/>
            <a:ext cx="347472" cy="155448"/>
          </a:xfrm>
          <a:prstGeom prst="rect">
            <a:avLst/>
          </a:prstGeom>
          <a:noFill/>
        </p:spPr>
        <p:txBody>
          <a:bodyPr wrap="square" lIns="0" tIns="0" rIns="0" bIns="0" rtlCol="0" anchor="ctr"/>
          <a:lstStyle/>
          <a:p>
            <a:pPr marL="0" indent="0" algn="ctr">
              <a:buNone/>
            </a:pPr>
            <a:r>
              <a:rPr lang="en-US" sz="1000" b="1">
                <a:solidFill>
                  <a:srgbClr val="FFFFFF"/>
                </a:solidFill>
              </a:rPr>
              <a:t>4</a:t>
            </a:r>
            <a:endParaRPr lang="en-US" sz="1000"/>
          </a:p>
        </p:txBody>
      </p:sp>
      <p:sp>
        <p:nvSpPr>
          <p:cNvPr id="25" name="Text 23"/>
          <p:cNvSpPr/>
          <p:nvPr/>
        </p:nvSpPr>
        <p:spPr>
          <a:xfrm>
            <a:off x="6373368" y="2743200"/>
            <a:ext cx="1408176" cy="384048"/>
          </a:xfrm>
          <a:prstGeom prst="rect">
            <a:avLst/>
          </a:prstGeom>
          <a:noFill/>
        </p:spPr>
        <p:txBody>
          <a:bodyPr wrap="square" lIns="0" tIns="0" rIns="0" bIns="0" rtlCol="0" anchor="ctr">
            <a:normAutofit/>
          </a:bodyPr>
          <a:lstStyle/>
          <a:p>
            <a:pPr marL="0" indent="0" algn="ctr">
              <a:buNone/>
            </a:pPr>
            <a:r>
              <a:rPr lang="en-US" sz="1400" b="1">
                <a:solidFill>
                  <a:srgbClr val="102A4C"/>
                </a:solidFill>
              </a:rPr>
              <a:t>Recommendations</a:t>
            </a:r>
            <a:endParaRPr lang="en-US" sz="1400"/>
          </a:p>
        </p:txBody>
      </p:sp>
      <p:sp>
        <p:nvSpPr>
          <p:cNvPr id="26" name="Text 24"/>
          <p:cNvSpPr/>
          <p:nvPr/>
        </p:nvSpPr>
        <p:spPr>
          <a:xfrm>
            <a:off x="6391656" y="3246120"/>
            <a:ext cx="1371600" cy="566928"/>
          </a:xfrm>
          <a:prstGeom prst="rect">
            <a:avLst/>
          </a:prstGeom>
          <a:noFill/>
        </p:spPr>
        <p:txBody>
          <a:bodyPr wrap="square" lIns="0" tIns="0" rIns="0" bIns="0" rtlCol="0" anchor="ctr">
            <a:normAutofit/>
          </a:bodyPr>
          <a:lstStyle/>
          <a:p>
            <a:pPr marL="0" indent="0" algn="ctr">
              <a:buNone/>
            </a:pPr>
            <a:r>
              <a:rPr lang="en-US" sz="1050">
                <a:solidFill>
                  <a:srgbClr val="66778C"/>
                </a:solidFill>
              </a:rPr>
              <a:t>Suggest tutoring, planning or resources</a:t>
            </a:r>
            <a:endParaRPr lang="en-US" sz="1050"/>
          </a:p>
        </p:txBody>
      </p:sp>
      <p:sp>
        <p:nvSpPr>
          <p:cNvPr id="27" name="Shape 25"/>
          <p:cNvSpPr/>
          <p:nvPr/>
        </p:nvSpPr>
        <p:spPr>
          <a:xfrm>
            <a:off x="7927848" y="2724912"/>
            <a:ext cx="228600" cy="411480"/>
          </a:xfrm>
          <a:prstGeom prst="chevron">
            <a:avLst/>
          </a:prstGeom>
          <a:solidFill>
            <a:srgbClr val="9BB0C8"/>
          </a:solidFill>
          <a:ln w="12700">
            <a:solidFill>
              <a:srgbClr val="9BB0C8"/>
            </a:solidFill>
            <a:prstDash val="solid"/>
          </a:ln>
        </p:spPr>
        <p:txBody>
          <a:bodyPr/>
          <a:lstStyle/>
          <a:p>
            <a:endParaRPr lang="en-US"/>
          </a:p>
        </p:txBody>
      </p:sp>
      <p:sp>
        <p:nvSpPr>
          <p:cNvPr id="28" name="Shape 26"/>
          <p:cNvSpPr/>
          <p:nvPr/>
        </p:nvSpPr>
        <p:spPr>
          <a:xfrm>
            <a:off x="8183880" y="1828800"/>
            <a:ext cx="1627632" cy="2331720"/>
          </a:xfrm>
          <a:prstGeom prst="roundRect">
            <a:avLst>
              <a:gd name="adj" fmla="val 6742"/>
            </a:avLst>
          </a:prstGeom>
          <a:solidFill>
            <a:srgbClr val="E8F8F1"/>
          </a:solidFill>
          <a:ln w="8890">
            <a:solidFill>
              <a:srgbClr val="D3EEE4"/>
            </a:solidFill>
            <a:prstDash val="solid"/>
          </a:ln>
          <a:effectLst>
            <a:outerShdw algn="bl" rotWithShape="0">
              <a:srgbClr val="000000">
                <a:alpha val="0"/>
              </a:srgbClr>
            </a:outerShdw>
          </a:effectLst>
        </p:spPr>
        <p:txBody>
          <a:bodyPr/>
          <a:lstStyle/>
          <a:p>
            <a:endParaRPr lang="en-US"/>
          </a:p>
        </p:txBody>
      </p:sp>
      <p:sp>
        <p:nvSpPr>
          <p:cNvPr id="29" name="Shape 27"/>
          <p:cNvSpPr/>
          <p:nvPr/>
        </p:nvSpPr>
        <p:spPr>
          <a:xfrm>
            <a:off x="8796528" y="2103120"/>
            <a:ext cx="384048" cy="384048"/>
          </a:xfrm>
          <a:prstGeom prst="ellipse">
            <a:avLst/>
          </a:prstGeom>
          <a:solidFill>
            <a:srgbClr val="2569B8"/>
          </a:solidFill>
          <a:ln w="12700">
            <a:solidFill>
              <a:srgbClr val="2569B8"/>
            </a:solidFill>
            <a:prstDash val="solid"/>
          </a:ln>
        </p:spPr>
        <p:txBody>
          <a:bodyPr/>
          <a:lstStyle/>
          <a:p>
            <a:endParaRPr lang="en-US"/>
          </a:p>
        </p:txBody>
      </p:sp>
      <p:sp>
        <p:nvSpPr>
          <p:cNvPr id="30" name="Text 28"/>
          <p:cNvSpPr/>
          <p:nvPr/>
        </p:nvSpPr>
        <p:spPr>
          <a:xfrm>
            <a:off x="8814816" y="2185416"/>
            <a:ext cx="347472" cy="155448"/>
          </a:xfrm>
          <a:prstGeom prst="rect">
            <a:avLst/>
          </a:prstGeom>
          <a:noFill/>
        </p:spPr>
        <p:txBody>
          <a:bodyPr wrap="square" lIns="0" tIns="0" rIns="0" bIns="0" rtlCol="0" anchor="ctr"/>
          <a:lstStyle/>
          <a:p>
            <a:pPr marL="0" indent="0" algn="ctr">
              <a:buNone/>
            </a:pPr>
            <a:r>
              <a:rPr lang="en-US" sz="1000" b="1">
                <a:solidFill>
                  <a:srgbClr val="FFFFFF"/>
                </a:solidFill>
              </a:rPr>
              <a:t>5</a:t>
            </a:r>
            <a:endParaRPr lang="en-US" sz="1000"/>
          </a:p>
        </p:txBody>
      </p:sp>
      <p:sp>
        <p:nvSpPr>
          <p:cNvPr id="31" name="Text 29"/>
          <p:cNvSpPr/>
          <p:nvPr/>
        </p:nvSpPr>
        <p:spPr>
          <a:xfrm>
            <a:off x="8293608" y="2743200"/>
            <a:ext cx="1408176" cy="384048"/>
          </a:xfrm>
          <a:prstGeom prst="rect">
            <a:avLst/>
          </a:prstGeom>
          <a:noFill/>
        </p:spPr>
        <p:txBody>
          <a:bodyPr wrap="square" lIns="0" tIns="0" rIns="0" bIns="0" rtlCol="0" anchor="ctr">
            <a:normAutofit fontScale="92500" lnSpcReduction="10000"/>
          </a:bodyPr>
          <a:lstStyle/>
          <a:p>
            <a:pPr marL="0" indent="0" algn="ctr">
              <a:buNone/>
            </a:pPr>
            <a:r>
              <a:rPr lang="en-US" sz="1400" b="1">
                <a:solidFill>
                  <a:srgbClr val="102A4C"/>
                </a:solidFill>
              </a:rPr>
              <a:t>Advisor + AI Support</a:t>
            </a:r>
            <a:endParaRPr lang="en-US" sz="1400"/>
          </a:p>
        </p:txBody>
      </p:sp>
      <p:sp>
        <p:nvSpPr>
          <p:cNvPr id="32" name="Text 30"/>
          <p:cNvSpPr/>
          <p:nvPr/>
        </p:nvSpPr>
        <p:spPr>
          <a:xfrm>
            <a:off x="8311896" y="3246120"/>
            <a:ext cx="1371600" cy="566928"/>
          </a:xfrm>
          <a:prstGeom prst="rect">
            <a:avLst/>
          </a:prstGeom>
          <a:noFill/>
        </p:spPr>
        <p:txBody>
          <a:bodyPr wrap="square" lIns="0" tIns="0" rIns="0" bIns="0" rtlCol="0" anchor="ctr">
            <a:normAutofit/>
          </a:bodyPr>
          <a:lstStyle/>
          <a:p>
            <a:pPr marL="0" indent="0" algn="ctr">
              <a:buNone/>
            </a:pPr>
            <a:r>
              <a:rPr lang="en-US" sz="1050">
                <a:solidFill>
                  <a:srgbClr val="66778C"/>
                </a:solidFill>
              </a:rPr>
              <a:t>Human intervention + conversational guidance</a:t>
            </a:r>
            <a:endParaRPr lang="en-US" sz="1050"/>
          </a:p>
        </p:txBody>
      </p:sp>
      <p:sp>
        <p:nvSpPr>
          <p:cNvPr id="33" name="Shape 31"/>
          <p:cNvSpPr/>
          <p:nvPr/>
        </p:nvSpPr>
        <p:spPr>
          <a:xfrm>
            <a:off x="9848088" y="2724912"/>
            <a:ext cx="228600" cy="411480"/>
          </a:xfrm>
          <a:prstGeom prst="chevron">
            <a:avLst/>
          </a:prstGeom>
          <a:solidFill>
            <a:srgbClr val="9BB0C8"/>
          </a:solidFill>
          <a:ln w="12700">
            <a:solidFill>
              <a:srgbClr val="9BB0C8"/>
            </a:solidFill>
            <a:prstDash val="solid"/>
          </a:ln>
        </p:spPr>
        <p:txBody>
          <a:bodyPr/>
          <a:lstStyle/>
          <a:p>
            <a:endParaRPr lang="en-US"/>
          </a:p>
        </p:txBody>
      </p:sp>
      <p:sp>
        <p:nvSpPr>
          <p:cNvPr id="34" name="Shape 32"/>
          <p:cNvSpPr/>
          <p:nvPr/>
        </p:nvSpPr>
        <p:spPr>
          <a:xfrm>
            <a:off x="10104120" y="1828800"/>
            <a:ext cx="1627632" cy="2331720"/>
          </a:xfrm>
          <a:prstGeom prst="roundRect">
            <a:avLst>
              <a:gd name="adj" fmla="val 6742"/>
            </a:avLst>
          </a:prstGeom>
          <a:solidFill>
            <a:srgbClr val="EAF2FF"/>
          </a:solidFill>
          <a:ln w="8890">
            <a:solidFill>
              <a:srgbClr val="D8E7FA"/>
            </a:solidFill>
            <a:prstDash val="solid"/>
          </a:ln>
          <a:effectLst>
            <a:outerShdw algn="bl" rotWithShape="0">
              <a:srgbClr val="000000">
                <a:alpha val="0"/>
              </a:srgbClr>
            </a:outerShdw>
          </a:effectLst>
        </p:spPr>
        <p:txBody>
          <a:bodyPr/>
          <a:lstStyle/>
          <a:p>
            <a:endParaRPr lang="en-US"/>
          </a:p>
        </p:txBody>
      </p:sp>
      <p:sp>
        <p:nvSpPr>
          <p:cNvPr id="35" name="Shape 33"/>
          <p:cNvSpPr/>
          <p:nvPr/>
        </p:nvSpPr>
        <p:spPr>
          <a:xfrm>
            <a:off x="10716768" y="2103120"/>
            <a:ext cx="384048" cy="384048"/>
          </a:xfrm>
          <a:prstGeom prst="ellipse">
            <a:avLst/>
          </a:prstGeom>
          <a:solidFill>
            <a:srgbClr val="5D46A8"/>
          </a:solidFill>
          <a:ln w="12700">
            <a:solidFill>
              <a:srgbClr val="5D46A8"/>
            </a:solidFill>
            <a:prstDash val="solid"/>
          </a:ln>
        </p:spPr>
        <p:txBody>
          <a:bodyPr/>
          <a:lstStyle/>
          <a:p>
            <a:endParaRPr lang="en-US"/>
          </a:p>
        </p:txBody>
      </p:sp>
      <p:sp>
        <p:nvSpPr>
          <p:cNvPr id="36" name="Text 34"/>
          <p:cNvSpPr/>
          <p:nvPr/>
        </p:nvSpPr>
        <p:spPr>
          <a:xfrm>
            <a:off x="10735056" y="2185416"/>
            <a:ext cx="347472" cy="155448"/>
          </a:xfrm>
          <a:prstGeom prst="rect">
            <a:avLst/>
          </a:prstGeom>
          <a:noFill/>
        </p:spPr>
        <p:txBody>
          <a:bodyPr wrap="square" lIns="0" tIns="0" rIns="0" bIns="0" rtlCol="0" anchor="ctr"/>
          <a:lstStyle/>
          <a:p>
            <a:pPr marL="0" indent="0" algn="ctr">
              <a:buNone/>
            </a:pPr>
            <a:r>
              <a:rPr lang="en-US" sz="1000" b="1">
                <a:solidFill>
                  <a:srgbClr val="FFFFFF"/>
                </a:solidFill>
              </a:rPr>
              <a:t>6</a:t>
            </a:r>
            <a:endParaRPr lang="en-US" sz="1000"/>
          </a:p>
        </p:txBody>
      </p:sp>
      <p:sp>
        <p:nvSpPr>
          <p:cNvPr id="37" name="Text 35"/>
          <p:cNvSpPr/>
          <p:nvPr/>
        </p:nvSpPr>
        <p:spPr>
          <a:xfrm>
            <a:off x="10213848" y="2743200"/>
            <a:ext cx="1408176" cy="384048"/>
          </a:xfrm>
          <a:prstGeom prst="rect">
            <a:avLst/>
          </a:prstGeom>
          <a:noFill/>
        </p:spPr>
        <p:txBody>
          <a:bodyPr wrap="square" lIns="0" tIns="0" rIns="0" bIns="0" rtlCol="0" anchor="ctr">
            <a:normAutofit/>
          </a:bodyPr>
          <a:lstStyle/>
          <a:p>
            <a:pPr marL="0" indent="0" algn="ctr">
              <a:buNone/>
            </a:pPr>
            <a:r>
              <a:rPr lang="en-US" sz="1400" b="1">
                <a:solidFill>
                  <a:srgbClr val="102A4C"/>
                </a:solidFill>
              </a:rPr>
              <a:t>Progress</a:t>
            </a:r>
            <a:endParaRPr lang="en-US" sz="1400"/>
          </a:p>
        </p:txBody>
      </p:sp>
      <p:sp>
        <p:nvSpPr>
          <p:cNvPr id="38" name="Text 36"/>
          <p:cNvSpPr/>
          <p:nvPr/>
        </p:nvSpPr>
        <p:spPr>
          <a:xfrm>
            <a:off x="10232136" y="3246120"/>
            <a:ext cx="1371600" cy="566928"/>
          </a:xfrm>
          <a:prstGeom prst="rect">
            <a:avLst/>
          </a:prstGeom>
          <a:noFill/>
        </p:spPr>
        <p:txBody>
          <a:bodyPr wrap="square" lIns="0" tIns="0" rIns="0" bIns="0" rtlCol="0" anchor="ctr">
            <a:normAutofit/>
          </a:bodyPr>
          <a:lstStyle/>
          <a:p>
            <a:pPr marL="0" indent="0" algn="ctr">
              <a:buNone/>
            </a:pPr>
            <a:r>
              <a:rPr lang="en-US" sz="1050">
                <a:solidFill>
                  <a:srgbClr val="66778C"/>
                </a:solidFill>
              </a:rPr>
              <a:t>Track follow-up and outcomes</a:t>
            </a:r>
            <a:endParaRPr lang="en-US" sz="1050"/>
          </a:p>
        </p:txBody>
      </p:sp>
      <p:sp>
        <p:nvSpPr>
          <p:cNvPr id="39" name="Text 37"/>
          <p:cNvSpPr/>
          <p:nvPr/>
        </p:nvSpPr>
        <p:spPr>
          <a:xfrm>
            <a:off x="1965960" y="4846320"/>
            <a:ext cx="8229600" cy="594360"/>
          </a:xfrm>
          <a:prstGeom prst="rect">
            <a:avLst/>
          </a:prstGeom>
          <a:noFill/>
        </p:spPr>
        <p:txBody>
          <a:bodyPr wrap="square" lIns="0" tIns="0" rIns="0" bIns="0" rtlCol="0" anchor="ctr"/>
          <a:lstStyle/>
          <a:p>
            <a:pPr marL="0" indent="0" algn="ctr">
              <a:buNone/>
            </a:pPr>
            <a:endParaRPr lang="en-US" sz="1700"/>
          </a:p>
        </p:txBody>
      </p:sp>
    </p:spTree>
  </p:cSld>
  <p:clrMapOvr>
    <a:masterClrMapping/>
  </p:clrMapOvr>
  <mc:AlternateContent xmlns:mc="http://schemas.openxmlformats.org/markup-compatibility/2006" xmlns:p14="http://schemas.microsoft.com/office/powerpoint/2010/main">
    <mc:Choice Requires="p14">
      <p:transition spd="slow" p14:dur="2000" advTm="83001"/>
    </mc:Choice>
    <mc:Fallback xmlns="">
      <p:transition spd="slow" advTm="830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PRODUCT DEFINITION</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Product, personas &amp; MVP</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Academic records become a usable foundation for student and advisor decisions.</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t>04</a:t>
            </a:r>
          </a:p>
        </p:txBody>
      </p:sp>
      <p:sp>
        <p:nvSpPr>
          <p:cNvPr id="9" name="Rounded Rectangle 8"/>
          <p:cNvSpPr/>
          <p:nvPr/>
        </p:nvSpPr>
        <p:spPr>
          <a:xfrm>
            <a:off x="640080" y="1432305"/>
            <a:ext cx="3611880" cy="3019294"/>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28802"/>
            <a:ext cx="50045" cy="231058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43587" y="1653540"/>
            <a:ext cx="2150461" cy="33086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STUDENT</a:t>
            </a:r>
            <a:r>
              <a:rPr lang="en-US" dirty="0"/>
              <a:t> </a:t>
            </a:r>
            <a:r>
              <a:rPr lang="en-US" sz="1000" dirty="0"/>
              <a:t>(</a:t>
            </a:r>
            <a:r>
              <a:rPr lang="en-IN" sz="1000" b="1" dirty="0">
                <a:solidFill>
                  <a:srgbClr val="133458"/>
                </a:solidFill>
                <a:latin typeface="Aptos"/>
              </a:rPr>
              <a:t>Lucas Vance, </a:t>
            </a:r>
            <a:r>
              <a:rPr lang="en-IN" sz="1000" dirty="0">
                <a:solidFill>
                  <a:srgbClr val="133458"/>
                </a:solidFill>
                <a:latin typeface="Aptos"/>
              </a:rPr>
              <a:t>20y</a:t>
            </a:r>
            <a:r>
              <a:rPr lang="en-US" sz="1000" dirty="0"/>
              <a:t>)</a:t>
            </a:r>
            <a:endParaRPr sz="1000" dirty="0"/>
          </a:p>
        </p:txBody>
      </p:sp>
      <p:sp>
        <p:nvSpPr>
          <p:cNvPr id="13" name="Rounded Rectangle 12"/>
          <p:cNvSpPr/>
          <p:nvPr/>
        </p:nvSpPr>
        <p:spPr>
          <a:xfrm>
            <a:off x="4480560" y="1432305"/>
            <a:ext cx="3611880" cy="3057399"/>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14" name="Rectangle 13"/>
          <p:cNvSpPr/>
          <p:nvPr/>
        </p:nvSpPr>
        <p:spPr>
          <a:xfrm>
            <a:off x="4480560" y="1828801"/>
            <a:ext cx="50046" cy="2231922"/>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75018" y="1694978"/>
            <a:ext cx="2153413" cy="484748"/>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ADVISOR</a:t>
            </a:r>
            <a:r>
              <a:rPr lang="en-US" dirty="0"/>
              <a:t> </a:t>
            </a:r>
            <a:r>
              <a:rPr lang="en-US" sz="1000" dirty="0"/>
              <a:t>(</a:t>
            </a:r>
            <a:r>
              <a:rPr lang="en-IN" sz="1000" b="1" dirty="0">
                <a:solidFill>
                  <a:srgbClr val="133458"/>
                </a:solidFill>
                <a:latin typeface="Aptos"/>
              </a:rPr>
              <a:t>Elena Sterling </a:t>
            </a:r>
            <a:r>
              <a:rPr lang="en-IN" sz="1000" dirty="0">
                <a:solidFill>
                  <a:srgbClr val="133458"/>
                </a:solidFill>
                <a:latin typeface="Aptos"/>
              </a:rPr>
              <a:t>Academic Advisor, 38y</a:t>
            </a:r>
            <a:r>
              <a:rPr lang="en-US" sz="1000" dirty="0"/>
              <a:t>)</a:t>
            </a:r>
            <a:endParaRPr sz="1000" dirty="0"/>
          </a:p>
        </p:txBody>
      </p:sp>
      <p:sp>
        <p:nvSpPr>
          <p:cNvPr id="17" name="Rounded Rectangle 16"/>
          <p:cNvSpPr/>
          <p:nvPr/>
        </p:nvSpPr>
        <p:spPr>
          <a:xfrm>
            <a:off x="8321040" y="1432305"/>
            <a:ext cx="3611880" cy="3019293"/>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321039" y="1682496"/>
            <a:ext cx="82295" cy="2378226"/>
          </a:xfrm>
          <a:prstGeom prst="rect">
            <a:avLst/>
          </a:prstGeom>
          <a:solidFill>
            <a:srgbClr val="ED9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76461" y="1694978"/>
            <a:ext cx="1984247" cy="548868"/>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ADMINISTRATOR</a:t>
            </a:r>
            <a:r>
              <a:rPr lang="en-US" sz="1000" dirty="0"/>
              <a:t> </a:t>
            </a:r>
          </a:p>
          <a:p>
            <a:pPr>
              <a:spcAft>
                <a:spcPts val="500"/>
              </a:spcAft>
              <a:defRPr sz="1700" b="1">
                <a:solidFill>
                  <a:srgbClr val="133458"/>
                </a:solidFill>
                <a:latin typeface="Aptos"/>
              </a:defRPr>
            </a:pPr>
            <a:r>
              <a:rPr lang="en-US" sz="1000" dirty="0"/>
              <a:t>(</a:t>
            </a:r>
            <a:r>
              <a:rPr lang="en-IN" sz="1000" b="1" dirty="0">
                <a:solidFill>
                  <a:srgbClr val="133458"/>
                </a:solidFill>
                <a:latin typeface="Aptos"/>
              </a:rPr>
              <a:t>Leo Mercer </a:t>
            </a:r>
            <a:r>
              <a:rPr lang="en-IN" sz="1000" dirty="0">
                <a:solidFill>
                  <a:srgbClr val="133458"/>
                </a:solidFill>
                <a:latin typeface="Aptos"/>
              </a:rPr>
              <a:t>Administrator, 45</a:t>
            </a:r>
            <a:r>
              <a:rPr lang="en-US" sz="1000" dirty="0"/>
              <a:t>)</a:t>
            </a:r>
            <a:endParaRPr sz="1000" dirty="0"/>
          </a:p>
        </p:txBody>
      </p:sp>
      <p:sp>
        <p:nvSpPr>
          <p:cNvPr id="21" name="TextBox 20"/>
          <p:cNvSpPr txBox="1"/>
          <p:nvPr/>
        </p:nvSpPr>
        <p:spPr>
          <a:xfrm>
            <a:off x="731520" y="4572000"/>
            <a:ext cx="10515600" cy="384048"/>
          </a:xfrm>
          <a:prstGeom prst="rect">
            <a:avLst/>
          </a:prstGeom>
          <a:noFill/>
        </p:spPr>
        <p:txBody>
          <a:bodyPr wrap="square" lIns="36576" tIns="22860" rIns="36576">
            <a:spAutoFit/>
          </a:bodyPr>
          <a:lstStyle/>
          <a:p>
            <a:pPr>
              <a:spcAft>
                <a:spcPts val="500"/>
              </a:spcAft>
              <a:defRPr sz="2000" b="1">
                <a:solidFill>
                  <a:srgbClr val="133458"/>
                </a:solidFill>
                <a:latin typeface="Aptos"/>
              </a:defRPr>
            </a:pPr>
            <a:r>
              <a:rPr dirty="0"/>
              <a:t>Sprint 1 usable slice</a:t>
            </a:r>
          </a:p>
        </p:txBody>
      </p:sp>
      <p:sp>
        <p:nvSpPr>
          <p:cNvPr id="22" name="Rounded Rectangle 21"/>
          <p:cNvSpPr/>
          <p:nvPr/>
        </p:nvSpPr>
        <p:spPr>
          <a:xfrm>
            <a:off x="731520" y="5138928"/>
            <a:ext cx="2514600" cy="77724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5349240"/>
            <a:ext cx="2331720" cy="320040"/>
          </a:xfrm>
          <a:prstGeom prst="rect">
            <a:avLst/>
          </a:prstGeom>
          <a:noFill/>
        </p:spPr>
        <p:txBody>
          <a:bodyPr wrap="square" lIns="36576" tIns="22860" rIns="36576">
            <a:spAutoFit/>
          </a:bodyPr>
          <a:lstStyle/>
          <a:p>
            <a:pPr algn="ctr">
              <a:spcAft>
                <a:spcPts val="500"/>
              </a:spcAft>
              <a:defRPr sz="1500" b="1">
                <a:solidFill>
                  <a:srgbClr val="133458"/>
                </a:solidFill>
                <a:latin typeface="Aptos"/>
              </a:defRPr>
            </a:pPr>
            <a:r>
              <a:t>Sign in / roles</a:t>
            </a:r>
          </a:p>
        </p:txBody>
      </p:sp>
      <p:sp>
        <p:nvSpPr>
          <p:cNvPr id="24" name="TextBox 23"/>
          <p:cNvSpPr txBox="1"/>
          <p:nvPr/>
        </p:nvSpPr>
        <p:spPr>
          <a:xfrm>
            <a:off x="3291839" y="5358384"/>
            <a:ext cx="292608" cy="320040"/>
          </a:xfrm>
          <a:prstGeom prst="rect">
            <a:avLst/>
          </a:prstGeom>
          <a:noFill/>
        </p:spPr>
        <p:txBody>
          <a:bodyPr wrap="square" lIns="36576" tIns="22860" rIns="36576">
            <a:spAutoFit/>
          </a:bodyPr>
          <a:lstStyle/>
          <a:p>
            <a:pPr>
              <a:spcAft>
                <a:spcPts val="500"/>
              </a:spcAft>
              <a:defRPr sz="1900" b="1">
                <a:solidFill>
                  <a:srgbClr val="2BABAC"/>
                </a:solidFill>
                <a:latin typeface="Aptos"/>
              </a:defRPr>
            </a:pPr>
            <a:r>
              <a:t>→</a:t>
            </a:r>
          </a:p>
        </p:txBody>
      </p:sp>
      <p:sp>
        <p:nvSpPr>
          <p:cNvPr id="25" name="Rounded Rectangle 24"/>
          <p:cNvSpPr/>
          <p:nvPr/>
        </p:nvSpPr>
        <p:spPr>
          <a:xfrm>
            <a:off x="3611880" y="5138928"/>
            <a:ext cx="2514600" cy="77724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703320" y="5349240"/>
            <a:ext cx="2331720" cy="320040"/>
          </a:xfrm>
          <a:prstGeom prst="rect">
            <a:avLst/>
          </a:prstGeom>
          <a:noFill/>
        </p:spPr>
        <p:txBody>
          <a:bodyPr wrap="square" lIns="36576" tIns="22860" rIns="36576">
            <a:spAutoFit/>
          </a:bodyPr>
          <a:lstStyle/>
          <a:p>
            <a:pPr algn="ctr">
              <a:spcAft>
                <a:spcPts val="500"/>
              </a:spcAft>
              <a:defRPr sz="1500" b="1">
                <a:solidFill>
                  <a:srgbClr val="133458"/>
                </a:solidFill>
                <a:latin typeface="Aptos"/>
              </a:defRPr>
            </a:pPr>
            <a:r>
              <a:t>Academic records</a:t>
            </a:r>
          </a:p>
        </p:txBody>
      </p:sp>
      <p:sp>
        <p:nvSpPr>
          <p:cNvPr id="27" name="TextBox 26"/>
          <p:cNvSpPr txBox="1"/>
          <p:nvPr/>
        </p:nvSpPr>
        <p:spPr>
          <a:xfrm>
            <a:off x="6172200" y="5358384"/>
            <a:ext cx="292608" cy="320040"/>
          </a:xfrm>
          <a:prstGeom prst="rect">
            <a:avLst/>
          </a:prstGeom>
          <a:noFill/>
        </p:spPr>
        <p:txBody>
          <a:bodyPr wrap="square" lIns="36576" tIns="22860" rIns="36576">
            <a:spAutoFit/>
          </a:bodyPr>
          <a:lstStyle/>
          <a:p>
            <a:pPr>
              <a:spcAft>
                <a:spcPts val="500"/>
              </a:spcAft>
              <a:defRPr sz="1900" b="1">
                <a:solidFill>
                  <a:srgbClr val="2BABAC"/>
                </a:solidFill>
                <a:latin typeface="Aptos"/>
              </a:defRPr>
            </a:pPr>
            <a:r>
              <a:t>→</a:t>
            </a:r>
          </a:p>
        </p:txBody>
      </p:sp>
      <p:sp>
        <p:nvSpPr>
          <p:cNvPr id="28" name="Rounded Rectangle 27"/>
          <p:cNvSpPr/>
          <p:nvPr/>
        </p:nvSpPr>
        <p:spPr>
          <a:xfrm>
            <a:off x="6492240" y="5138928"/>
            <a:ext cx="2514600" cy="77724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79" y="5349240"/>
            <a:ext cx="2331720" cy="300082"/>
          </a:xfrm>
          <a:prstGeom prst="rect">
            <a:avLst/>
          </a:prstGeom>
          <a:noFill/>
        </p:spPr>
        <p:txBody>
          <a:bodyPr wrap="square" lIns="36576" tIns="22860" rIns="36576">
            <a:spAutoFit/>
          </a:bodyPr>
          <a:lstStyle/>
          <a:p>
            <a:pPr algn="ctr">
              <a:spcAft>
                <a:spcPts val="500"/>
              </a:spcAft>
              <a:defRPr sz="1500" b="1">
                <a:solidFill>
                  <a:srgbClr val="133458"/>
                </a:solidFill>
                <a:latin typeface="Aptos"/>
              </a:defRPr>
            </a:pPr>
            <a:r>
              <a:rPr lang="en-US" dirty="0"/>
              <a:t>Admin</a:t>
            </a:r>
            <a:r>
              <a:rPr dirty="0"/>
              <a:t> profile</a:t>
            </a:r>
          </a:p>
        </p:txBody>
      </p:sp>
      <p:sp>
        <p:nvSpPr>
          <p:cNvPr id="30" name="TextBox 29"/>
          <p:cNvSpPr txBox="1"/>
          <p:nvPr/>
        </p:nvSpPr>
        <p:spPr>
          <a:xfrm>
            <a:off x="9052559" y="5358384"/>
            <a:ext cx="292608" cy="320040"/>
          </a:xfrm>
          <a:prstGeom prst="rect">
            <a:avLst/>
          </a:prstGeom>
          <a:noFill/>
        </p:spPr>
        <p:txBody>
          <a:bodyPr wrap="square" lIns="36576" tIns="22860" rIns="36576">
            <a:spAutoFit/>
          </a:bodyPr>
          <a:lstStyle/>
          <a:p>
            <a:pPr>
              <a:spcAft>
                <a:spcPts val="500"/>
              </a:spcAft>
              <a:defRPr sz="1900" b="1">
                <a:solidFill>
                  <a:srgbClr val="2BABAC"/>
                </a:solidFill>
                <a:latin typeface="Aptos"/>
              </a:defRPr>
            </a:pPr>
            <a:r>
              <a:t>→</a:t>
            </a:r>
          </a:p>
        </p:txBody>
      </p:sp>
      <p:sp>
        <p:nvSpPr>
          <p:cNvPr id="31" name="Rounded Rectangle 30"/>
          <p:cNvSpPr/>
          <p:nvPr/>
        </p:nvSpPr>
        <p:spPr>
          <a:xfrm>
            <a:off x="9372600" y="5138928"/>
            <a:ext cx="2514600" cy="77724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64040" y="5349240"/>
            <a:ext cx="2331720" cy="300082"/>
          </a:xfrm>
          <a:prstGeom prst="rect">
            <a:avLst/>
          </a:prstGeom>
          <a:noFill/>
        </p:spPr>
        <p:txBody>
          <a:bodyPr wrap="square" lIns="36576" tIns="22860" rIns="36576">
            <a:spAutoFit/>
          </a:bodyPr>
          <a:lstStyle/>
          <a:p>
            <a:pPr algn="ctr">
              <a:spcAft>
                <a:spcPts val="500"/>
              </a:spcAft>
              <a:defRPr sz="1500" b="1">
                <a:solidFill>
                  <a:srgbClr val="133458"/>
                </a:solidFill>
                <a:latin typeface="Aptos"/>
              </a:defRPr>
            </a:pPr>
            <a:r>
              <a:rPr lang="en-US" dirty="0"/>
              <a:t>Student Profile</a:t>
            </a:r>
            <a:endParaRPr dirty="0"/>
          </a:p>
        </p:txBody>
      </p:sp>
      <p:sp>
        <p:nvSpPr>
          <p:cNvPr id="33" name="TextBox 32"/>
          <p:cNvSpPr txBox="1"/>
          <p:nvPr/>
        </p:nvSpPr>
        <p:spPr>
          <a:xfrm>
            <a:off x="795527" y="6096290"/>
            <a:ext cx="10698480" cy="284693"/>
          </a:xfrm>
          <a:prstGeom prst="rect">
            <a:avLst/>
          </a:prstGeom>
          <a:noFill/>
        </p:spPr>
        <p:txBody>
          <a:bodyPr wrap="square" lIns="36576" tIns="22860" rIns="36576">
            <a:spAutoFit/>
          </a:bodyPr>
          <a:lstStyle/>
          <a:p>
            <a:pPr>
              <a:spcAft>
                <a:spcPts val="500"/>
              </a:spcAft>
              <a:defRPr sz="1400" b="0">
                <a:solidFill>
                  <a:srgbClr val="596F83"/>
                </a:solidFill>
                <a:latin typeface="Aptos"/>
              </a:defRPr>
            </a:pPr>
            <a:r>
              <a:rPr dirty="0"/>
              <a:t>Later increments: </a:t>
            </a:r>
            <a:r>
              <a:rPr lang="en-US" dirty="0"/>
              <a:t>Advisor Profile </a:t>
            </a:r>
            <a:r>
              <a:rPr dirty="0"/>
              <a:t>, predictive risk, SHAP explanations and RAG-supported advising.</a:t>
            </a:r>
          </a:p>
        </p:txBody>
      </p:sp>
      <p:sp>
        <p:nvSpPr>
          <p:cNvPr id="34" name="Rectangle 33">
            <a:extLst>
              <a:ext uri="{FF2B5EF4-FFF2-40B4-BE49-F238E27FC236}">
                <a16:creationId xmlns:a16="http://schemas.microsoft.com/office/drawing/2014/main" id="{9F42CE22-40F9-BC1D-C3BD-62663F2962CC}"/>
              </a:ext>
            </a:extLst>
          </p:cNvPr>
          <p:cNvSpPr/>
          <p:nvPr/>
        </p:nvSpPr>
        <p:spPr>
          <a:xfrm>
            <a:off x="808998" y="1653250"/>
            <a:ext cx="1134004" cy="966506"/>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55301A1F-85A0-C7F1-8077-B31C883EAF17}"/>
              </a:ext>
            </a:extLst>
          </p:cNvPr>
          <p:cNvSpPr/>
          <p:nvPr/>
        </p:nvSpPr>
        <p:spPr>
          <a:xfrm>
            <a:off x="8555589" y="1688882"/>
            <a:ext cx="1134004" cy="966506"/>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38" name="Rectangle 37">
            <a:extLst>
              <a:ext uri="{FF2B5EF4-FFF2-40B4-BE49-F238E27FC236}">
                <a16:creationId xmlns:a16="http://schemas.microsoft.com/office/drawing/2014/main" id="{8BF9EF02-5098-82D6-1064-EAF75E4AC684}"/>
              </a:ext>
            </a:extLst>
          </p:cNvPr>
          <p:cNvSpPr/>
          <p:nvPr/>
        </p:nvSpPr>
        <p:spPr>
          <a:xfrm>
            <a:off x="4667621" y="1688882"/>
            <a:ext cx="1134004" cy="966506"/>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A2B448CA-8C6F-1AA7-0818-E4AAD2559583}"/>
              </a:ext>
            </a:extLst>
          </p:cNvPr>
          <p:cNvSpPr txBox="1"/>
          <p:nvPr/>
        </p:nvSpPr>
        <p:spPr>
          <a:xfrm>
            <a:off x="2039996" y="1984400"/>
            <a:ext cx="2313432" cy="469359"/>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lang="en-IN" sz="1300" i="1" dirty="0">
                <a:solidFill>
                  <a:srgbClr val="596F83"/>
                </a:solidFill>
                <a:latin typeface="Aptos"/>
              </a:rPr>
              <a:t>"I want to stay on track and reach my goals."</a:t>
            </a:r>
            <a:endParaRPr dirty="0"/>
          </a:p>
        </p:txBody>
      </p:sp>
      <p:sp>
        <p:nvSpPr>
          <p:cNvPr id="42" name="TextBox 41">
            <a:extLst>
              <a:ext uri="{FF2B5EF4-FFF2-40B4-BE49-F238E27FC236}">
                <a16:creationId xmlns:a16="http://schemas.microsoft.com/office/drawing/2014/main" id="{F3981A10-AC4E-596E-88D2-81290D19EADB}"/>
              </a:ext>
            </a:extLst>
          </p:cNvPr>
          <p:cNvSpPr txBox="1"/>
          <p:nvPr/>
        </p:nvSpPr>
        <p:spPr>
          <a:xfrm>
            <a:off x="5880476" y="2152363"/>
            <a:ext cx="2313432" cy="469359"/>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lang="en-IN" sz="1300" i="1" dirty="0">
                <a:solidFill>
                  <a:srgbClr val="596F83"/>
                </a:solidFill>
                <a:latin typeface="Aptos"/>
              </a:rPr>
              <a:t>"I want to support my students before they fall behind."</a:t>
            </a:r>
            <a:endParaRPr dirty="0"/>
          </a:p>
        </p:txBody>
      </p:sp>
      <p:sp>
        <p:nvSpPr>
          <p:cNvPr id="44" name="TextBox 43">
            <a:extLst>
              <a:ext uri="{FF2B5EF4-FFF2-40B4-BE49-F238E27FC236}">
                <a16:creationId xmlns:a16="http://schemas.microsoft.com/office/drawing/2014/main" id="{DEAE0B2D-1D89-15CD-C2E0-B5716C8095B5}"/>
              </a:ext>
            </a:extLst>
          </p:cNvPr>
          <p:cNvSpPr txBox="1"/>
          <p:nvPr/>
        </p:nvSpPr>
        <p:spPr>
          <a:xfrm>
            <a:off x="9771743" y="2202195"/>
            <a:ext cx="2313432" cy="669414"/>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lang="en-IN" sz="1300" i="1" dirty="0">
                <a:solidFill>
                  <a:srgbClr val="596F83"/>
                </a:solidFill>
                <a:latin typeface="Aptos"/>
              </a:rPr>
              <a:t>"I want a safe, reliable system that improves student outcomes."</a:t>
            </a:r>
            <a:endParaRPr dirty="0"/>
          </a:p>
        </p:txBody>
      </p:sp>
      <p:sp>
        <p:nvSpPr>
          <p:cNvPr id="48" name="TextBox 47">
            <a:extLst>
              <a:ext uri="{FF2B5EF4-FFF2-40B4-BE49-F238E27FC236}">
                <a16:creationId xmlns:a16="http://schemas.microsoft.com/office/drawing/2014/main" id="{02EC93DF-A8A1-1FB3-1586-1CE6E2B6D8AB}"/>
              </a:ext>
            </a:extLst>
          </p:cNvPr>
          <p:cNvSpPr txBox="1"/>
          <p:nvPr/>
        </p:nvSpPr>
        <p:spPr>
          <a:xfrm>
            <a:off x="808998" y="3022092"/>
            <a:ext cx="3316671" cy="692497"/>
          </a:xfrm>
          <a:prstGeom prst="rect">
            <a:avLst/>
          </a:prstGeom>
          <a:noFill/>
        </p:spPr>
        <p:txBody>
          <a:bodyPr wrap="square">
            <a:spAutoFit/>
          </a:bodyPr>
          <a:lstStyle/>
          <a:p>
            <a:r>
              <a:rPr lang="en-IN" sz="1300" i="1" dirty="0">
                <a:solidFill>
                  <a:srgbClr val="596F83"/>
                </a:solidFill>
                <a:latin typeface="Aptos"/>
              </a:rPr>
              <a:t>• Fragmented academic information</a:t>
            </a:r>
            <a:br>
              <a:rPr lang="en-IN" sz="1300" i="1" dirty="0">
                <a:solidFill>
                  <a:srgbClr val="596F83"/>
                </a:solidFill>
                <a:latin typeface="Aptos"/>
              </a:rPr>
            </a:br>
            <a:r>
              <a:rPr lang="en-IN" sz="1300" i="1" dirty="0">
                <a:solidFill>
                  <a:srgbClr val="596F83"/>
                </a:solidFill>
                <a:latin typeface="Aptos"/>
              </a:rPr>
              <a:t>• Late awareness of declining performance</a:t>
            </a:r>
            <a:br>
              <a:rPr lang="en-IN" sz="1300" i="1" dirty="0">
                <a:solidFill>
                  <a:srgbClr val="596F83"/>
                </a:solidFill>
                <a:latin typeface="Aptos"/>
              </a:rPr>
            </a:br>
            <a:r>
              <a:rPr lang="en-IN" sz="1300" i="1" dirty="0">
                <a:solidFill>
                  <a:srgbClr val="596F83"/>
                </a:solidFill>
                <a:latin typeface="Aptos"/>
              </a:rPr>
              <a:t>• Generic rather than personalized support</a:t>
            </a:r>
          </a:p>
        </p:txBody>
      </p:sp>
      <p:sp>
        <p:nvSpPr>
          <p:cNvPr id="50" name="TextBox 49">
            <a:extLst>
              <a:ext uri="{FF2B5EF4-FFF2-40B4-BE49-F238E27FC236}">
                <a16:creationId xmlns:a16="http://schemas.microsoft.com/office/drawing/2014/main" id="{5F53DE5A-A2DC-6388-AC4F-2230F0CBDDF6}"/>
              </a:ext>
            </a:extLst>
          </p:cNvPr>
          <p:cNvSpPr txBox="1"/>
          <p:nvPr/>
        </p:nvSpPr>
        <p:spPr>
          <a:xfrm>
            <a:off x="4635660" y="3022091"/>
            <a:ext cx="3316671" cy="692497"/>
          </a:xfrm>
          <a:prstGeom prst="rect">
            <a:avLst/>
          </a:prstGeom>
          <a:noFill/>
        </p:spPr>
        <p:txBody>
          <a:bodyPr wrap="square">
            <a:spAutoFit/>
          </a:bodyPr>
          <a:lstStyle/>
          <a:p>
            <a:r>
              <a:rPr lang="en-IN" sz="1300" i="1" dirty="0">
                <a:solidFill>
                  <a:srgbClr val="596F83"/>
                </a:solidFill>
                <a:latin typeface="Aptos"/>
              </a:rPr>
              <a:t>• Large advising caseloads</a:t>
            </a:r>
            <a:br>
              <a:rPr lang="en-IN" sz="1300" i="1" dirty="0">
                <a:solidFill>
                  <a:srgbClr val="596F83"/>
                </a:solidFill>
                <a:latin typeface="Aptos"/>
              </a:rPr>
            </a:br>
            <a:r>
              <a:rPr lang="en-IN" sz="1300" i="1" dirty="0">
                <a:solidFill>
                  <a:srgbClr val="596F83"/>
                </a:solidFill>
                <a:latin typeface="Aptos"/>
              </a:rPr>
              <a:t>• Manual review of multiple data sources</a:t>
            </a:r>
            <a:br>
              <a:rPr lang="en-IN" sz="1300" i="1" dirty="0">
                <a:solidFill>
                  <a:srgbClr val="596F83"/>
                </a:solidFill>
                <a:latin typeface="Aptos"/>
              </a:rPr>
            </a:br>
            <a:r>
              <a:rPr lang="en-IN" sz="1300" i="1" dirty="0">
                <a:solidFill>
                  <a:srgbClr val="596F83"/>
                </a:solidFill>
                <a:latin typeface="Aptos"/>
              </a:rPr>
              <a:t>• Limited time for proactive outreach</a:t>
            </a:r>
          </a:p>
        </p:txBody>
      </p:sp>
      <p:sp>
        <p:nvSpPr>
          <p:cNvPr id="52" name="TextBox 51">
            <a:extLst>
              <a:ext uri="{FF2B5EF4-FFF2-40B4-BE49-F238E27FC236}">
                <a16:creationId xmlns:a16="http://schemas.microsoft.com/office/drawing/2014/main" id="{2DF0D9C9-EF54-3EEC-861B-BE91762B9FC2}"/>
              </a:ext>
            </a:extLst>
          </p:cNvPr>
          <p:cNvSpPr txBox="1"/>
          <p:nvPr/>
        </p:nvSpPr>
        <p:spPr>
          <a:xfrm>
            <a:off x="8523737" y="3022092"/>
            <a:ext cx="3316671" cy="692497"/>
          </a:xfrm>
          <a:prstGeom prst="rect">
            <a:avLst/>
          </a:prstGeom>
          <a:noFill/>
        </p:spPr>
        <p:txBody>
          <a:bodyPr wrap="square">
            <a:spAutoFit/>
          </a:bodyPr>
          <a:lstStyle/>
          <a:p>
            <a:r>
              <a:rPr lang="en-IN" sz="1300" i="1" dirty="0">
                <a:solidFill>
                  <a:srgbClr val="596F83"/>
                </a:solidFill>
                <a:latin typeface="Aptos"/>
              </a:rPr>
              <a:t>• Data privacy and access control</a:t>
            </a:r>
            <a:br>
              <a:rPr lang="en-IN" sz="1300" i="1" dirty="0">
                <a:solidFill>
                  <a:srgbClr val="596F83"/>
                </a:solidFill>
                <a:latin typeface="Aptos"/>
              </a:rPr>
            </a:br>
            <a:r>
              <a:rPr lang="en-IN" sz="1300" i="1" dirty="0">
                <a:solidFill>
                  <a:srgbClr val="596F83"/>
                </a:solidFill>
                <a:latin typeface="Aptos"/>
              </a:rPr>
              <a:t>• Consistency of advising information</a:t>
            </a:r>
            <a:br>
              <a:rPr lang="en-IN" sz="1300" i="1" dirty="0">
                <a:solidFill>
                  <a:srgbClr val="596F83"/>
                </a:solidFill>
                <a:latin typeface="Aptos"/>
              </a:rPr>
            </a:br>
            <a:r>
              <a:rPr lang="en-IN" sz="1300" i="1" dirty="0">
                <a:solidFill>
                  <a:srgbClr val="596F83"/>
                </a:solidFill>
                <a:latin typeface="Aptos"/>
              </a:rPr>
              <a:t>• Responsible use of 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SYSTEM DESIGN</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Architecture &amp; technology</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Core Sprint 1 services are separated from future intelligence capabilities.</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t>05</a:t>
            </a:r>
          </a:p>
        </p:txBody>
      </p:sp>
      <p:sp>
        <p:nvSpPr>
          <p:cNvPr id="9" name="Rounded Rectangle 8"/>
          <p:cNvSpPr/>
          <p:nvPr/>
        </p:nvSpPr>
        <p:spPr>
          <a:xfrm>
            <a:off x="960120" y="1572768"/>
            <a:ext cx="10195560" cy="777240"/>
          </a:xfrm>
          <a:prstGeom prst="round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70432" y="1773936"/>
            <a:ext cx="1965960" cy="347472"/>
          </a:xfrm>
          <a:prstGeom prst="round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07008" y="1837943"/>
            <a:ext cx="1892807" cy="219456"/>
          </a:xfrm>
          <a:prstGeom prst="rect">
            <a:avLst/>
          </a:prstGeom>
          <a:noFill/>
        </p:spPr>
        <p:txBody>
          <a:bodyPr wrap="square" lIns="36576" tIns="22860" rIns="36576">
            <a:spAutoFit/>
          </a:bodyPr>
          <a:lstStyle/>
          <a:p>
            <a:pPr algn="ctr">
              <a:spcAft>
                <a:spcPts val="500"/>
              </a:spcAft>
              <a:defRPr sz="1000" b="1">
                <a:solidFill>
                  <a:srgbClr val="FFFFFF"/>
                </a:solidFill>
                <a:latin typeface="Aptos"/>
              </a:defRPr>
            </a:pPr>
            <a:r>
              <a:t>Experience</a:t>
            </a:r>
          </a:p>
        </p:txBody>
      </p:sp>
      <p:sp>
        <p:nvSpPr>
          <p:cNvPr id="12" name="TextBox 11"/>
          <p:cNvSpPr txBox="1"/>
          <p:nvPr/>
        </p:nvSpPr>
        <p:spPr>
          <a:xfrm>
            <a:off x="3474720" y="1792224"/>
            <a:ext cx="7223760" cy="329184"/>
          </a:xfrm>
          <a:prstGeom prst="rect">
            <a:avLst/>
          </a:prstGeom>
          <a:noFill/>
        </p:spPr>
        <p:txBody>
          <a:bodyPr wrap="square" lIns="36576" tIns="22860" rIns="36576">
            <a:spAutoFit/>
          </a:bodyPr>
          <a:lstStyle/>
          <a:p>
            <a:pPr>
              <a:spcAft>
                <a:spcPts val="500"/>
              </a:spcAft>
              <a:defRPr sz="1600" b="0">
                <a:solidFill>
                  <a:srgbClr val="133458"/>
                </a:solidFill>
                <a:latin typeface="Aptos"/>
              </a:defRPr>
            </a:pPr>
            <a:r>
              <a:t>React / Next.js • Student, advisor, admin UI</a:t>
            </a:r>
          </a:p>
        </p:txBody>
      </p:sp>
      <p:sp>
        <p:nvSpPr>
          <p:cNvPr id="13" name="TextBox 12"/>
          <p:cNvSpPr txBox="1"/>
          <p:nvPr/>
        </p:nvSpPr>
        <p:spPr>
          <a:xfrm>
            <a:off x="5788152" y="235000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14" name="Rounded Rectangle 13"/>
          <p:cNvSpPr/>
          <p:nvPr/>
        </p:nvSpPr>
        <p:spPr>
          <a:xfrm>
            <a:off x="960120" y="2578608"/>
            <a:ext cx="10195560" cy="77724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170432" y="2779776"/>
            <a:ext cx="1965960" cy="347472"/>
          </a:xfrm>
          <a:prstGeom prst="round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07008" y="2843784"/>
            <a:ext cx="1892807" cy="219456"/>
          </a:xfrm>
          <a:prstGeom prst="rect">
            <a:avLst/>
          </a:prstGeom>
          <a:noFill/>
        </p:spPr>
        <p:txBody>
          <a:bodyPr wrap="square" lIns="36576" tIns="22860" rIns="36576">
            <a:spAutoFit/>
          </a:bodyPr>
          <a:lstStyle/>
          <a:p>
            <a:pPr algn="ctr">
              <a:spcAft>
                <a:spcPts val="500"/>
              </a:spcAft>
              <a:defRPr sz="1000" b="1">
                <a:solidFill>
                  <a:srgbClr val="FFFFFF"/>
                </a:solidFill>
                <a:latin typeface="Aptos"/>
              </a:defRPr>
            </a:pPr>
            <a:r>
              <a:t>Application</a:t>
            </a:r>
          </a:p>
        </p:txBody>
      </p:sp>
      <p:sp>
        <p:nvSpPr>
          <p:cNvPr id="17" name="TextBox 16"/>
          <p:cNvSpPr txBox="1"/>
          <p:nvPr/>
        </p:nvSpPr>
        <p:spPr>
          <a:xfrm>
            <a:off x="3474720" y="2798064"/>
            <a:ext cx="7223760" cy="329184"/>
          </a:xfrm>
          <a:prstGeom prst="rect">
            <a:avLst/>
          </a:prstGeom>
          <a:noFill/>
        </p:spPr>
        <p:txBody>
          <a:bodyPr wrap="square" lIns="36576" tIns="22860" rIns="36576">
            <a:spAutoFit/>
          </a:bodyPr>
          <a:lstStyle/>
          <a:p>
            <a:pPr>
              <a:spcAft>
                <a:spcPts val="500"/>
              </a:spcAft>
              <a:defRPr sz="1600" b="0">
                <a:solidFill>
                  <a:srgbClr val="133458"/>
                </a:solidFill>
                <a:latin typeface="Aptos"/>
              </a:defRPr>
            </a:pPr>
            <a:r>
              <a:t>Python / FastAPI • REST endpoints • authorization</a:t>
            </a:r>
          </a:p>
        </p:txBody>
      </p:sp>
      <p:sp>
        <p:nvSpPr>
          <p:cNvPr id="18" name="TextBox 17"/>
          <p:cNvSpPr txBox="1"/>
          <p:nvPr/>
        </p:nvSpPr>
        <p:spPr>
          <a:xfrm>
            <a:off x="5788152" y="335584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19" name="Rounded Rectangle 18"/>
          <p:cNvSpPr/>
          <p:nvPr/>
        </p:nvSpPr>
        <p:spPr>
          <a:xfrm>
            <a:off x="960120" y="3584448"/>
            <a:ext cx="10195560" cy="777240"/>
          </a:xfrm>
          <a:prstGeom prst="round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170432" y="3785615"/>
            <a:ext cx="1965960" cy="347472"/>
          </a:xfrm>
          <a:prstGeom prst="round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07008" y="3849624"/>
            <a:ext cx="1892807" cy="219456"/>
          </a:xfrm>
          <a:prstGeom prst="rect">
            <a:avLst/>
          </a:prstGeom>
          <a:noFill/>
        </p:spPr>
        <p:txBody>
          <a:bodyPr wrap="square" lIns="36576" tIns="22860" rIns="36576">
            <a:spAutoFit/>
          </a:bodyPr>
          <a:lstStyle/>
          <a:p>
            <a:pPr algn="ctr">
              <a:spcAft>
                <a:spcPts val="500"/>
              </a:spcAft>
              <a:defRPr sz="1000" b="1">
                <a:solidFill>
                  <a:srgbClr val="FFFFFF"/>
                </a:solidFill>
                <a:latin typeface="Aptos"/>
              </a:defRPr>
            </a:pPr>
            <a:r>
              <a:t>Academic data</a:t>
            </a:r>
          </a:p>
        </p:txBody>
      </p:sp>
      <p:sp>
        <p:nvSpPr>
          <p:cNvPr id="22" name="TextBox 21"/>
          <p:cNvSpPr txBox="1"/>
          <p:nvPr/>
        </p:nvSpPr>
        <p:spPr>
          <a:xfrm>
            <a:off x="3474720" y="3803904"/>
            <a:ext cx="7223760" cy="329184"/>
          </a:xfrm>
          <a:prstGeom prst="rect">
            <a:avLst/>
          </a:prstGeom>
          <a:noFill/>
        </p:spPr>
        <p:txBody>
          <a:bodyPr wrap="square" lIns="36576" tIns="22860" rIns="36576">
            <a:spAutoFit/>
          </a:bodyPr>
          <a:lstStyle/>
          <a:p>
            <a:pPr>
              <a:spcAft>
                <a:spcPts val="500"/>
              </a:spcAft>
              <a:defRPr sz="1600" b="0">
                <a:solidFill>
                  <a:srgbClr val="133458"/>
                </a:solidFill>
                <a:latin typeface="Aptos"/>
              </a:defRPr>
            </a:pPr>
            <a:r>
              <a:t>PostgreSQL / Neon • users, courses, enrollments</a:t>
            </a:r>
          </a:p>
        </p:txBody>
      </p:sp>
      <p:sp>
        <p:nvSpPr>
          <p:cNvPr id="23" name="TextBox 22"/>
          <p:cNvSpPr txBox="1"/>
          <p:nvPr/>
        </p:nvSpPr>
        <p:spPr>
          <a:xfrm>
            <a:off x="5788152" y="436168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24" name="Rounded Rectangle 23"/>
          <p:cNvSpPr/>
          <p:nvPr/>
        </p:nvSpPr>
        <p:spPr>
          <a:xfrm>
            <a:off x="960120" y="4590288"/>
            <a:ext cx="10195560" cy="77724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170432" y="4791456"/>
            <a:ext cx="1965960" cy="347472"/>
          </a:xfrm>
          <a:prstGeom prst="roundRect">
            <a:avLst/>
          </a:prstGeom>
          <a:solidFill>
            <a:srgbClr val="596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07008" y="4855464"/>
            <a:ext cx="1892807" cy="219456"/>
          </a:xfrm>
          <a:prstGeom prst="rect">
            <a:avLst/>
          </a:prstGeom>
          <a:noFill/>
        </p:spPr>
        <p:txBody>
          <a:bodyPr wrap="square" lIns="36576" tIns="22860" rIns="36576">
            <a:spAutoFit/>
          </a:bodyPr>
          <a:lstStyle/>
          <a:p>
            <a:pPr algn="ctr">
              <a:spcAft>
                <a:spcPts val="500"/>
              </a:spcAft>
              <a:defRPr sz="1000" b="1">
                <a:solidFill>
                  <a:srgbClr val="FFFFFF"/>
                </a:solidFill>
                <a:latin typeface="Aptos"/>
              </a:defRPr>
            </a:pPr>
            <a:r>
              <a:t>Future intelligence</a:t>
            </a:r>
          </a:p>
        </p:txBody>
      </p:sp>
      <p:sp>
        <p:nvSpPr>
          <p:cNvPr id="27" name="TextBox 26"/>
          <p:cNvSpPr txBox="1"/>
          <p:nvPr/>
        </p:nvSpPr>
        <p:spPr>
          <a:xfrm>
            <a:off x="3474720" y="4809744"/>
            <a:ext cx="7223760" cy="329184"/>
          </a:xfrm>
          <a:prstGeom prst="rect">
            <a:avLst/>
          </a:prstGeom>
          <a:noFill/>
        </p:spPr>
        <p:txBody>
          <a:bodyPr wrap="square" lIns="36576" tIns="22860" rIns="36576">
            <a:spAutoFit/>
          </a:bodyPr>
          <a:lstStyle/>
          <a:p>
            <a:pPr>
              <a:spcAft>
                <a:spcPts val="500"/>
              </a:spcAft>
              <a:defRPr sz="1600" b="0">
                <a:solidFill>
                  <a:srgbClr val="133458"/>
                </a:solidFill>
                <a:latin typeface="Aptos"/>
              </a:defRPr>
            </a:pPr>
            <a:r>
              <a:t>scikit-learn • SHAP • LLM / RAG (not Sprint 1 delivery)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927F-E4FF-1C8B-CA68-3646581F0AC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183A7E-8990-2AAC-75C6-5D69A4A32BF0}"/>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25922963-176F-FAFF-59D5-F0D707B825CE}"/>
              </a:ext>
            </a:extLst>
          </p:cNvPr>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5075DE0-33DA-6E3E-8CC2-05BBA115BAE3}"/>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ED255F70-88F5-6F17-5437-DDC449A07AFC}"/>
              </a:ext>
            </a:extLst>
          </p:cNvPr>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dirty="0"/>
              <a:t>0</a:t>
            </a:r>
            <a:r>
              <a:rPr lang="en-IN" dirty="0"/>
              <a:t>6</a:t>
            </a:r>
            <a:endParaRPr dirty="0"/>
          </a:p>
        </p:txBody>
      </p:sp>
      <p:sp>
        <p:nvSpPr>
          <p:cNvPr id="13" name="TextBox 12">
            <a:extLst>
              <a:ext uri="{FF2B5EF4-FFF2-40B4-BE49-F238E27FC236}">
                <a16:creationId xmlns:a16="http://schemas.microsoft.com/office/drawing/2014/main" id="{686AE6C0-9498-8C83-DC15-93A2D295A628}"/>
              </a:ext>
            </a:extLst>
          </p:cNvPr>
          <p:cNvSpPr txBox="1"/>
          <p:nvPr/>
        </p:nvSpPr>
        <p:spPr>
          <a:xfrm>
            <a:off x="5788152" y="235000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4" name="TextBox 3">
            <a:extLst>
              <a:ext uri="{FF2B5EF4-FFF2-40B4-BE49-F238E27FC236}">
                <a16:creationId xmlns:a16="http://schemas.microsoft.com/office/drawing/2014/main" id="{3407D07B-05C9-35F1-1626-5F9A791E3A3E}"/>
              </a:ext>
            </a:extLst>
          </p:cNvPr>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dirty="0"/>
              <a:t>Architecture </a:t>
            </a:r>
            <a:r>
              <a:rPr lang="en-IN" dirty="0"/>
              <a:t>&amp; technology</a:t>
            </a:r>
            <a:endParaRPr dirty="0"/>
          </a:p>
        </p:txBody>
      </p:sp>
      <p:sp>
        <p:nvSpPr>
          <p:cNvPr id="3" name="TextBox 2">
            <a:extLst>
              <a:ext uri="{FF2B5EF4-FFF2-40B4-BE49-F238E27FC236}">
                <a16:creationId xmlns:a16="http://schemas.microsoft.com/office/drawing/2014/main" id="{E58AD6AD-12BF-A213-5C81-87E5CD545C4A}"/>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rPr dirty="0"/>
              <a:t>SYSTEM DESIGN</a:t>
            </a:r>
          </a:p>
        </p:txBody>
      </p:sp>
      <p:pic>
        <p:nvPicPr>
          <p:cNvPr id="9" name="Picture 8">
            <a:extLst>
              <a:ext uri="{FF2B5EF4-FFF2-40B4-BE49-F238E27FC236}">
                <a16:creationId xmlns:a16="http://schemas.microsoft.com/office/drawing/2014/main" id="{25A1A005-0AC4-36D8-17AA-D879C3884D02}"/>
              </a:ext>
            </a:extLst>
          </p:cNvPr>
          <p:cNvPicPr>
            <a:picLocks noChangeAspect="1"/>
          </p:cNvPicPr>
          <p:nvPr/>
        </p:nvPicPr>
        <p:blipFill>
          <a:blip r:embed="rId2"/>
          <a:stretch>
            <a:fillRect/>
          </a:stretch>
        </p:blipFill>
        <p:spPr>
          <a:xfrm>
            <a:off x="702515" y="1457479"/>
            <a:ext cx="10864645" cy="4302323"/>
          </a:xfrm>
          <a:prstGeom prst="rect">
            <a:avLst/>
          </a:prstGeom>
        </p:spPr>
      </p:pic>
    </p:spTree>
    <p:extLst>
      <p:ext uri="{BB962C8B-B14F-4D97-AF65-F5344CB8AC3E}">
        <p14:creationId xmlns:p14="http://schemas.microsoft.com/office/powerpoint/2010/main" val="3551089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114E1-75EE-E0B1-DB8B-41C80E0F53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937B92-0E20-17A0-AE20-C2774835A214}"/>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5549CE8C-4ADD-15CA-422E-80640E774476}"/>
              </a:ext>
            </a:extLst>
          </p:cNvPr>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E47B533-B9ED-549C-26AE-04E2F7C76BBE}"/>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9497096B-200F-CFCB-3FE5-7FD4A2A507E4}"/>
              </a:ext>
            </a:extLst>
          </p:cNvPr>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dirty="0"/>
              <a:t>0</a:t>
            </a:r>
            <a:r>
              <a:rPr lang="en-IN" dirty="0"/>
              <a:t>7</a:t>
            </a:r>
            <a:endParaRPr dirty="0"/>
          </a:p>
        </p:txBody>
      </p:sp>
      <p:sp>
        <p:nvSpPr>
          <p:cNvPr id="13" name="TextBox 12">
            <a:extLst>
              <a:ext uri="{FF2B5EF4-FFF2-40B4-BE49-F238E27FC236}">
                <a16:creationId xmlns:a16="http://schemas.microsoft.com/office/drawing/2014/main" id="{789883BB-AE61-ADBD-4D0E-D4F48A234CC9}"/>
              </a:ext>
            </a:extLst>
          </p:cNvPr>
          <p:cNvSpPr txBox="1"/>
          <p:nvPr/>
        </p:nvSpPr>
        <p:spPr>
          <a:xfrm>
            <a:off x="5788152" y="235000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4" name="TextBox 3">
            <a:extLst>
              <a:ext uri="{FF2B5EF4-FFF2-40B4-BE49-F238E27FC236}">
                <a16:creationId xmlns:a16="http://schemas.microsoft.com/office/drawing/2014/main" id="{411D3534-3731-467F-AC5E-0A3B3A2DDA7F}"/>
              </a:ext>
            </a:extLst>
          </p:cNvPr>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lang="en-IN" dirty="0"/>
              <a:t>ER Diagram</a:t>
            </a:r>
            <a:endParaRPr dirty="0"/>
          </a:p>
        </p:txBody>
      </p:sp>
      <p:sp>
        <p:nvSpPr>
          <p:cNvPr id="3" name="TextBox 2">
            <a:extLst>
              <a:ext uri="{FF2B5EF4-FFF2-40B4-BE49-F238E27FC236}">
                <a16:creationId xmlns:a16="http://schemas.microsoft.com/office/drawing/2014/main" id="{A4B796F1-7AB6-5933-BCA8-994303FC83BC}"/>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rPr dirty="0"/>
              <a:t>SYSTEM DESIGN</a:t>
            </a:r>
          </a:p>
        </p:txBody>
      </p:sp>
      <p:pic>
        <p:nvPicPr>
          <p:cNvPr id="10" name="Picture 9">
            <a:extLst>
              <a:ext uri="{FF2B5EF4-FFF2-40B4-BE49-F238E27FC236}">
                <a16:creationId xmlns:a16="http://schemas.microsoft.com/office/drawing/2014/main" id="{8A2B6ACF-B583-D8F5-BAF9-3970DE9AB2D4}"/>
              </a:ext>
            </a:extLst>
          </p:cNvPr>
          <p:cNvPicPr>
            <a:picLocks noChangeAspect="1"/>
          </p:cNvPicPr>
          <p:nvPr/>
        </p:nvPicPr>
        <p:blipFill>
          <a:blip r:embed="rId2"/>
          <a:stretch>
            <a:fillRect/>
          </a:stretch>
        </p:blipFill>
        <p:spPr>
          <a:xfrm>
            <a:off x="3449945" y="274320"/>
            <a:ext cx="5292110" cy="6167714"/>
          </a:xfrm>
          <a:prstGeom prst="rect">
            <a:avLst/>
          </a:prstGeom>
        </p:spPr>
      </p:pic>
    </p:spTree>
    <p:extLst>
      <p:ext uri="{BB962C8B-B14F-4D97-AF65-F5344CB8AC3E}">
        <p14:creationId xmlns:p14="http://schemas.microsoft.com/office/powerpoint/2010/main" val="1491962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76D6B-1CF7-D4AF-920F-5AEB4B1B26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861FCB1-0318-49A4-2331-779A6F31A798}"/>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1984C9EE-D7F8-0D2F-4C54-8730BCC39C93}"/>
              </a:ext>
            </a:extLst>
          </p:cNvPr>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3BEE18C-EE59-B657-21CE-872DCDAF6224}"/>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312A1764-D3F7-EA3E-CEB7-A43E740D0E52}"/>
              </a:ext>
            </a:extLst>
          </p:cNvPr>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dirty="0"/>
              <a:t>0</a:t>
            </a:r>
            <a:r>
              <a:rPr lang="en-IN" dirty="0"/>
              <a:t>8</a:t>
            </a:r>
            <a:endParaRPr dirty="0"/>
          </a:p>
        </p:txBody>
      </p:sp>
      <p:sp>
        <p:nvSpPr>
          <p:cNvPr id="13" name="TextBox 12">
            <a:extLst>
              <a:ext uri="{FF2B5EF4-FFF2-40B4-BE49-F238E27FC236}">
                <a16:creationId xmlns:a16="http://schemas.microsoft.com/office/drawing/2014/main" id="{A89FBF98-9FCA-F41F-F1FC-AC637E2F09F4}"/>
              </a:ext>
            </a:extLst>
          </p:cNvPr>
          <p:cNvSpPr txBox="1"/>
          <p:nvPr/>
        </p:nvSpPr>
        <p:spPr>
          <a:xfrm>
            <a:off x="5788152" y="235000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4" name="TextBox 3">
            <a:extLst>
              <a:ext uri="{FF2B5EF4-FFF2-40B4-BE49-F238E27FC236}">
                <a16:creationId xmlns:a16="http://schemas.microsoft.com/office/drawing/2014/main" id="{A0D6BDEC-82E2-1502-11F9-3B4B8F8A2583}"/>
              </a:ext>
            </a:extLst>
          </p:cNvPr>
          <p:cNvSpPr txBox="1"/>
          <p:nvPr/>
        </p:nvSpPr>
        <p:spPr>
          <a:xfrm>
            <a:off x="502920" y="576072"/>
            <a:ext cx="10972800" cy="500137"/>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lang="en-IN" sz="2800" b="1" dirty="0">
                <a:solidFill>
                  <a:srgbClr val="133458"/>
                </a:solidFill>
                <a:latin typeface="Aptos"/>
              </a:rPr>
              <a:t>Context Diagram</a:t>
            </a:r>
            <a:endParaRPr dirty="0"/>
          </a:p>
        </p:txBody>
      </p:sp>
      <p:sp>
        <p:nvSpPr>
          <p:cNvPr id="3" name="TextBox 2">
            <a:extLst>
              <a:ext uri="{FF2B5EF4-FFF2-40B4-BE49-F238E27FC236}">
                <a16:creationId xmlns:a16="http://schemas.microsoft.com/office/drawing/2014/main" id="{BE19731A-EE6F-8561-1048-CCFE61F0AE12}"/>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rPr dirty="0"/>
              <a:t>SYSTEM DESIGN</a:t>
            </a:r>
          </a:p>
        </p:txBody>
      </p:sp>
      <p:pic>
        <p:nvPicPr>
          <p:cNvPr id="10" name="Picture 9">
            <a:extLst>
              <a:ext uri="{FF2B5EF4-FFF2-40B4-BE49-F238E27FC236}">
                <a16:creationId xmlns:a16="http://schemas.microsoft.com/office/drawing/2014/main" id="{E48DDE3F-33D8-8DBC-440C-F3B212FA9A57}"/>
              </a:ext>
            </a:extLst>
          </p:cNvPr>
          <p:cNvPicPr>
            <a:picLocks noChangeAspect="1"/>
          </p:cNvPicPr>
          <p:nvPr/>
        </p:nvPicPr>
        <p:blipFill>
          <a:blip r:embed="rId2"/>
          <a:stretch>
            <a:fillRect/>
          </a:stretch>
        </p:blipFill>
        <p:spPr>
          <a:xfrm>
            <a:off x="1296850" y="1800972"/>
            <a:ext cx="9897004" cy="3256056"/>
          </a:xfrm>
          <a:prstGeom prst="rect">
            <a:avLst/>
          </a:prstGeom>
        </p:spPr>
      </p:pic>
    </p:spTree>
    <p:extLst>
      <p:ext uri="{BB962C8B-B14F-4D97-AF65-F5344CB8AC3E}">
        <p14:creationId xmlns:p14="http://schemas.microsoft.com/office/powerpoint/2010/main" val="2275271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6E97-50DE-FBB1-C8DF-BA4D85591E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653636B-6132-2019-6CA0-0024DDA8C055}"/>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D269FDE4-0D0E-E8DA-F081-FAC2C7F512DE}"/>
              </a:ext>
            </a:extLst>
          </p:cNvPr>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F66C4A81-3766-5B5E-9B56-6276B6D1BC13}"/>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A681A46E-6107-6E13-6D82-02CD0A014F33}"/>
              </a:ext>
            </a:extLst>
          </p:cNvPr>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dirty="0"/>
              <a:t>0</a:t>
            </a:r>
            <a:r>
              <a:rPr lang="en-IN" dirty="0"/>
              <a:t>9</a:t>
            </a:r>
            <a:endParaRPr dirty="0"/>
          </a:p>
        </p:txBody>
      </p:sp>
      <p:sp>
        <p:nvSpPr>
          <p:cNvPr id="13" name="TextBox 12">
            <a:extLst>
              <a:ext uri="{FF2B5EF4-FFF2-40B4-BE49-F238E27FC236}">
                <a16:creationId xmlns:a16="http://schemas.microsoft.com/office/drawing/2014/main" id="{D553CF40-8B6A-2648-7085-EE3FE55744E7}"/>
              </a:ext>
            </a:extLst>
          </p:cNvPr>
          <p:cNvSpPr txBox="1"/>
          <p:nvPr/>
        </p:nvSpPr>
        <p:spPr>
          <a:xfrm>
            <a:off x="5788152" y="235000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4" name="TextBox 3">
            <a:extLst>
              <a:ext uri="{FF2B5EF4-FFF2-40B4-BE49-F238E27FC236}">
                <a16:creationId xmlns:a16="http://schemas.microsoft.com/office/drawing/2014/main" id="{ACDCAA2B-F66F-6DA2-0C22-72FECD40C3F0}"/>
              </a:ext>
            </a:extLst>
          </p:cNvPr>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lang="en-IN" sz="2800" b="1" dirty="0">
                <a:solidFill>
                  <a:srgbClr val="133458"/>
                </a:solidFill>
                <a:latin typeface="Aptos"/>
              </a:rPr>
              <a:t>Sequence Diagram</a:t>
            </a:r>
            <a:endParaRPr dirty="0"/>
          </a:p>
        </p:txBody>
      </p:sp>
      <p:sp>
        <p:nvSpPr>
          <p:cNvPr id="3" name="TextBox 2">
            <a:extLst>
              <a:ext uri="{FF2B5EF4-FFF2-40B4-BE49-F238E27FC236}">
                <a16:creationId xmlns:a16="http://schemas.microsoft.com/office/drawing/2014/main" id="{E140236F-BB15-017E-17D3-D737C437FE01}"/>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rPr dirty="0"/>
              <a:t>SYSTEM DESIGN</a:t>
            </a:r>
          </a:p>
        </p:txBody>
      </p:sp>
      <p:pic>
        <p:nvPicPr>
          <p:cNvPr id="12" name="Picture 11">
            <a:extLst>
              <a:ext uri="{FF2B5EF4-FFF2-40B4-BE49-F238E27FC236}">
                <a16:creationId xmlns:a16="http://schemas.microsoft.com/office/drawing/2014/main" id="{C1757BCD-C63F-8575-D95A-B86313837AB0}"/>
              </a:ext>
            </a:extLst>
          </p:cNvPr>
          <p:cNvPicPr>
            <a:picLocks noChangeAspect="1"/>
          </p:cNvPicPr>
          <p:nvPr/>
        </p:nvPicPr>
        <p:blipFill>
          <a:blip r:embed="rId2"/>
          <a:stretch>
            <a:fillRect/>
          </a:stretch>
        </p:blipFill>
        <p:spPr>
          <a:xfrm>
            <a:off x="4229203" y="144594"/>
            <a:ext cx="6332117" cy="6309241"/>
          </a:xfrm>
          <a:prstGeom prst="rect">
            <a:avLst/>
          </a:prstGeom>
        </p:spPr>
      </p:pic>
    </p:spTree>
    <p:extLst>
      <p:ext uri="{BB962C8B-B14F-4D97-AF65-F5344CB8AC3E}">
        <p14:creationId xmlns:p14="http://schemas.microsoft.com/office/powerpoint/2010/main" val="3155002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E6F13-A156-2BF3-0CAF-78397635BA8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B63BC2-61C3-1A45-E77F-C753DFCBBBBE}"/>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4269A087-358D-8811-2F5E-88E1559EABCE}"/>
              </a:ext>
            </a:extLst>
          </p:cNvPr>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D576B8A-E347-626B-7CE5-40AB41A0995D}"/>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368EB4F4-35DC-41A0-66B2-03B0D9F1E5A7}"/>
              </a:ext>
            </a:extLst>
          </p:cNvPr>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10</a:t>
            </a:r>
            <a:endParaRPr dirty="0"/>
          </a:p>
        </p:txBody>
      </p:sp>
      <p:sp>
        <p:nvSpPr>
          <p:cNvPr id="13" name="TextBox 12">
            <a:extLst>
              <a:ext uri="{FF2B5EF4-FFF2-40B4-BE49-F238E27FC236}">
                <a16:creationId xmlns:a16="http://schemas.microsoft.com/office/drawing/2014/main" id="{B18C757E-FD2E-096E-ACA8-9C6EA25666B0}"/>
              </a:ext>
            </a:extLst>
          </p:cNvPr>
          <p:cNvSpPr txBox="1"/>
          <p:nvPr/>
        </p:nvSpPr>
        <p:spPr>
          <a:xfrm>
            <a:off x="5788152" y="235000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4" name="TextBox 3">
            <a:extLst>
              <a:ext uri="{FF2B5EF4-FFF2-40B4-BE49-F238E27FC236}">
                <a16:creationId xmlns:a16="http://schemas.microsoft.com/office/drawing/2014/main" id="{FE97AD65-BCB4-A1D9-7096-071E7187F36F}"/>
              </a:ext>
            </a:extLst>
          </p:cNvPr>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lang="en-IN" sz="2800" b="1" dirty="0">
                <a:solidFill>
                  <a:srgbClr val="133458"/>
                </a:solidFill>
                <a:latin typeface="Aptos"/>
              </a:rPr>
              <a:t>State Diagrams</a:t>
            </a:r>
            <a:endParaRPr dirty="0"/>
          </a:p>
        </p:txBody>
      </p:sp>
      <p:sp>
        <p:nvSpPr>
          <p:cNvPr id="3" name="TextBox 2">
            <a:extLst>
              <a:ext uri="{FF2B5EF4-FFF2-40B4-BE49-F238E27FC236}">
                <a16:creationId xmlns:a16="http://schemas.microsoft.com/office/drawing/2014/main" id="{B5133056-9576-5BAE-9E18-48C252690EB9}"/>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rPr dirty="0"/>
              <a:t>SYSTEM DESIGN</a:t>
            </a:r>
          </a:p>
        </p:txBody>
      </p:sp>
      <p:pic>
        <p:nvPicPr>
          <p:cNvPr id="12" name="Picture 11">
            <a:extLst>
              <a:ext uri="{FF2B5EF4-FFF2-40B4-BE49-F238E27FC236}">
                <a16:creationId xmlns:a16="http://schemas.microsoft.com/office/drawing/2014/main" id="{E7FDFAFC-FA40-F701-4739-719880B83822}"/>
              </a:ext>
            </a:extLst>
          </p:cNvPr>
          <p:cNvPicPr>
            <a:picLocks noChangeAspect="1"/>
          </p:cNvPicPr>
          <p:nvPr/>
        </p:nvPicPr>
        <p:blipFill>
          <a:blip r:embed="rId2"/>
          <a:stretch>
            <a:fillRect/>
          </a:stretch>
        </p:blipFill>
        <p:spPr>
          <a:xfrm>
            <a:off x="963234" y="2023662"/>
            <a:ext cx="10993690" cy="2668004"/>
          </a:xfrm>
          <a:prstGeom prst="rect">
            <a:avLst/>
          </a:prstGeom>
        </p:spPr>
      </p:pic>
    </p:spTree>
    <p:extLst>
      <p:ext uri="{BB962C8B-B14F-4D97-AF65-F5344CB8AC3E}">
        <p14:creationId xmlns:p14="http://schemas.microsoft.com/office/powerpoint/2010/main" val="3323812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DC7CE-EDE3-1BE5-7218-C8A3AAB9BE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B6181F5-8F1D-2B64-6F4C-31F5615F3DEE}"/>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D4074EAA-5FAC-F4AA-492B-E3D4B67BD4F7}"/>
              </a:ext>
            </a:extLst>
          </p:cNvPr>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CA2BE55-2914-61CD-F907-91C336CD9BCB}"/>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71C3ADD4-B6FF-E2B3-5DFA-9FDBC5D067EB}"/>
              </a:ext>
            </a:extLst>
          </p:cNvPr>
          <p:cNvSpPr txBox="1"/>
          <p:nvPr/>
        </p:nvSpPr>
        <p:spPr>
          <a:xfrm>
            <a:off x="11109960" y="6547104"/>
            <a:ext cx="457200" cy="223138"/>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11</a:t>
            </a:r>
          </a:p>
        </p:txBody>
      </p:sp>
      <p:sp>
        <p:nvSpPr>
          <p:cNvPr id="13" name="TextBox 12">
            <a:extLst>
              <a:ext uri="{FF2B5EF4-FFF2-40B4-BE49-F238E27FC236}">
                <a16:creationId xmlns:a16="http://schemas.microsoft.com/office/drawing/2014/main" id="{34C831E7-FAA5-C0BB-5393-E4BA093B4147}"/>
              </a:ext>
            </a:extLst>
          </p:cNvPr>
          <p:cNvSpPr txBox="1"/>
          <p:nvPr/>
        </p:nvSpPr>
        <p:spPr>
          <a:xfrm>
            <a:off x="5788152" y="2350008"/>
            <a:ext cx="457200" cy="256032"/>
          </a:xfrm>
          <a:prstGeom prst="rect">
            <a:avLst/>
          </a:prstGeom>
          <a:noFill/>
        </p:spPr>
        <p:txBody>
          <a:bodyPr wrap="square" lIns="36576" tIns="22860" rIns="36576">
            <a:spAutoFit/>
          </a:bodyPr>
          <a:lstStyle/>
          <a:p>
            <a:pPr>
              <a:spcAft>
                <a:spcPts val="500"/>
              </a:spcAft>
              <a:defRPr sz="1600" b="1">
                <a:solidFill>
                  <a:srgbClr val="2BABAC"/>
                </a:solidFill>
                <a:latin typeface="Aptos"/>
              </a:defRPr>
            </a:pPr>
            <a:r>
              <a:t>↓</a:t>
            </a:r>
          </a:p>
        </p:txBody>
      </p:sp>
      <p:sp>
        <p:nvSpPr>
          <p:cNvPr id="4" name="TextBox 3">
            <a:extLst>
              <a:ext uri="{FF2B5EF4-FFF2-40B4-BE49-F238E27FC236}">
                <a16:creationId xmlns:a16="http://schemas.microsoft.com/office/drawing/2014/main" id="{E0E587E1-502E-0B66-9B34-BAAA0108BA81}"/>
              </a:ext>
            </a:extLst>
          </p:cNvPr>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lang="en-IN" sz="2800" b="1" dirty="0">
                <a:solidFill>
                  <a:srgbClr val="133458"/>
                </a:solidFill>
                <a:latin typeface="Aptos"/>
              </a:rPr>
              <a:t>Class Diagrams</a:t>
            </a:r>
            <a:endParaRPr lang="en-IN" dirty="0"/>
          </a:p>
        </p:txBody>
      </p:sp>
      <p:sp>
        <p:nvSpPr>
          <p:cNvPr id="3" name="TextBox 2">
            <a:extLst>
              <a:ext uri="{FF2B5EF4-FFF2-40B4-BE49-F238E27FC236}">
                <a16:creationId xmlns:a16="http://schemas.microsoft.com/office/drawing/2014/main" id="{F7C63D8B-1EF1-BACA-F82E-49BA9938EFF3}"/>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rPr dirty="0"/>
              <a:t>SYSTEM DESIGN</a:t>
            </a:r>
          </a:p>
        </p:txBody>
      </p:sp>
      <p:pic>
        <p:nvPicPr>
          <p:cNvPr id="10" name="Picture 9">
            <a:extLst>
              <a:ext uri="{FF2B5EF4-FFF2-40B4-BE49-F238E27FC236}">
                <a16:creationId xmlns:a16="http://schemas.microsoft.com/office/drawing/2014/main" id="{59A0D6AB-6216-32D2-E23D-4871F5368BFC}"/>
              </a:ext>
            </a:extLst>
          </p:cNvPr>
          <p:cNvPicPr>
            <a:picLocks noChangeAspect="1"/>
          </p:cNvPicPr>
          <p:nvPr/>
        </p:nvPicPr>
        <p:blipFill>
          <a:blip r:embed="rId2"/>
          <a:stretch>
            <a:fillRect/>
          </a:stretch>
        </p:blipFill>
        <p:spPr>
          <a:xfrm>
            <a:off x="3929062" y="592533"/>
            <a:ext cx="4333875" cy="5768938"/>
          </a:xfrm>
          <a:prstGeom prst="rect">
            <a:avLst/>
          </a:prstGeom>
        </p:spPr>
      </p:pic>
    </p:spTree>
    <p:extLst>
      <p:ext uri="{BB962C8B-B14F-4D97-AF65-F5344CB8AC3E}">
        <p14:creationId xmlns:p14="http://schemas.microsoft.com/office/powerpoint/2010/main" val="599320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ENTITY RELATIONSHIPS</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Academic data model</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The synthetic CSVs mirror the backend’s core entities and relationships.</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12</a:t>
            </a:r>
            <a:endParaRPr dirty="0"/>
          </a:p>
        </p:txBody>
      </p:sp>
      <p:sp>
        <p:nvSpPr>
          <p:cNvPr id="9" name="Rounded Rectangle 8"/>
          <p:cNvSpPr/>
          <p:nvPr/>
        </p:nvSpPr>
        <p:spPr>
          <a:xfrm>
            <a:off x="822960" y="1828800"/>
            <a:ext cx="2743200" cy="841248"/>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084832"/>
            <a:ext cx="2377440" cy="347472"/>
          </a:xfrm>
          <a:prstGeom prst="rect">
            <a:avLst/>
          </a:prstGeom>
          <a:noFill/>
        </p:spPr>
        <p:txBody>
          <a:bodyPr wrap="square" lIns="36576" tIns="22860" rIns="36576">
            <a:spAutoFit/>
          </a:bodyPr>
          <a:lstStyle/>
          <a:p>
            <a:pPr algn="ctr">
              <a:spcAft>
                <a:spcPts val="500"/>
              </a:spcAft>
              <a:defRPr sz="1700" b="1">
                <a:solidFill>
                  <a:srgbClr val="133458"/>
                </a:solidFill>
                <a:latin typeface="Aptos"/>
              </a:defRPr>
            </a:pPr>
            <a:r>
              <a:t>USERS</a:t>
            </a:r>
          </a:p>
        </p:txBody>
      </p:sp>
      <p:sp>
        <p:nvSpPr>
          <p:cNvPr id="11" name="Rounded Rectangle 10"/>
          <p:cNvSpPr/>
          <p:nvPr/>
        </p:nvSpPr>
        <p:spPr>
          <a:xfrm>
            <a:off x="4297680" y="1828800"/>
            <a:ext cx="2743200" cy="841248"/>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60" y="2084832"/>
            <a:ext cx="2377440" cy="347472"/>
          </a:xfrm>
          <a:prstGeom prst="rect">
            <a:avLst/>
          </a:prstGeom>
          <a:noFill/>
        </p:spPr>
        <p:txBody>
          <a:bodyPr wrap="square" lIns="36576" tIns="22860" rIns="36576">
            <a:spAutoFit/>
          </a:bodyPr>
          <a:lstStyle/>
          <a:p>
            <a:pPr algn="ctr">
              <a:spcAft>
                <a:spcPts val="500"/>
              </a:spcAft>
              <a:defRPr sz="1700" b="1">
                <a:solidFill>
                  <a:srgbClr val="133458"/>
                </a:solidFill>
                <a:latin typeface="Aptos"/>
              </a:defRPr>
            </a:pPr>
            <a:r>
              <a:t>STUDENTS</a:t>
            </a:r>
          </a:p>
        </p:txBody>
      </p:sp>
      <p:sp>
        <p:nvSpPr>
          <p:cNvPr id="13" name="Rounded Rectangle 12"/>
          <p:cNvSpPr/>
          <p:nvPr/>
        </p:nvSpPr>
        <p:spPr>
          <a:xfrm>
            <a:off x="7772400" y="1828800"/>
            <a:ext cx="2743200" cy="841248"/>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79" y="2084832"/>
            <a:ext cx="2377440" cy="347472"/>
          </a:xfrm>
          <a:prstGeom prst="rect">
            <a:avLst/>
          </a:prstGeom>
          <a:noFill/>
        </p:spPr>
        <p:txBody>
          <a:bodyPr wrap="square" lIns="36576" tIns="22860" rIns="36576">
            <a:spAutoFit/>
          </a:bodyPr>
          <a:lstStyle/>
          <a:p>
            <a:pPr algn="ctr">
              <a:spcAft>
                <a:spcPts val="500"/>
              </a:spcAft>
              <a:defRPr sz="1700" b="1">
                <a:solidFill>
                  <a:srgbClr val="133458"/>
                </a:solidFill>
                <a:latin typeface="Aptos"/>
              </a:defRPr>
            </a:pPr>
            <a:r>
              <a:t>PROGRAMS</a:t>
            </a:r>
          </a:p>
        </p:txBody>
      </p:sp>
      <p:sp>
        <p:nvSpPr>
          <p:cNvPr id="15" name="Rounded Rectangle 14"/>
          <p:cNvSpPr/>
          <p:nvPr/>
        </p:nvSpPr>
        <p:spPr>
          <a:xfrm>
            <a:off x="822960" y="3657600"/>
            <a:ext cx="2743200" cy="841248"/>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3913632"/>
            <a:ext cx="2377440" cy="347472"/>
          </a:xfrm>
          <a:prstGeom prst="rect">
            <a:avLst/>
          </a:prstGeom>
          <a:noFill/>
        </p:spPr>
        <p:txBody>
          <a:bodyPr wrap="square" lIns="36576" tIns="22860" rIns="36576">
            <a:spAutoFit/>
          </a:bodyPr>
          <a:lstStyle/>
          <a:p>
            <a:pPr algn="ctr">
              <a:spcAft>
                <a:spcPts val="500"/>
              </a:spcAft>
              <a:defRPr sz="1700" b="1">
                <a:solidFill>
                  <a:srgbClr val="133458"/>
                </a:solidFill>
                <a:latin typeface="Aptos"/>
              </a:defRPr>
            </a:pPr>
            <a:r>
              <a:t>ADVISORS</a:t>
            </a:r>
          </a:p>
        </p:txBody>
      </p:sp>
      <p:sp>
        <p:nvSpPr>
          <p:cNvPr id="17" name="Rounded Rectangle 16"/>
          <p:cNvSpPr/>
          <p:nvPr/>
        </p:nvSpPr>
        <p:spPr>
          <a:xfrm>
            <a:off x="4297680" y="3657600"/>
            <a:ext cx="2743200" cy="841248"/>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80560" y="3913632"/>
            <a:ext cx="2377440" cy="347472"/>
          </a:xfrm>
          <a:prstGeom prst="rect">
            <a:avLst/>
          </a:prstGeom>
          <a:noFill/>
        </p:spPr>
        <p:txBody>
          <a:bodyPr wrap="square" lIns="36576" tIns="22860" rIns="36576">
            <a:spAutoFit/>
          </a:bodyPr>
          <a:lstStyle/>
          <a:p>
            <a:pPr algn="ctr">
              <a:spcAft>
                <a:spcPts val="500"/>
              </a:spcAft>
              <a:defRPr sz="1700" b="1">
                <a:solidFill>
                  <a:srgbClr val="133458"/>
                </a:solidFill>
                <a:latin typeface="Aptos"/>
              </a:defRPr>
            </a:pPr>
            <a:r>
              <a:t>ENROLLMENTS</a:t>
            </a:r>
          </a:p>
        </p:txBody>
      </p:sp>
      <p:sp>
        <p:nvSpPr>
          <p:cNvPr id="19" name="Rounded Rectangle 18"/>
          <p:cNvSpPr/>
          <p:nvPr/>
        </p:nvSpPr>
        <p:spPr>
          <a:xfrm>
            <a:off x="7772400" y="3657600"/>
            <a:ext cx="2743200" cy="841248"/>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5279" y="3913632"/>
            <a:ext cx="2377440" cy="347472"/>
          </a:xfrm>
          <a:prstGeom prst="rect">
            <a:avLst/>
          </a:prstGeom>
          <a:noFill/>
        </p:spPr>
        <p:txBody>
          <a:bodyPr wrap="square" lIns="36576" tIns="22860" rIns="36576">
            <a:spAutoFit/>
          </a:bodyPr>
          <a:lstStyle/>
          <a:p>
            <a:pPr algn="ctr">
              <a:spcAft>
                <a:spcPts val="500"/>
              </a:spcAft>
              <a:defRPr sz="1700" b="1">
                <a:solidFill>
                  <a:srgbClr val="133458"/>
                </a:solidFill>
                <a:latin typeface="Aptos"/>
              </a:defRPr>
            </a:pPr>
            <a:r>
              <a:t>COURSES</a:t>
            </a:r>
          </a:p>
        </p:txBody>
      </p:sp>
      <p:sp>
        <p:nvSpPr>
          <p:cNvPr id="21" name="TextBox 20"/>
          <p:cNvSpPr txBox="1"/>
          <p:nvPr/>
        </p:nvSpPr>
        <p:spPr>
          <a:xfrm>
            <a:off x="3611880" y="2075688"/>
            <a:ext cx="502920" cy="365760"/>
          </a:xfrm>
          <a:prstGeom prst="rect">
            <a:avLst/>
          </a:prstGeom>
          <a:noFill/>
        </p:spPr>
        <p:txBody>
          <a:bodyPr wrap="square" lIns="36576" tIns="22860" rIns="36576">
            <a:spAutoFit/>
          </a:bodyPr>
          <a:lstStyle/>
          <a:p>
            <a:pPr>
              <a:spcAft>
                <a:spcPts val="500"/>
              </a:spcAft>
              <a:defRPr sz="2100" b="1">
                <a:solidFill>
                  <a:srgbClr val="2BABAC"/>
                </a:solidFill>
                <a:latin typeface="Aptos"/>
              </a:defRPr>
            </a:pPr>
            <a:r>
              <a:t>→</a:t>
            </a:r>
          </a:p>
        </p:txBody>
      </p:sp>
      <p:sp>
        <p:nvSpPr>
          <p:cNvPr id="22" name="TextBox 21"/>
          <p:cNvSpPr txBox="1"/>
          <p:nvPr/>
        </p:nvSpPr>
        <p:spPr>
          <a:xfrm>
            <a:off x="7104888" y="2075688"/>
            <a:ext cx="502920" cy="365760"/>
          </a:xfrm>
          <a:prstGeom prst="rect">
            <a:avLst/>
          </a:prstGeom>
          <a:noFill/>
        </p:spPr>
        <p:txBody>
          <a:bodyPr wrap="square" lIns="36576" tIns="22860" rIns="36576">
            <a:spAutoFit/>
          </a:bodyPr>
          <a:lstStyle/>
          <a:p>
            <a:pPr>
              <a:spcAft>
                <a:spcPts val="500"/>
              </a:spcAft>
              <a:defRPr sz="2100" b="1">
                <a:solidFill>
                  <a:srgbClr val="2BABAC"/>
                </a:solidFill>
                <a:latin typeface="Aptos"/>
              </a:defRPr>
            </a:pPr>
            <a:r>
              <a:t>←</a:t>
            </a:r>
          </a:p>
        </p:txBody>
      </p:sp>
      <p:sp>
        <p:nvSpPr>
          <p:cNvPr id="23" name="TextBox 22"/>
          <p:cNvSpPr txBox="1"/>
          <p:nvPr/>
        </p:nvSpPr>
        <p:spPr>
          <a:xfrm>
            <a:off x="3611880" y="3886200"/>
            <a:ext cx="502920" cy="365760"/>
          </a:xfrm>
          <a:prstGeom prst="rect">
            <a:avLst/>
          </a:prstGeom>
          <a:noFill/>
        </p:spPr>
        <p:txBody>
          <a:bodyPr wrap="square" lIns="36576" tIns="22860" rIns="36576">
            <a:spAutoFit/>
          </a:bodyPr>
          <a:lstStyle/>
          <a:p>
            <a:pPr>
              <a:spcAft>
                <a:spcPts val="500"/>
              </a:spcAft>
              <a:defRPr sz="2100" b="1">
                <a:solidFill>
                  <a:srgbClr val="2BABAC"/>
                </a:solidFill>
                <a:latin typeface="Aptos"/>
              </a:defRPr>
            </a:pPr>
            <a:r>
              <a:t>→</a:t>
            </a:r>
          </a:p>
        </p:txBody>
      </p:sp>
      <p:sp>
        <p:nvSpPr>
          <p:cNvPr id="24" name="TextBox 23"/>
          <p:cNvSpPr txBox="1"/>
          <p:nvPr/>
        </p:nvSpPr>
        <p:spPr>
          <a:xfrm>
            <a:off x="7104888" y="3886200"/>
            <a:ext cx="502920" cy="365760"/>
          </a:xfrm>
          <a:prstGeom prst="rect">
            <a:avLst/>
          </a:prstGeom>
          <a:noFill/>
        </p:spPr>
        <p:txBody>
          <a:bodyPr wrap="square" lIns="36576" tIns="22860" rIns="36576">
            <a:spAutoFit/>
          </a:bodyPr>
          <a:lstStyle/>
          <a:p>
            <a:pPr>
              <a:spcAft>
                <a:spcPts val="500"/>
              </a:spcAft>
              <a:defRPr sz="2100" b="1">
                <a:solidFill>
                  <a:srgbClr val="2BABAC"/>
                </a:solidFill>
                <a:latin typeface="Aptos"/>
              </a:defRPr>
            </a:pPr>
            <a:r>
              <a:t>→</a:t>
            </a:r>
          </a:p>
        </p:txBody>
      </p:sp>
      <p:sp>
        <p:nvSpPr>
          <p:cNvPr id="25" name="TextBox 24"/>
          <p:cNvSpPr txBox="1"/>
          <p:nvPr/>
        </p:nvSpPr>
        <p:spPr>
          <a:xfrm>
            <a:off x="914400" y="2834640"/>
            <a:ext cx="9966960" cy="530352"/>
          </a:xfrm>
          <a:prstGeom prst="rect">
            <a:avLst/>
          </a:prstGeom>
          <a:noFill/>
        </p:spPr>
        <p:txBody>
          <a:bodyPr wrap="square" lIns="36576" tIns="22860" rIns="36576">
            <a:spAutoFit/>
          </a:bodyPr>
          <a:lstStyle/>
          <a:p>
            <a:pPr algn="ctr">
              <a:spcAft>
                <a:spcPts val="500"/>
              </a:spcAft>
              <a:defRPr sz="1500" b="0">
                <a:solidFill>
                  <a:srgbClr val="596F83"/>
                </a:solidFill>
                <a:latin typeface="Aptos"/>
              </a:defRPr>
            </a:pPr>
            <a:r>
              <a:t>Advisor–student assignments link advisors to students. Program requirements specify eligible course IDs.</a:t>
            </a:r>
          </a:p>
        </p:txBody>
      </p:sp>
      <p:sp>
        <p:nvSpPr>
          <p:cNvPr id="26" name="TextBox 25"/>
          <p:cNvSpPr txBox="1"/>
          <p:nvPr/>
        </p:nvSpPr>
        <p:spPr>
          <a:xfrm>
            <a:off x="914400" y="4919472"/>
            <a:ext cx="10241280" cy="585216"/>
          </a:xfrm>
          <a:prstGeom prst="rect">
            <a:avLst/>
          </a:prstGeom>
          <a:noFill/>
        </p:spPr>
        <p:txBody>
          <a:bodyPr wrap="square" lIns="36576" tIns="22860" rIns="36576">
            <a:spAutoFit/>
          </a:bodyPr>
          <a:lstStyle/>
          <a:p>
            <a:pPr algn="ctr">
              <a:spcAft>
                <a:spcPts val="500"/>
              </a:spcAft>
              <a:defRPr sz="1500" b="1">
                <a:solidFill>
                  <a:srgbClr val="295BA5"/>
                </a:solidFill>
                <a:latin typeface="Aptos"/>
              </a:defRPr>
            </a:pPr>
            <a:r>
              <a:t>Contract fields: enrollment.status = in_progress  •  program_requirements.eligible_course_ids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AGILE DELIVERY</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dirty="0"/>
              <a:t>Product backlog</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The complete product backlog spans the full MVP; Sprint 1 selects the foundational work.</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13</a:t>
            </a:r>
            <a:endParaRPr dirty="0"/>
          </a:p>
        </p:txBody>
      </p:sp>
      <p:pic>
        <p:nvPicPr>
          <p:cNvPr id="28" name="Picture 27">
            <a:extLst>
              <a:ext uri="{FF2B5EF4-FFF2-40B4-BE49-F238E27FC236}">
                <a16:creationId xmlns:a16="http://schemas.microsoft.com/office/drawing/2014/main" id="{E2A0B772-71D2-B74C-2E51-223891DA17A5}"/>
              </a:ext>
            </a:extLst>
          </p:cNvPr>
          <p:cNvPicPr>
            <a:picLocks noChangeAspect="1"/>
          </p:cNvPicPr>
          <p:nvPr/>
        </p:nvPicPr>
        <p:blipFill>
          <a:blip r:embed="rId2"/>
          <a:stretch>
            <a:fillRect/>
          </a:stretch>
        </p:blipFill>
        <p:spPr>
          <a:xfrm>
            <a:off x="310090" y="1739449"/>
            <a:ext cx="11395033" cy="434131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COMMITTED WORK</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dirty="0"/>
              <a:t>Sprint 1 backlog</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14</a:t>
            </a:r>
            <a:endParaRPr dirty="0"/>
          </a:p>
        </p:txBody>
      </p:sp>
      <p:sp>
        <p:nvSpPr>
          <p:cNvPr id="9" name="Rounded Rectangle 8"/>
          <p:cNvSpPr/>
          <p:nvPr/>
        </p:nvSpPr>
        <p:spPr>
          <a:xfrm>
            <a:off x="731520" y="1627632"/>
            <a:ext cx="10789920" cy="6858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755648"/>
            <a:ext cx="2743200" cy="365760"/>
          </a:xfrm>
          <a:prstGeom prst="rect">
            <a:avLst/>
          </a:prstGeom>
          <a:noFill/>
        </p:spPr>
        <p:txBody>
          <a:bodyPr wrap="square" lIns="36576" tIns="22860" rIns="36576">
            <a:spAutoFit/>
          </a:bodyPr>
          <a:lstStyle/>
          <a:p>
            <a:pPr>
              <a:spcAft>
                <a:spcPts val="500"/>
              </a:spcAft>
              <a:defRPr sz="1500" b="1">
                <a:solidFill>
                  <a:srgbClr val="133458"/>
                </a:solidFill>
                <a:latin typeface="Aptos"/>
              </a:defRPr>
            </a:pPr>
            <a:r>
              <a:t>Data &amp; import</a:t>
            </a:r>
          </a:p>
        </p:txBody>
      </p:sp>
      <p:sp>
        <p:nvSpPr>
          <p:cNvPr id="11" name="TextBox 10"/>
          <p:cNvSpPr txBox="1"/>
          <p:nvPr/>
        </p:nvSpPr>
        <p:spPr>
          <a:xfrm>
            <a:off x="3794760" y="1755648"/>
            <a:ext cx="7406640" cy="411480"/>
          </a:xfrm>
          <a:prstGeom prst="rect">
            <a:avLst/>
          </a:prstGeom>
          <a:noFill/>
        </p:spPr>
        <p:txBody>
          <a:bodyPr wrap="square" lIns="36576" tIns="22860" rIns="36576">
            <a:spAutoFit/>
          </a:bodyPr>
          <a:lstStyle/>
          <a:p>
            <a:pPr>
              <a:spcAft>
                <a:spcPts val="500"/>
              </a:spcAft>
              <a:defRPr sz="1400" b="0">
                <a:solidFill>
                  <a:srgbClr val="596F83"/>
                </a:solidFill>
                <a:latin typeface="Aptos"/>
              </a:defRPr>
            </a:pPr>
            <a:r>
              <a:t>Schema-aligned CSVs; valid keys, statuses and repeat scenarios</a:t>
            </a:r>
          </a:p>
        </p:txBody>
      </p:sp>
      <p:sp>
        <p:nvSpPr>
          <p:cNvPr id="12" name="Rounded Rectangle 11"/>
          <p:cNvSpPr/>
          <p:nvPr/>
        </p:nvSpPr>
        <p:spPr>
          <a:xfrm>
            <a:off x="731520" y="2450592"/>
            <a:ext cx="107899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578608"/>
            <a:ext cx="2743200" cy="365760"/>
          </a:xfrm>
          <a:prstGeom prst="rect">
            <a:avLst/>
          </a:prstGeom>
          <a:noFill/>
        </p:spPr>
        <p:txBody>
          <a:bodyPr wrap="square" lIns="36576" tIns="22860" rIns="36576">
            <a:spAutoFit/>
          </a:bodyPr>
          <a:lstStyle/>
          <a:p>
            <a:pPr>
              <a:spcAft>
                <a:spcPts val="500"/>
              </a:spcAft>
              <a:defRPr sz="1500" b="1">
                <a:solidFill>
                  <a:srgbClr val="133458"/>
                </a:solidFill>
                <a:latin typeface="Aptos"/>
              </a:defRPr>
            </a:pPr>
            <a:r>
              <a:t>Identity &amp; access</a:t>
            </a:r>
          </a:p>
        </p:txBody>
      </p:sp>
      <p:sp>
        <p:nvSpPr>
          <p:cNvPr id="14" name="TextBox 13"/>
          <p:cNvSpPr txBox="1"/>
          <p:nvPr/>
        </p:nvSpPr>
        <p:spPr>
          <a:xfrm>
            <a:off x="3794760" y="2578608"/>
            <a:ext cx="7406640" cy="411480"/>
          </a:xfrm>
          <a:prstGeom prst="rect">
            <a:avLst/>
          </a:prstGeom>
          <a:noFill/>
        </p:spPr>
        <p:txBody>
          <a:bodyPr wrap="square" lIns="36576" tIns="22860" rIns="36576">
            <a:spAutoFit/>
          </a:bodyPr>
          <a:lstStyle/>
          <a:p>
            <a:pPr>
              <a:spcAft>
                <a:spcPts val="500"/>
              </a:spcAft>
              <a:defRPr sz="1400" b="0">
                <a:solidFill>
                  <a:srgbClr val="596F83"/>
                </a:solidFill>
                <a:latin typeface="Aptos"/>
              </a:defRPr>
            </a:pPr>
            <a:r>
              <a:t>Authenticated roles; student/advisor records protected</a:t>
            </a:r>
          </a:p>
        </p:txBody>
      </p:sp>
      <p:sp>
        <p:nvSpPr>
          <p:cNvPr id="15" name="Rounded Rectangle 14"/>
          <p:cNvSpPr/>
          <p:nvPr/>
        </p:nvSpPr>
        <p:spPr>
          <a:xfrm>
            <a:off x="731520" y="3273552"/>
            <a:ext cx="10789920" cy="6858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401568"/>
            <a:ext cx="2743200" cy="365760"/>
          </a:xfrm>
          <a:prstGeom prst="rect">
            <a:avLst/>
          </a:prstGeom>
          <a:noFill/>
        </p:spPr>
        <p:txBody>
          <a:bodyPr wrap="square" lIns="36576" tIns="22860" rIns="36576">
            <a:spAutoFit/>
          </a:bodyPr>
          <a:lstStyle/>
          <a:p>
            <a:pPr>
              <a:spcAft>
                <a:spcPts val="500"/>
              </a:spcAft>
              <a:defRPr sz="1500" b="1">
                <a:solidFill>
                  <a:srgbClr val="133458"/>
                </a:solidFill>
                <a:latin typeface="Aptos"/>
              </a:defRPr>
            </a:pPr>
            <a:r>
              <a:t>Student academic profile</a:t>
            </a:r>
          </a:p>
        </p:txBody>
      </p:sp>
      <p:sp>
        <p:nvSpPr>
          <p:cNvPr id="17" name="TextBox 16"/>
          <p:cNvSpPr txBox="1"/>
          <p:nvPr/>
        </p:nvSpPr>
        <p:spPr>
          <a:xfrm>
            <a:off x="3794760" y="3401568"/>
            <a:ext cx="7406640" cy="411480"/>
          </a:xfrm>
          <a:prstGeom prst="rect">
            <a:avLst/>
          </a:prstGeom>
          <a:noFill/>
        </p:spPr>
        <p:txBody>
          <a:bodyPr wrap="square" lIns="36576" tIns="22860" rIns="36576">
            <a:spAutoFit/>
          </a:bodyPr>
          <a:lstStyle/>
          <a:p>
            <a:pPr>
              <a:spcAft>
                <a:spcPts val="500"/>
              </a:spcAft>
              <a:defRPr sz="1400" b="0">
                <a:solidFill>
                  <a:srgbClr val="596F83"/>
                </a:solidFill>
                <a:latin typeface="Aptos"/>
              </a:defRPr>
            </a:pPr>
            <a:r>
              <a:t>Course history and GPA/credits exposed correctly</a:t>
            </a:r>
          </a:p>
        </p:txBody>
      </p:sp>
      <p:sp>
        <p:nvSpPr>
          <p:cNvPr id="18" name="Rounded Rectangle 17"/>
          <p:cNvSpPr/>
          <p:nvPr/>
        </p:nvSpPr>
        <p:spPr>
          <a:xfrm>
            <a:off x="731520" y="4096512"/>
            <a:ext cx="107899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224528"/>
            <a:ext cx="2743200" cy="300082"/>
          </a:xfrm>
          <a:prstGeom prst="rect">
            <a:avLst/>
          </a:prstGeom>
          <a:noFill/>
        </p:spPr>
        <p:txBody>
          <a:bodyPr wrap="square" lIns="36576" tIns="22860" rIns="36576">
            <a:spAutoFit/>
          </a:bodyPr>
          <a:lstStyle/>
          <a:p>
            <a:pPr>
              <a:spcAft>
                <a:spcPts val="500"/>
              </a:spcAft>
              <a:defRPr sz="1500" b="1">
                <a:solidFill>
                  <a:srgbClr val="133458"/>
                </a:solidFill>
                <a:latin typeface="Aptos"/>
              </a:defRPr>
            </a:pPr>
            <a:r>
              <a:rPr lang="en-US" dirty="0"/>
              <a:t>Admin</a:t>
            </a:r>
            <a:r>
              <a:rPr dirty="0"/>
              <a:t> workflow</a:t>
            </a:r>
          </a:p>
        </p:txBody>
      </p:sp>
      <p:sp>
        <p:nvSpPr>
          <p:cNvPr id="20" name="TextBox 19"/>
          <p:cNvSpPr txBox="1"/>
          <p:nvPr/>
        </p:nvSpPr>
        <p:spPr>
          <a:xfrm>
            <a:off x="3794760" y="4224528"/>
            <a:ext cx="7406640" cy="411480"/>
          </a:xfrm>
          <a:prstGeom prst="rect">
            <a:avLst/>
          </a:prstGeom>
          <a:noFill/>
        </p:spPr>
        <p:txBody>
          <a:bodyPr wrap="square" lIns="36576" tIns="22860" rIns="36576">
            <a:spAutoFit/>
          </a:bodyPr>
          <a:lstStyle/>
          <a:p>
            <a:pPr>
              <a:spcAft>
                <a:spcPts val="500"/>
              </a:spcAft>
              <a:defRPr sz="1400" b="0">
                <a:solidFill>
                  <a:srgbClr val="596F83"/>
                </a:solidFill>
                <a:latin typeface="Aptos"/>
              </a:defRPr>
            </a:pPr>
            <a:r>
              <a:t>Assigned-student roster and dashboard API accessible</a:t>
            </a:r>
          </a:p>
        </p:txBody>
      </p:sp>
      <p:sp>
        <p:nvSpPr>
          <p:cNvPr id="21" name="Rounded Rectangle 20"/>
          <p:cNvSpPr/>
          <p:nvPr/>
        </p:nvSpPr>
        <p:spPr>
          <a:xfrm>
            <a:off x="731520" y="4919472"/>
            <a:ext cx="10789920" cy="6858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047488"/>
            <a:ext cx="2743200" cy="365760"/>
          </a:xfrm>
          <a:prstGeom prst="rect">
            <a:avLst/>
          </a:prstGeom>
          <a:noFill/>
        </p:spPr>
        <p:txBody>
          <a:bodyPr wrap="square" lIns="36576" tIns="22860" rIns="36576">
            <a:spAutoFit/>
          </a:bodyPr>
          <a:lstStyle/>
          <a:p>
            <a:pPr>
              <a:spcAft>
                <a:spcPts val="500"/>
              </a:spcAft>
              <a:defRPr sz="1500" b="1">
                <a:solidFill>
                  <a:srgbClr val="133458"/>
                </a:solidFill>
                <a:latin typeface="Aptos"/>
              </a:defRPr>
            </a:pPr>
            <a:r>
              <a:t>AI readiness &amp; review</a:t>
            </a:r>
          </a:p>
        </p:txBody>
      </p:sp>
      <p:sp>
        <p:nvSpPr>
          <p:cNvPr id="23" name="TextBox 22"/>
          <p:cNvSpPr txBox="1"/>
          <p:nvPr/>
        </p:nvSpPr>
        <p:spPr>
          <a:xfrm>
            <a:off x="3794760" y="5047488"/>
            <a:ext cx="7406640" cy="411480"/>
          </a:xfrm>
          <a:prstGeom prst="rect">
            <a:avLst/>
          </a:prstGeom>
          <a:noFill/>
        </p:spPr>
        <p:txBody>
          <a:bodyPr wrap="square" lIns="36576" tIns="22860" rIns="36576">
            <a:spAutoFit/>
          </a:bodyPr>
          <a:lstStyle/>
          <a:p>
            <a:pPr>
              <a:spcAft>
                <a:spcPts val="500"/>
              </a:spcAft>
              <a:defRPr sz="1400" b="0">
                <a:solidFill>
                  <a:srgbClr val="596F83"/>
                </a:solidFill>
                <a:latin typeface="Aptos"/>
              </a:defRPr>
            </a:pPr>
            <a:r>
              <a:t>Risk target/doc sources defined; end-to-end review prepared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SPRINT 1 DELIVERABLE</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Synthetic academic dataset</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Fixed CSV artifacts prepared for repeatable integration testing.</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15</a:t>
            </a:r>
            <a:endParaRPr dirty="0"/>
          </a:p>
        </p:txBody>
      </p:sp>
      <p:sp>
        <p:nvSpPr>
          <p:cNvPr id="9" name="Rounded Rectangle 8"/>
          <p:cNvSpPr/>
          <p:nvPr/>
        </p:nvSpPr>
        <p:spPr>
          <a:xfrm>
            <a:off x="704088" y="1673352"/>
            <a:ext cx="2651760" cy="1444752"/>
          </a:xfrm>
          <a:prstGeom prst="round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 y="1865376"/>
            <a:ext cx="2432304" cy="594360"/>
          </a:xfrm>
          <a:prstGeom prst="rect">
            <a:avLst/>
          </a:prstGeom>
          <a:noFill/>
        </p:spPr>
        <p:txBody>
          <a:bodyPr wrap="square" lIns="36576" tIns="22860" rIns="36576">
            <a:spAutoFit/>
          </a:bodyPr>
          <a:lstStyle/>
          <a:p>
            <a:pPr algn="ctr">
              <a:spcAft>
                <a:spcPts val="500"/>
              </a:spcAft>
              <a:defRPr sz="3500" b="1">
                <a:solidFill>
                  <a:srgbClr val="295BA5"/>
                </a:solidFill>
                <a:latin typeface="Aptos"/>
              </a:defRPr>
            </a:pPr>
            <a:r>
              <a:t>100</a:t>
            </a:r>
          </a:p>
        </p:txBody>
      </p:sp>
      <p:sp>
        <p:nvSpPr>
          <p:cNvPr id="11" name="TextBox 10"/>
          <p:cNvSpPr txBox="1"/>
          <p:nvPr/>
        </p:nvSpPr>
        <p:spPr>
          <a:xfrm>
            <a:off x="813816" y="2560320"/>
            <a:ext cx="2432304" cy="292608"/>
          </a:xfrm>
          <a:prstGeom prst="rect">
            <a:avLst/>
          </a:prstGeom>
          <a:noFill/>
        </p:spPr>
        <p:txBody>
          <a:bodyPr wrap="square" lIns="36576" tIns="22860" rIns="36576">
            <a:spAutoFit/>
          </a:bodyPr>
          <a:lstStyle/>
          <a:p>
            <a:pPr algn="ctr">
              <a:spcAft>
                <a:spcPts val="500"/>
              </a:spcAft>
              <a:defRPr sz="1400" b="1">
                <a:solidFill>
                  <a:srgbClr val="133458"/>
                </a:solidFill>
                <a:latin typeface="Aptos"/>
              </a:defRPr>
            </a:pPr>
            <a:r>
              <a:t>students</a:t>
            </a:r>
          </a:p>
        </p:txBody>
      </p:sp>
      <p:sp>
        <p:nvSpPr>
          <p:cNvPr id="12" name="Rounded Rectangle 11"/>
          <p:cNvSpPr/>
          <p:nvPr/>
        </p:nvSpPr>
        <p:spPr>
          <a:xfrm>
            <a:off x="3575304" y="1673352"/>
            <a:ext cx="2651760" cy="1444752"/>
          </a:xfrm>
          <a:prstGeom prst="round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5032" y="1865376"/>
            <a:ext cx="2432304" cy="594360"/>
          </a:xfrm>
          <a:prstGeom prst="rect">
            <a:avLst/>
          </a:prstGeom>
          <a:noFill/>
        </p:spPr>
        <p:txBody>
          <a:bodyPr wrap="square" lIns="36576" tIns="22860" rIns="36576">
            <a:spAutoFit/>
          </a:bodyPr>
          <a:lstStyle/>
          <a:p>
            <a:pPr algn="ctr">
              <a:spcAft>
                <a:spcPts val="500"/>
              </a:spcAft>
              <a:defRPr sz="3500" b="1">
                <a:solidFill>
                  <a:srgbClr val="295BA5"/>
                </a:solidFill>
                <a:latin typeface="Aptos"/>
              </a:defRPr>
            </a:pPr>
            <a:r>
              <a:t>800</a:t>
            </a:r>
          </a:p>
        </p:txBody>
      </p:sp>
      <p:sp>
        <p:nvSpPr>
          <p:cNvPr id="14" name="TextBox 13"/>
          <p:cNvSpPr txBox="1"/>
          <p:nvPr/>
        </p:nvSpPr>
        <p:spPr>
          <a:xfrm>
            <a:off x="3685032" y="2560320"/>
            <a:ext cx="2432304" cy="292608"/>
          </a:xfrm>
          <a:prstGeom prst="rect">
            <a:avLst/>
          </a:prstGeom>
          <a:noFill/>
        </p:spPr>
        <p:txBody>
          <a:bodyPr wrap="square" lIns="36576" tIns="22860" rIns="36576">
            <a:spAutoFit/>
          </a:bodyPr>
          <a:lstStyle/>
          <a:p>
            <a:pPr algn="ctr">
              <a:spcAft>
                <a:spcPts val="500"/>
              </a:spcAft>
              <a:defRPr sz="1400" b="1">
                <a:solidFill>
                  <a:srgbClr val="133458"/>
                </a:solidFill>
                <a:latin typeface="Aptos"/>
              </a:defRPr>
            </a:pPr>
            <a:r>
              <a:t>enrollments</a:t>
            </a:r>
          </a:p>
        </p:txBody>
      </p:sp>
      <p:sp>
        <p:nvSpPr>
          <p:cNvPr id="15" name="Rounded Rectangle 14"/>
          <p:cNvSpPr/>
          <p:nvPr/>
        </p:nvSpPr>
        <p:spPr>
          <a:xfrm>
            <a:off x="6446520" y="1673352"/>
            <a:ext cx="2651760" cy="1444752"/>
          </a:xfrm>
          <a:prstGeom prst="round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56248" y="1865376"/>
            <a:ext cx="2432304" cy="594360"/>
          </a:xfrm>
          <a:prstGeom prst="rect">
            <a:avLst/>
          </a:prstGeom>
          <a:noFill/>
        </p:spPr>
        <p:txBody>
          <a:bodyPr wrap="square" lIns="36576" tIns="22860" rIns="36576">
            <a:spAutoFit/>
          </a:bodyPr>
          <a:lstStyle/>
          <a:p>
            <a:pPr algn="ctr">
              <a:spcAft>
                <a:spcPts val="500"/>
              </a:spcAft>
              <a:defRPr sz="3500" b="1">
                <a:solidFill>
                  <a:srgbClr val="295BA5"/>
                </a:solidFill>
                <a:latin typeface="Aptos"/>
              </a:defRPr>
            </a:pPr>
            <a:r>
              <a:t>30</a:t>
            </a:r>
          </a:p>
        </p:txBody>
      </p:sp>
      <p:sp>
        <p:nvSpPr>
          <p:cNvPr id="17" name="TextBox 16"/>
          <p:cNvSpPr txBox="1"/>
          <p:nvPr/>
        </p:nvSpPr>
        <p:spPr>
          <a:xfrm>
            <a:off x="6556248" y="2560320"/>
            <a:ext cx="2432304" cy="292608"/>
          </a:xfrm>
          <a:prstGeom prst="rect">
            <a:avLst/>
          </a:prstGeom>
          <a:noFill/>
        </p:spPr>
        <p:txBody>
          <a:bodyPr wrap="square" lIns="36576" tIns="22860" rIns="36576">
            <a:spAutoFit/>
          </a:bodyPr>
          <a:lstStyle/>
          <a:p>
            <a:pPr algn="ctr">
              <a:spcAft>
                <a:spcPts val="500"/>
              </a:spcAft>
              <a:defRPr sz="1400" b="1">
                <a:solidFill>
                  <a:srgbClr val="133458"/>
                </a:solidFill>
                <a:latin typeface="Aptos"/>
              </a:defRPr>
            </a:pPr>
            <a:r>
              <a:t>courses</a:t>
            </a:r>
          </a:p>
        </p:txBody>
      </p:sp>
      <p:sp>
        <p:nvSpPr>
          <p:cNvPr id="18" name="Rounded Rectangle 17"/>
          <p:cNvSpPr/>
          <p:nvPr/>
        </p:nvSpPr>
        <p:spPr>
          <a:xfrm>
            <a:off x="9317736" y="1673352"/>
            <a:ext cx="2651760" cy="1444752"/>
          </a:xfrm>
          <a:prstGeom prst="round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27463" y="1865376"/>
            <a:ext cx="2432304" cy="594360"/>
          </a:xfrm>
          <a:prstGeom prst="rect">
            <a:avLst/>
          </a:prstGeom>
          <a:noFill/>
        </p:spPr>
        <p:txBody>
          <a:bodyPr wrap="square" lIns="36576" tIns="22860" rIns="36576">
            <a:spAutoFit/>
          </a:bodyPr>
          <a:lstStyle/>
          <a:p>
            <a:pPr algn="ctr">
              <a:spcAft>
                <a:spcPts val="500"/>
              </a:spcAft>
              <a:defRPr sz="3500" b="1">
                <a:solidFill>
                  <a:srgbClr val="295BA5"/>
                </a:solidFill>
                <a:latin typeface="Aptos"/>
              </a:defRPr>
            </a:pPr>
            <a:r>
              <a:t>4</a:t>
            </a:r>
          </a:p>
        </p:txBody>
      </p:sp>
      <p:sp>
        <p:nvSpPr>
          <p:cNvPr id="20" name="TextBox 19"/>
          <p:cNvSpPr txBox="1"/>
          <p:nvPr/>
        </p:nvSpPr>
        <p:spPr>
          <a:xfrm>
            <a:off x="9427463" y="2560320"/>
            <a:ext cx="2432304" cy="292608"/>
          </a:xfrm>
          <a:prstGeom prst="rect">
            <a:avLst/>
          </a:prstGeom>
          <a:noFill/>
        </p:spPr>
        <p:txBody>
          <a:bodyPr wrap="square" lIns="36576" tIns="22860" rIns="36576">
            <a:spAutoFit/>
          </a:bodyPr>
          <a:lstStyle/>
          <a:p>
            <a:pPr algn="ctr">
              <a:spcAft>
                <a:spcPts val="500"/>
              </a:spcAft>
              <a:defRPr sz="1400" b="1">
                <a:solidFill>
                  <a:srgbClr val="133458"/>
                </a:solidFill>
                <a:latin typeface="Aptos"/>
              </a:defRPr>
            </a:pPr>
            <a:r>
              <a:t>advisors</a:t>
            </a:r>
          </a:p>
        </p:txBody>
      </p:sp>
      <p:sp>
        <p:nvSpPr>
          <p:cNvPr id="21" name="Rounded Rectangle 20"/>
          <p:cNvSpPr/>
          <p:nvPr/>
        </p:nvSpPr>
        <p:spPr>
          <a:xfrm>
            <a:off x="731520" y="3429000"/>
            <a:ext cx="5212080" cy="141732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1520" y="3429000"/>
            <a:ext cx="64008" cy="141732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3575304"/>
            <a:ext cx="4846320"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Coverage</a:t>
            </a:r>
          </a:p>
        </p:txBody>
      </p:sp>
      <p:sp>
        <p:nvSpPr>
          <p:cNvPr id="24" name="TextBox 23"/>
          <p:cNvSpPr txBox="1"/>
          <p:nvPr/>
        </p:nvSpPr>
        <p:spPr>
          <a:xfrm>
            <a:off x="914400" y="4050791"/>
            <a:ext cx="4828032" cy="68580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105 users • 100 assignments • 1 program • 3 requirement groups</a:t>
            </a:r>
          </a:p>
        </p:txBody>
      </p:sp>
      <p:sp>
        <p:nvSpPr>
          <p:cNvPr id="25" name="Rounded Rectangle 24"/>
          <p:cNvSpPr/>
          <p:nvPr/>
        </p:nvSpPr>
        <p:spPr>
          <a:xfrm>
            <a:off x="6181344" y="3429000"/>
            <a:ext cx="5212080" cy="141732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81344" y="3429000"/>
            <a:ext cx="64008" cy="141732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64224" y="3575304"/>
            <a:ext cx="4846320"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Integration handoff</a:t>
            </a:r>
          </a:p>
        </p:txBody>
      </p:sp>
      <p:sp>
        <p:nvSpPr>
          <p:cNvPr id="28" name="TextBox 27"/>
          <p:cNvSpPr txBox="1"/>
          <p:nvPr/>
        </p:nvSpPr>
        <p:spPr>
          <a:xfrm>
            <a:off x="6364224" y="4050791"/>
            <a:ext cx="4828032" cy="269304"/>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PR #6 reviewed</a:t>
            </a:r>
          </a:p>
        </p:txBody>
      </p:sp>
      <p:sp>
        <p:nvSpPr>
          <p:cNvPr id="29" name="TextBox 28"/>
          <p:cNvSpPr txBox="1"/>
          <p:nvPr/>
        </p:nvSpPr>
        <p:spPr>
          <a:xfrm>
            <a:off x="841248" y="5193792"/>
            <a:ext cx="10424160" cy="502920"/>
          </a:xfrm>
          <a:prstGeom prst="rect">
            <a:avLst/>
          </a:prstGeom>
          <a:noFill/>
        </p:spPr>
        <p:txBody>
          <a:bodyPr wrap="square" lIns="36576" tIns="22860" rIns="36576">
            <a:spAutoFit/>
          </a:bodyPr>
          <a:lstStyle/>
          <a:p>
            <a:pPr>
              <a:spcAft>
                <a:spcPts val="500"/>
              </a:spcAft>
              <a:defRPr sz="1400" b="0">
                <a:solidFill>
                  <a:srgbClr val="596F83"/>
                </a:solidFill>
                <a:latin typeface="Aptos"/>
              </a:defRPr>
            </a:pPr>
            <a:r>
              <a:t>Canonical fields: in_progress  •  eligible_course_ids   |   Existing seed records preserved.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REVIEW + QUALITY</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dirty="0"/>
              <a:t>Sprint 1</a:t>
            </a:r>
            <a:r>
              <a:rPr lang="en-US" dirty="0"/>
              <a:t> User Story and Acceptance Criterial</a:t>
            </a:r>
            <a:endParaRPr dirty="0"/>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16</a:t>
            </a:r>
            <a:endParaRPr dirty="0"/>
          </a:p>
        </p:txBody>
      </p:sp>
      <p:pic>
        <p:nvPicPr>
          <p:cNvPr id="26" name="Picture 25">
            <a:extLst>
              <a:ext uri="{FF2B5EF4-FFF2-40B4-BE49-F238E27FC236}">
                <a16:creationId xmlns:a16="http://schemas.microsoft.com/office/drawing/2014/main" id="{B4708436-E739-C242-F41B-B8127D04DF5C}"/>
              </a:ext>
            </a:extLst>
          </p:cNvPr>
          <p:cNvPicPr>
            <a:picLocks noChangeAspect="1"/>
          </p:cNvPicPr>
          <p:nvPr/>
        </p:nvPicPr>
        <p:blipFill>
          <a:blip r:embed="rId2"/>
          <a:stretch>
            <a:fillRect/>
          </a:stretch>
        </p:blipFill>
        <p:spPr>
          <a:xfrm>
            <a:off x="502920" y="1762704"/>
            <a:ext cx="11334661" cy="18784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28BE1-2D49-A568-C068-EAF21BAC9A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06B958-BD8D-2FC7-2841-48672A2E81EE}"/>
              </a:ext>
            </a:extLst>
          </p:cNvPr>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91250E6-13AF-C512-9167-BBB8E7E034D7}"/>
              </a:ext>
            </a:extLst>
          </p:cNvPr>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REVIEW + QUALITY</a:t>
            </a:r>
          </a:p>
        </p:txBody>
      </p:sp>
      <p:sp>
        <p:nvSpPr>
          <p:cNvPr id="4" name="TextBox 3">
            <a:extLst>
              <a:ext uri="{FF2B5EF4-FFF2-40B4-BE49-F238E27FC236}">
                <a16:creationId xmlns:a16="http://schemas.microsoft.com/office/drawing/2014/main" id="{779BDA1A-E37C-FD22-EFD5-EF3F43440783}"/>
              </a:ext>
            </a:extLst>
          </p:cNvPr>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rPr dirty="0"/>
              <a:t>Sprint 1 </a:t>
            </a:r>
            <a:r>
              <a:rPr lang="en-US" dirty="0"/>
              <a:t>Test Cases</a:t>
            </a:r>
            <a:endParaRPr dirty="0"/>
          </a:p>
        </p:txBody>
      </p:sp>
      <p:sp>
        <p:nvSpPr>
          <p:cNvPr id="5" name="TextBox 4">
            <a:extLst>
              <a:ext uri="{FF2B5EF4-FFF2-40B4-BE49-F238E27FC236}">
                <a16:creationId xmlns:a16="http://schemas.microsoft.com/office/drawing/2014/main" id="{06BF7E20-8DFD-6451-B138-52F2E270BDA4}"/>
              </a:ext>
            </a:extLst>
          </p:cNvPr>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Separate verified dataset work from integration work requiring final team confirmation.</a:t>
            </a:r>
          </a:p>
        </p:txBody>
      </p:sp>
      <p:sp>
        <p:nvSpPr>
          <p:cNvPr id="6" name="Rectangle 5">
            <a:extLst>
              <a:ext uri="{FF2B5EF4-FFF2-40B4-BE49-F238E27FC236}">
                <a16:creationId xmlns:a16="http://schemas.microsoft.com/office/drawing/2014/main" id="{2489956F-29D9-7F16-8EDD-ACFFAC7F96BA}"/>
              </a:ext>
            </a:extLst>
          </p:cNvPr>
          <p:cNvSpPr/>
          <p:nvPr/>
        </p:nvSpPr>
        <p:spPr>
          <a:xfrm>
            <a:off x="512752"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70D4E2C-A94F-9A23-0115-0F93091A7950}"/>
              </a:ext>
            </a:extLst>
          </p:cNvPr>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a:extLst>
              <a:ext uri="{FF2B5EF4-FFF2-40B4-BE49-F238E27FC236}">
                <a16:creationId xmlns:a16="http://schemas.microsoft.com/office/drawing/2014/main" id="{C3F7F254-4627-B147-EAB1-017967275052}"/>
              </a:ext>
            </a:extLst>
          </p:cNvPr>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17</a:t>
            </a:r>
            <a:endParaRPr dirty="0"/>
          </a:p>
        </p:txBody>
      </p:sp>
      <p:pic>
        <p:nvPicPr>
          <p:cNvPr id="11" name="Picture 10">
            <a:extLst>
              <a:ext uri="{FF2B5EF4-FFF2-40B4-BE49-F238E27FC236}">
                <a16:creationId xmlns:a16="http://schemas.microsoft.com/office/drawing/2014/main" id="{D8F6BECD-1EA7-6B9E-45F4-82333F96EDE4}"/>
              </a:ext>
            </a:extLst>
          </p:cNvPr>
          <p:cNvPicPr>
            <a:picLocks noChangeAspect="1"/>
          </p:cNvPicPr>
          <p:nvPr/>
        </p:nvPicPr>
        <p:blipFill>
          <a:blip r:embed="rId2"/>
          <a:stretch>
            <a:fillRect/>
          </a:stretch>
        </p:blipFill>
        <p:spPr>
          <a:xfrm>
            <a:off x="697993" y="1508760"/>
            <a:ext cx="10771346" cy="3970325"/>
          </a:xfrm>
          <a:prstGeom prst="rect">
            <a:avLst/>
          </a:prstGeom>
        </p:spPr>
      </p:pic>
    </p:spTree>
    <p:extLst>
      <p:ext uri="{BB962C8B-B14F-4D97-AF65-F5344CB8AC3E}">
        <p14:creationId xmlns:p14="http://schemas.microsoft.com/office/powerpoint/2010/main" val="3320736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VELOCITY + BURNDOWN</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Sprint 1 metrics</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Use the team’s recorded story points; do not substitute issue counts or estimates.</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18</a:t>
            </a:r>
            <a:endParaRPr dirty="0"/>
          </a:p>
        </p:txBody>
      </p:sp>
      <p:sp>
        <p:nvSpPr>
          <p:cNvPr id="9" name="Rounded Rectangle 8"/>
          <p:cNvSpPr/>
          <p:nvPr/>
        </p:nvSpPr>
        <p:spPr>
          <a:xfrm>
            <a:off x="777240" y="1700783"/>
            <a:ext cx="5074920" cy="4564685"/>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929384"/>
            <a:ext cx="4389120" cy="347472"/>
          </a:xfrm>
          <a:prstGeom prst="rect">
            <a:avLst/>
          </a:prstGeom>
          <a:noFill/>
        </p:spPr>
        <p:txBody>
          <a:bodyPr wrap="square" lIns="36576" tIns="22860" rIns="36576">
            <a:spAutoFit/>
          </a:bodyPr>
          <a:lstStyle/>
          <a:p>
            <a:pPr>
              <a:spcAft>
                <a:spcPts val="500"/>
              </a:spcAft>
              <a:defRPr sz="1900" b="1">
                <a:solidFill>
                  <a:srgbClr val="133458"/>
                </a:solidFill>
                <a:latin typeface="Aptos"/>
              </a:defRPr>
            </a:pPr>
            <a:r>
              <a:t>Velocity / completion</a:t>
            </a:r>
          </a:p>
        </p:txBody>
      </p:sp>
      <p:sp>
        <p:nvSpPr>
          <p:cNvPr id="11" name="TextBox 10"/>
          <p:cNvSpPr txBox="1"/>
          <p:nvPr/>
        </p:nvSpPr>
        <p:spPr>
          <a:xfrm>
            <a:off x="1082039" y="2417720"/>
            <a:ext cx="4480560" cy="1633781"/>
          </a:xfrm>
          <a:prstGeom prst="rect">
            <a:avLst/>
          </a:prstGeom>
          <a:noFill/>
        </p:spPr>
        <p:txBody>
          <a:bodyPr wrap="square" lIns="36576" tIns="22860" rIns="36576">
            <a:spAutoFit/>
          </a:bodyPr>
          <a:lstStyle/>
          <a:p>
            <a:pPr>
              <a:spcAft>
                <a:spcPts val="500"/>
              </a:spcAft>
              <a:defRPr sz="1700" b="0">
                <a:solidFill>
                  <a:srgbClr val="596F83"/>
                </a:solidFill>
                <a:latin typeface="Aptos"/>
              </a:defRPr>
            </a:pPr>
            <a:r>
              <a:rPr lang="en-US" dirty="0"/>
              <a:t>Estimated Points : 110</a:t>
            </a:r>
          </a:p>
          <a:p>
            <a:pPr>
              <a:spcAft>
                <a:spcPts val="500"/>
              </a:spcAft>
              <a:defRPr sz="1700" b="0">
                <a:solidFill>
                  <a:srgbClr val="596F83"/>
                </a:solidFill>
                <a:latin typeface="Aptos"/>
              </a:defRPr>
            </a:pPr>
            <a:r>
              <a:rPr lang="en-US" dirty="0"/>
              <a:t>Total Points Delivered : 110</a:t>
            </a:r>
          </a:p>
          <a:p>
            <a:pPr>
              <a:spcAft>
                <a:spcPts val="500"/>
              </a:spcAft>
              <a:defRPr sz="1700" b="0">
                <a:solidFill>
                  <a:srgbClr val="596F83"/>
                </a:solidFill>
                <a:latin typeface="Aptos"/>
              </a:defRPr>
            </a:pPr>
            <a:r>
              <a:rPr lang="en-US" dirty="0"/>
              <a:t>Total Point Carried Over : 0</a:t>
            </a:r>
          </a:p>
          <a:p>
            <a:pPr>
              <a:spcAft>
                <a:spcPts val="500"/>
              </a:spcAft>
              <a:defRPr sz="1700" b="0">
                <a:solidFill>
                  <a:srgbClr val="596F83"/>
                </a:solidFill>
                <a:latin typeface="Aptos"/>
              </a:defRPr>
            </a:pPr>
            <a:r>
              <a:rPr lang="en-US" dirty="0"/>
              <a:t>Team Velocity: 110</a:t>
            </a:r>
          </a:p>
          <a:p>
            <a:pPr>
              <a:spcAft>
                <a:spcPts val="500"/>
              </a:spcAft>
              <a:defRPr sz="1700" b="0">
                <a:solidFill>
                  <a:srgbClr val="596F83"/>
                </a:solidFill>
                <a:latin typeface="Aptos"/>
              </a:defRPr>
            </a:pPr>
            <a:endParaRPr dirty="0"/>
          </a:p>
        </p:txBody>
      </p:sp>
      <p:sp>
        <p:nvSpPr>
          <p:cNvPr id="12" name="Rounded Rectangle 11"/>
          <p:cNvSpPr/>
          <p:nvPr/>
        </p:nvSpPr>
        <p:spPr>
          <a:xfrm>
            <a:off x="6144768" y="1700784"/>
            <a:ext cx="5257800" cy="4564684"/>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6428232" y="1929384"/>
            <a:ext cx="4663440" cy="347472"/>
          </a:xfrm>
          <a:prstGeom prst="rect">
            <a:avLst/>
          </a:prstGeom>
          <a:noFill/>
        </p:spPr>
        <p:txBody>
          <a:bodyPr wrap="square" lIns="36576" tIns="22860" rIns="36576">
            <a:spAutoFit/>
          </a:bodyPr>
          <a:lstStyle/>
          <a:p>
            <a:pPr>
              <a:spcAft>
                <a:spcPts val="500"/>
              </a:spcAft>
              <a:defRPr sz="1900" b="1">
                <a:solidFill>
                  <a:srgbClr val="133458"/>
                </a:solidFill>
                <a:latin typeface="Aptos"/>
              </a:defRPr>
            </a:pPr>
            <a:r>
              <a:t>Sprint 1 burndown</a:t>
            </a:r>
          </a:p>
        </p:txBody>
      </p:sp>
      <p:sp>
        <p:nvSpPr>
          <p:cNvPr id="14" name="Rectangle 13"/>
          <p:cNvSpPr/>
          <p:nvPr/>
        </p:nvSpPr>
        <p:spPr>
          <a:xfrm>
            <a:off x="6656832" y="2770632"/>
            <a:ext cx="4160520" cy="18288"/>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56832" y="2770632"/>
            <a:ext cx="18288" cy="1600200"/>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6B7B324D-D132-2C34-B956-63922B3B2054}"/>
              </a:ext>
            </a:extLst>
          </p:cNvPr>
          <p:cNvSpPr/>
          <p:nvPr/>
        </p:nvSpPr>
        <p:spPr>
          <a:xfrm>
            <a:off x="6483096" y="2770632"/>
            <a:ext cx="4681728" cy="263692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graphicFrame>
        <p:nvGraphicFramePr>
          <p:cNvPr id="20" name="Chart 19">
            <a:extLst>
              <a:ext uri="{FF2B5EF4-FFF2-40B4-BE49-F238E27FC236}">
                <a16:creationId xmlns:a16="http://schemas.microsoft.com/office/drawing/2014/main" id="{6C6DC85B-8FED-8CE6-F534-1688108AF7A5}"/>
              </a:ext>
            </a:extLst>
          </p:cNvPr>
          <p:cNvGraphicFramePr/>
          <p:nvPr>
            <p:extLst>
              <p:ext uri="{D42A27DB-BD31-4B8C-83A1-F6EECF244321}">
                <p14:modId xmlns:p14="http://schemas.microsoft.com/office/powerpoint/2010/main" val="1829113418"/>
              </p:ext>
            </p:extLst>
          </p:nvPr>
        </p:nvGraphicFramePr>
        <p:xfrm>
          <a:off x="1082039" y="3829668"/>
          <a:ext cx="4480560" cy="20865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APP + API EVIDENCE</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Sprint 1 product demonstration</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Capture only real screens from the integrated application, not mockups.</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19</a:t>
            </a:r>
            <a:endParaRPr dirty="0"/>
          </a:p>
        </p:txBody>
      </p:sp>
      <p:sp>
        <p:nvSpPr>
          <p:cNvPr id="9" name="Rounded Rectangle 8"/>
          <p:cNvSpPr/>
          <p:nvPr/>
        </p:nvSpPr>
        <p:spPr>
          <a:xfrm>
            <a:off x="667511" y="1508760"/>
            <a:ext cx="5573775" cy="430276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5863" y="1778000"/>
            <a:ext cx="4777069" cy="346249"/>
          </a:xfrm>
          <a:prstGeom prst="rect">
            <a:avLst/>
          </a:prstGeom>
          <a:noFill/>
        </p:spPr>
        <p:txBody>
          <a:bodyPr wrap="square" lIns="36576" tIns="22860" rIns="36576">
            <a:spAutoFit/>
          </a:bodyPr>
          <a:lstStyle/>
          <a:p>
            <a:pPr algn="ctr">
              <a:spcAft>
                <a:spcPts val="500"/>
              </a:spcAft>
              <a:defRPr sz="1800" b="1">
                <a:solidFill>
                  <a:srgbClr val="133458"/>
                </a:solidFill>
                <a:latin typeface="Aptos"/>
              </a:defRPr>
            </a:pPr>
            <a:r>
              <a:rPr dirty="0"/>
              <a:t>STUDENT UI</a:t>
            </a:r>
          </a:p>
        </p:txBody>
      </p:sp>
      <p:sp>
        <p:nvSpPr>
          <p:cNvPr id="12" name="TextBox 11"/>
          <p:cNvSpPr txBox="1"/>
          <p:nvPr/>
        </p:nvSpPr>
        <p:spPr>
          <a:xfrm>
            <a:off x="863961" y="5454421"/>
            <a:ext cx="4749927" cy="253916"/>
          </a:xfrm>
          <a:prstGeom prst="rect">
            <a:avLst/>
          </a:prstGeom>
          <a:noFill/>
        </p:spPr>
        <p:txBody>
          <a:bodyPr wrap="square" lIns="36576" tIns="22860" rIns="36576">
            <a:spAutoFit/>
          </a:bodyPr>
          <a:lstStyle/>
          <a:p>
            <a:pPr algn="ctr">
              <a:spcAft>
                <a:spcPts val="500"/>
              </a:spcAft>
              <a:defRPr sz="1200" b="0">
                <a:solidFill>
                  <a:srgbClr val="295BA5"/>
                </a:solidFill>
                <a:latin typeface="Aptos"/>
              </a:defRPr>
            </a:pPr>
            <a:r>
              <a:rPr dirty="0"/>
              <a:t>Academic profile / course history</a:t>
            </a:r>
          </a:p>
        </p:txBody>
      </p:sp>
      <p:sp>
        <p:nvSpPr>
          <p:cNvPr id="13" name="Rounded Rectangle 12"/>
          <p:cNvSpPr/>
          <p:nvPr/>
        </p:nvSpPr>
        <p:spPr>
          <a:xfrm>
            <a:off x="6512560" y="1459381"/>
            <a:ext cx="5252720" cy="430276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78852" y="1755648"/>
            <a:ext cx="3218688" cy="347472"/>
          </a:xfrm>
          <a:prstGeom prst="rect">
            <a:avLst/>
          </a:prstGeom>
          <a:noFill/>
        </p:spPr>
        <p:txBody>
          <a:bodyPr wrap="square" lIns="36576" tIns="22860" rIns="36576">
            <a:spAutoFit/>
          </a:bodyPr>
          <a:lstStyle/>
          <a:p>
            <a:pPr algn="ctr">
              <a:spcAft>
                <a:spcPts val="500"/>
              </a:spcAft>
              <a:defRPr sz="1800" b="1">
                <a:solidFill>
                  <a:srgbClr val="133458"/>
                </a:solidFill>
                <a:latin typeface="Aptos"/>
              </a:defRPr>
            </a:pPr>
            <a:r>
              <a:rPr lang="en-US" dirty="0"/>
              <a:t>ADMIN</a:t>
            </a:r>
            <a:r>
              <a:rPr dirty="0"/>
              <a:t> UI</a:t>
            </a:r>
          </a:p>
        </p:txBody>
      </p:sp>
      <p:sp>
        <p:nvSpPr>
          <p:cNvPr id="16" name="TextBox 15"/>
          <p:cNvSpPr txBox="1"/>
          <p:nvPr/>
        </p:nvSpPr>
        <p:spPr>
          <a:xfrm>
            <a:off x="7538720" y="5455817"/>
            <a:ext cx="3200400" cy="253916"/>
          </a:xfrm>
          <a:prstGeom prst="rect">
            <a:avLst/>
          </a:prstGeom>
          <a:noFill/>
        </p:spPr>
        <p:txBody>
          <a:bodyPr wrap="square" lIns="36576" tIns="22860" rIns="36576">
            <a:spAutoFit/>
          </a:bodyPr>
          <a:lstStyle/>
          <a:p>
            <a:pPr algn="ctr">
              <a:spcAft>
                <a:spcPts val="500"/>
              </a:spcAft>
              <a:defRPr sz="1200" b="0">
                <a:solidFill>
                  <a:srgbClr val="295BA5"/>
                </a:solidFill>
                <a:latin typeface="Aptos"/>
              </a:defRPr>
            </a:pPr>
            <a:r>
              <a:rPr lang="en-US" dirty="0"/>
              <a:t>Overview of Advisor-student performance</a:t>
            </a:r>
            <a:endParaRPr dirty="0"/>
          </a:p>
        </p:txBody>
      </p:sp>
      <p:sp>
        <p:nvSpPr>
          <p:cNvPr id="21" name="TextBox 20"/>
          <p:cNvSpPr txBox="1"/>
          <p:nvPr/>
        </p:nvSpPr>
        <p:spPr>
          <a:xfrm>
            <a:off x="777240" y="5993587"/>
            <a:ext cx="10698480" cy="438582"/>
          </a:xfrm>
          <a:prstGeom prst="rect">
            <a:avLst/>
          </a:prstGeom>
          <a:noFill/>
        </p:spPr>
        <p:txBody>
          <a:bodyPr wrap="square" lIns="36576" tIns="22860" rIns="36576">
            <a:spAutoFit/>
          </a:bodyPr>
          <a:lstStyle/>
          <a:p>
            <a:pPr>
              <a:spcAft>
                <a:spcPts val="500"/>
              </a:spcAft>
              <a:defRPr sz="1500" b="0">
                <a:solidFill>
                  <a:srgbClr val="133458"/>
                </a:solidFill>
                <a:latin typeface="Aptos"/>
              </a:defRPr>
            </a:pPr>
            <a:r>
              <a:rPr sz="2400" b="1" dirty="0"/>
              <a:t>Repository: github.com/</a:t>
            </a:r>
            <a:r>
              <a:rPr sz="2400" b="1" dirty="0" err="1"/>
              <a:t>htmw</a:t>
            </a:r>
            <a:r>
              <a:rPr sz="2400" b="1" dirty="0"/>
              <a:t>/F2026-Team3 </a:t>
            </a:r>
          </a:p>
        </p:txBody>
      </p:sp>
      <p:sp>
        <p:nvSpPr>
          <p:cNvPr id="24" name="Rectangle 23">
            <a:extLst>
              <a:ext uri="{FF2B5EF4-FFF2-40B4-BE49-F238E27FC236}">
                <a16:creationId xmlns:a16="http://schemas.microsoft.com/office/drawing/2014/main" id="{412D26E9-9399-8B3C-00E9-74FF2B000B70}"/>
              </a:ext>
            </a:extLst>
          </p:cNvPr>
          <p:cNvSpPr/>
          <p:nvPr/>
        </p:nvSpPr>
        <p:spPr>
          <a:xfrm>
            <a:off x="850391" y="2340864"/>
            <a:ext cx="5245609" cy="2728976"/>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30" name="Rectangle 29">
            <a:extLst>
              <a:ext uri="{FF2B5EF4-FFF2-40B4-BE49-F238E27FC236}">
                <a16:creationId xmlns:a16="http://schemas.microsoft.com/office/drawing/2014/main" id="{0125A6F3-A7C8-9C58-4AF6-F66BAAF660E7}"/>
              </a:ext>
            </a:extLst>
          </p:cNvPr>
          <p:cNvSpPr/>
          <p:nvPr/>
        </p:nvSpPr>
        <p:spPr>
          <a:xfrm>
            <a:off x="6900672" y="2296871"/>
            <a:ext cx="4575048" cy="2738322"/>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PROCESS</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Team working agreement &amp; retrospective</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Shared responsibilities, clear acceptance criteria and earlier integration.</a:t>
            </a:r>
          </a:p>
        </p:txBody>
      </p:sp>
      <p:sp>
        <p:nvSpPr>
          <p:cNvPr id="6" name="Rectangle 5"/>
          <p:cNvSpPr/>
          <p:nvPr/>
        </p:nvSpPr>
        <p:spPr>
          <a:xfrm>
            <a:off x="430357" y="6476977"/>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47104"/>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019109" y="6611715"/>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20</a:t>
            </a:r>
            <a:endParaRPr dirty="0"/>
          </a:p>
        </p:txBody>
      </p:sp>
      <p:sp>
        <p:nvSpPr>
          <p:cNvPr id="9" name="Rounded Rectangle 8"/>
          <p:cNvSpPr/>
          <p:nvPr/>
        </p:nvSpPr>
        <p:spPr>
          <a:xfrm>
            <a:off x="713232" y="1673352"/>
            <a:ext cx="5230368" cy="225531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a:xfrm>
            <a:off x="727537" y="1868517"/>
            <a:ext cx="64008" cy="18288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1738048"/>
            <a:ext cx="4864607"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Working agreement</a:t>
            </a:r>
          </a:p>
        </p:txBody>
      </p:sp>
      <p:sp>
        <p:nvSpPr>
          <p:cNvPr id="12" name="TextBox 11"/>
          <p:cNvSpPr txBox="1"/>
          <p:nvPr/>
        </p:nvSpPr>
        <p:spPr>
          <a:xfrm>
            <a:off x="1014984" y="2197077"/>
            <a:ext cx="4919470" cy="1669688"/>
          </a:xfrm>
          <a:prstGeom prst="rect">
            <a:avLst/>
          </a:prstGeom>
          <a:noFill/>
        </p:spPr>
        <p:txBody>
          <a:bodyPr wrap="square" lIns="36576" tIns="22860" rIns="36576">
            <a:spAutoFit/>
          </a:bodyPr>
          <a:lstStyle/>
          <a:p>
            <a:pPr marL="285750" lvl="0" indent="-285750">
              <a:buFont typeface="Arial" panose="020B0604020202020204" pitchFamily="34" charset="0"/>
              <a:buChar char="•"/>
            </a:pPr>
            <a:r>
              <a:rPr lang="en-IN" sz="1300" dirty="0">
                <a:solidFill>
                  <a:srgbClr val="596F83"/>
                </a:solidFill>
                <a:latin typeface="Aptos"/>
              </a:rPr>
              <a:t>Collaborated effectively on synthetic dataset ownership and schema alignment.</a:t>
            </a:r>
          </a:p>
          <a:p>
            <a:pPr marL="285750" lvl="0" indent="-285750">
              <a:buFont typeface="Arial" panose="020B0604020202020204" pitchFamily="34" charset="0"/>
              <a:buChar char="•"/>
            </a:pPr>
            <a:r>
              <a:rPr lang="en-IN" sz="1300" dirty="0">
                <a:solidFill>
                  <a:srgbClr val="596F83"/>
                </a:solidFill>
                <a:latin typeface="Aptos"/>
              </a:rPr>
              <a:t>Conducted peer reviews across backend and data development.</a:t>
            </a:r>
          </a:p>
          <a:p>
            <a:pPr marL="285750" lvl="0" indent="-285750">
              <a:buFont typeface="Arial" panose="020B0604020202020204" pitchFamily="34" charset="0"/>
              <a:buChar char="•"/>
            </a:pPr>
            <a:r>
              <a:rPr lang="en-IN" sz="1300" dirty="0">
                <a:solidFill>
                  <a:srgbClr val="596F83"/>
                </a:solidFill>
                <a:latin typeface="Aptos"/>
              </a:rPr>
              <a:t>Completed assigned tasks successfully and kept the GitHub repository organized and clutter-free.</a:t>
            </a:r>
          </a:p>
          <a:p>
            <a:pPr marL="285750" lvl="0" indent="-285750">
              <a:buFont typeface="Arial" panose="020B0604020202020204" pitchFamily="34" charset="0"/>
              <a:buChar char="•"/>
            </a:pPr>
            <a:r>
              <a:rPr lang="en-IN" sz="1300" dirty="0">
                <a:solidFill>
                  <a:srgbClr val="596F83"/>
                </a:solidFill>
                <a:latin typeface="Aptos"/>
              </a:rPr>
              <a:t>Ensured smooth integration of work and completed all sprint tasks within the desired timeline.</a:t>
            </a:r>
          </a:p>
        </p:txBody>
      </p:sp>
      <p:sp>
        <p:nvSpPr>
          <p:cNvPr id="13" name="Rounded Rectangle 12"/>
          <p:cNvSpPr/>
          <p:nvPr/>
        </p:nvSpPr>
        <p:spPr>
          <a:xfrm>
            <a:off x="6181344" y="1673351"/>
            <a:ext cx="5230368" cy="2313433"/>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81344" y="2037965"/>
            <a:ext cx="64008" cy="18288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64224" y="1739425"/>
            <a:ext cx="4864607"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What worked</a:t>
            </a:r>
          </a:p>
        </p:txBody>
      </p:sp>
      <p:sp>
        <p:nvSpPr>
          <p:cNvPr id="16" name="TextBox 15"/>
          <p:cNvSpPr txBox="1"/>
          <p:nvPr/>
        </p:nvSpPr>
        <p:spPr>
          <a:xfrm>
            <a:off x="6428821" y="2167447"/>
            <a:ext cx="4846320" cy="1869743"/>
          </a:xfrm>
          <a:prstGeom prst="rect">
            <a:avLst/>
          </a:prstGeom>
          <a:noFill/>
        </p:spPr>
        <p:txBody>
          <a:bodyPr wrap="square" lIns="36576" tIns="22860" rIns="36576">
            <a:spAutoFit/>
          </a:bodyPr>
          <a:lstStyle/>
          <a:p>
            <a:pPr marL="285750" lvl="0" indent="-285750">
              <a:buFont typeface="Arial" panose="020B0604020202020204" pitchFamily="34" charset="0"/>
              <a:buChar char="•"/>
            </a:pPr>
            <a:r>
              <a:rPr lang="en-IN" sz="1300" dirty="0">
                <a:solidFill>
                  <a:srgbClr val="596F83"/>
                </a:solidFill>
                <a:latin typeface="Aptos"/>
              </a:rPr>
              <a:t>Each team member completed their assigned tasks successfully and on time.</a:t>
            </a:r>
          </a:p>
          <a:p>
            <a:pPr marL="285750" lvl="0" indent="-285750">
              <a:buFont typeface="Arial" panose="020B0604020202020204" pitchFamily="34" charset="0"/>
              <a:buChar char="•"/>
            </a:pPr>
            <a:r>
              <a:rPr lang="en-IN" sz="1300" dirty="0">
                <a:solidFill>
                  <a:srgbClr val="596F83"/>
                </a:solidFill>
                <a:latin typeface="Aptos"/>
              </a:rPr>
              <a:t>We maintained clear ownership of the synthetic dataset and aligned the schemas across backend and data development.</a:t>
            </a:r>
          </a:p>
          <a:p>
            <a:pPr marL="285750" lvl="0" indent="-285750">
              <a:buFont typeface="Arial" panose="020B0604020202020204" pitchFamily="34" charset="0"/>
              <a:buChar char="•"/>
            </a:pPr>
            <a:r>
              <a:rPr lang="en-IN" sz="1300" dirty="0">
                <a:solidFill>
                  <a:srgbClr val="596F83"/>
                </a:solidFill>
                <a:latin typeface="Aptos"/>
              </a:rPr>
              <a:t>We kept the GitHub repository organized and clutter-free, with peer reviews to ensure code quality and smooth integration.</a:t>
            </a:r>
          </a:p>
          <a:p>
            <a:pPr marL="285750" lvl="0" indent="-285750">
              <a:buFont typeface="Arial" panose="020B0604020202020204" pitchFamily="34" charset="0"/>
              <a:buChar char="•"/>
            </a:pPr>
            <a:r>
              <a:rPr lang="en-IN" sz="1300" dirty="0">
                <a:solidFill>
                  <a:srgbClr val="596F83"/>
                </a:solidFill>
                <a:latin typeface="Aptos"/>
              </a:rPr>
              <a:t>Through effective teamwork and communication, we completed all sprint tasks within the desired timeline.</a:t>
            </a:r>
          </a:p>
          <a:p>
            <a:pPr>
              <a:spcAft>
                <a:spcPts val="500"/>
              </a:spcAft>
              <a:defRPr sz="1300" b="0">
                <a:solidFill>
                  <a:srgbClr val="596F83"/>
                </a:solidFill>
                <a:latin typeface="Aptos"/>
              </a:defRPr>
            </a:pPr>
            <a:endParaRPr dirty="0"/>
          </a:p>
        </p:txBody>
      </p:sp>
      <p:sp>
        <p:nvSpPr>
          <p:cNvPr id="17" name="Rounded Rectangle 16"/>
          <p:cNvSpPr/>
          <p:nvPr/>
        </p:nvSpPr>
        <p:spPr>
          <a:xfrm>
            <a:off x="777829" y="4178808"/>
            <a:ext cx="5230368" cy="210312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9541" y="4302252"/>
            <a:ext cx="64008" cy="1764792"/>
          </a:xfrm>
          <a:prstGeom prst="rect">
            <a:avLst/>
          </a:prstGeom>
          <a:solidFill>
            <a:srgbClr val="ED9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709" y="4325112"/>
            <a:ext cx="4864607"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Improve</a:t>
            </a:r>
          </a:p>
        </p:txBody>
      </p:sp>
      <p:sp>
        <p:nvSpPr>
          <p:cNvPr id="20" name="TextBox 19"/>
          <p:cNvSpPr txBox="1"/>
          <p:nvPr/>
        </p:nvSpPr>
        <p:spPr>
          <a:xfrm>
            <a:off x="960709" y="4690469"/>
            <a:ext cx="4846320" cy="1469633"/>
          </a:xfrm>
          <a:prstGeom prst="rect">
            <a:avLst/>
          </a:prstGeom>
          <a:noFill/>
        </p:spPr>
        <p:txBody>
          <a:bodyPr wrap="square" lIns="36576" tIns="22860" rIns="36576">
            <a:spAutoFit/>
          </a:bodyPr>
          <a:lstStyle/>
          <a:p>
            <a:pPr marL="285750" indent="-285750">
              <a:buFont typeface="Arial" panose="020B0604020202020204" pitchFamily="34" charset="0"/>
              <a:buChar char="•"/>
            </a:pPr>
            <a:r>
              <a:rPr lang="en-IN" sz="1300" dirty="0">
                <a:solidFill>
                  <a:srgbClr val="596F83"/>
                </a:solidFill>
                <a:latin typeface="Aptos"/>
              </a:rPr>
              <a:t>The team collaborated on implementation and completed the assigned tasks, but some work continued until the last day of the sprint.</a:t>
            </a:r>
          </a:p>
          <a:p>
            <a:pPr marL="285750" indent="-285750">
              <a:buFont typeface="Arial" panose="020B0604020202020204" pitchFamily="34" charset="0"/>
              <a:buChar char="•"/>
            </a:pPr>
            <a:r>
              <a:rPr lang="en-IN" sz="1300" dirty="0">
                <a:solidFill>
                  <a:srgbClr val="596F83"/>
                </a:solidFill>
                <a:latin typeface="Aptos"/>
              </a:rPr>
              <a:t>We had limited time for the final demo preparation and rechecking APIs and routes.</a:t>
            </a:r>
          </a:p>
          <a:p>
            <a:pPr marL="285750" indent="-285750">
              <a:buFont typeface="Arial" panose="020B0604020202020204" pitchFamily="34" charset="0"/>
              <a:buChar char="•"/>
            </a:pPr>
            <a:r>
              <a:rPr lang="en-IN" sz="1300" dirty="0">
                <a:solidFill>
                  <a:srgbClr val="596F83"/>
                </a:solidFill>
                <a:latin typeface="Aptos"/>
              </a:rPr>
              <a:t>A few meetings were missed, which affected coordination and progress tracking.</a:t>
            </a:r>
          </a:p>
        </p:txBody>
      </p:sp>
      <p:sp>
        <p:nvSpPr>
          <p:cNvPr id="21" name="Rounded Rectangle 20"/>
          <p:cNvSpPr/>
          <p:nvPr/>
        </p:nvSpPr>
        <p:spPr>
          <a:xfrm>
            <a:off x="6245941" y="4178807"/>
            <a:ext cx="5230368" cy="2103119"/>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39353" y="4496972"/>
            <a:ext cx="64008" cy="1499616"/>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28821" y="4325112"/>
            <a:ext cx="4864607"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Next actions</a:t>
            </a:r>
          </a:p>
        </p:txBody>
      </p:sp>
      <p:sp>
        <p:nvSpPr>
          <p:cNvPr id="24" name="TextBox 23"/>
          <p:cNvSpPr txBox="1"/>
          <p:nvPr/>
        </p:nvSpPr>
        <p:spPr>
          <a:xfrm>
            <a:off x="6594691" y="4665906"/>
            <a:ext cx="4590288" cy="1669688"/>
          </a:xfrm>
          <a:prstGeom prst="rect">
            <a:avLst/>
          </a:prstGeom>
          <a:noFill/>
        </p:spPr>
        <p:txBody>
          <a:bodyPr wrap="square" lIns="36576" tIns="22860" rIns="36576">
            <a:spAutoFit/>
          </a:bodyPr>
          <a:lstStyle/>
          <a:p>
            <a:r>
              <a:rPr lang="en-IN" sz="1300" dirty="0">
                <a:solidFill>
                  <a:srgbClr val="596F83"/>
                </a:solidFill>
                <a:latin typeface="Aptos"/>
              </a:rPr>
              <a:t>1. Complete tasks earlier: Set clear deadlines for each team member and aim to finish implementation before the last day, leaving enough time for API and route testing, bug fixing, and demo preparation.</a:t>
            </a:r>
          </a:p>
          <a:p>
            <a:r>
              <a:rPr lang="en-IN" sz="1300" dirty="0">
                <a:solidFill>
                  <a:srgbClr val="596F83"/>
                </a:solidFill>
                <a:latin typeface="Aptos"/>
              </a:rPr>
              <a:t>2. Improve coordination and demo readiness: Attend scheduled meetings consistently, communicate blockers early, and conduct a final team review to ensure all features are integrated, tested, and ready for demonstration.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NEXT SPRINT</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Sprint 2 | Planned increment</a:t>
            </a:r>
          </a:p>
        </p:txBody>
      </p:sp>
      <p:sp>
        <p:nvSpPr>
          <p:cNvPr id="5" name="TextBox 4"/>
          <p:cNvSpPr txBox="1"/>
          <p:nvPr/>
        </p:nvSpPr>
        <p:spPr>
          <a:xfrm>
            <a:off x="521207" y="1124712"/>
            <a:ext cx="10972800" cy="384048"/>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Carry over uncompleted Sprint 1 work before expanding intelligence features.</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21</a:t>
            </a:r>
            <a:endParaRPr dirty="0"/>
          </a:p>
        </p:txBody>
      </p:sp>
      <p:sp>
        <p:nvSpPr>
          <p:cNvPr id="9" name="Rounded Rectangle 8"/>
          <p:cNvSpPr/>
          <p:nvPr/>
        </p:nvSpPr>
        <p:spPr>
          <a:xfrm>
            <a:off x="731520" y="1746504"/>
            <a:ext cx="5330952"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746504"/>
            <a:ext cx="64008" cy="16002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92807"/>
            <a:ext cx="4965192" cy="33086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rPr dirty="0"/>
              <a:t>01  </a:t>
            </a:r>
            <a:r>
              <a:rPr lang="en-US" dirty="0"/>
              <a:t>Advisor Profile Work</a:t>
            </a:r>
            <a:endParaRPr dirty="0"/>
          </a:p>
        </p:txBody>
      </p:sp>
      <p:sp>
        <p:nvSpPr>
          <p:cNvPr id="12" name="TextBox 11"/>
          <p:cNvSpPr txBox="1"/>
          <p:nvPr/>
        </p:nvSpPr>
        <p:spPr>
          <a:xfrm>
            <a:off x="914400" y="2368296"/>
            <a:ext cx="4946904"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Close outstanding auth, advisor UI and integration work</a:t>
            </a:r>
          </a:p>
        </p:txBody>
      </p:sp>
      <p:sp>
        <p:nvSpPr>
          <p:cNvPr id="13" name="Rounded Rectangle 12"/>
          <p:cNvSpPr/>
          <p:nvPr/>
        </p:nvSpPr>
        <p:spPr>
          <a:xfrm>
            <a:off x="6345936" y="1746504"/>
            <a:ext cx="5330952"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45936" y="1746504"/>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892807"/>
            <a:ext cx="4965192"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02  Degree progress</a:t>
            </a:r>
          </a:p>
        </p:txBody>
      </p:sp>
      <p:sp>
        <p:nvSpPr>
          <p:cNvPr id="16" name="TextBox 15"/>
          <p:cNvSpPr txBox="1"/>
          <p:nvPr/>
        </p:nvSpPr>
        <p:spPr>
          <a:xfrm>
            <a:off x="6528816" y="2368296"/>
            <a:ext cx="4946904"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Compute requirement-group and credit completion</a:t>
            </a:r>
          </a:p>
        </p:txBody>
      </p:sp>
      <p:sp>
        <p:nvSpPr>
          <p:cNvPr id="17" name="Rounded Rectangle 16"/>
          <p:cNvSpPr/>
          <p:nvPr/>
        </p:nvSpPr>
        <p:spPr>
          <a:xfrm>
            <a:off x="731520" y="3666744"/>
            <a:ext cx="5330952"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666744"/>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813048"/>
            <a:ext cx="4965192"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03  Academic risk</a:t>
            </a:r>
          </a:p>
        </p:txBody>
      </p:sp>
      <p:sp>
        <p:nvSpPr>
          <p:cNvPr id="20" name="TextBox 19"/>
          <p:cNvSpPr txBox="1"/>
          <p:nvPr/>
        </p:nvSpPr>
        <p:spPr>
          <a:xfrm>
            <a:off x="914400" y="4288536"/>
            <a:ext cx="4946904"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Prepare training dataset, baseline model and thresholds</a:t>
            </a:r>
          </a:p>
        </p:txBody>
      </p:sp>
      <p:sp>
        <p:nvSpPr>
          <p:cNvPr id="21" name="Rounded Rectangle 20"/>
          <p:cNvSpPr/>
          <p:nvPr/>
        </p:nvSpPr>
        <p:spPr>
          <a:xfrm>
            <a:off x="6345936" y="3666744"/>
            <a:ext cx="5330952" cy="1600200"/>
          </a:xfrm>
          <a:prstGeom prst="roundRect">
            <a:avLst/>
          </a:prstGeom>
          <a:solidFill>
            <a:srgbClr val="EF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45936" y="3666744"/>
            <a:ext cx="64008" cy="1600200"/>
          </a:xfrm>
          <a:prstGeom prst="rect">
            <a:avLst/>
          </a:prstGeom>
          <a:solidFill>
            <a:srgbClr val="295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28816" y="3813048"/>
            <a:ext cx="4965192" cy="411480"/>
          </a:xfrm>
          <a:prstGeom prst="rect">
            <a:avLst/>
          </a:prstGeom>
          <a:noFill/>
        </p:spPr>
        <p:txBody>
          <a:bodyPr wrap="square" lIns="36576" tIns="22860" rIns="36576">
            <a:spAutoFit/>
          </a:bodyPr>
          <a:lstStyle/>
          <a:p>
            <a:pPr>
              <a:spcAft>
                <a:spcPts val="500"/>
              </a:spcAft>
              <a:defRPr sz="1700" b="1">
                <a:solidFill>
                  <a:srgbClr val="133458"/>
                </a:solidFill>
                <a:latin typeface="Aptos"/>
              </a:defRPr>
            </a:pPr>
            <a:r>
              <a:t>04  AI foundations</a:t>
            </a:r>
          </a:p>
        </p:txBody>
      </p:sp>
      <p:sp>
        <p:nvSpPr>
          <p:cNvPr id="24" name="TextBox 23"/>
          <p:cNvSpPr txBox="1"/>
          <p:nvPr/>
        </p:nvSpPr>
        <p:spPr>
          <a:xfrm>
            <a:off x="6528816" y="4288536"/>
            <a:ext cx="4946904" cy="868680"/>
          </a:xfrm>
          <a:prstGeom prst="rect">
            <a:avLst/>
          </a:prstGeom>
          <a:noFill/>
        </p:spPr>
        <p:txBody>
          <a:bodyPr wrap="square" lIns="36576" tIns="22860" rIns="36576">
            <a:spAutoFit/>
          </a:bodyPr>
          <a:lstStyle/>
          <a:p>
            <a:pPr>
              <a:spcAft>
                <a:spcPts val="500"/>
              </a:spcAft>
              <a:defRPr sz="1300" b="0">
                <a:solidFill>
                  <a:srgbClr val="596F83"/>
                </a:solidFill>
                <a:latin typeface="Aptos"/>
              </a:defRPr>
            </a:pPr>
            <a:r>
              <a:t>SHAP explanations and approved knowledge ingestion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BAB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0058400" cy="274320"/>
          </a:xfrm>
          <a:prstGeom prst="rect">
            <a:avLst/>
          </a:prstGeom>
          <a:noFill/>
        </p:spPr>
        <p:txBody>
          <a:bodyPr wrap="square" lIns="36576" tIns="22860" rIns="36576">
            <a:spAutoFit/>
          </a:bodyPr>
          <a:lstStyle/>
          <a:p>
            <a:pPr>
              <a:spcAft>
                <a:spcPts val="500"/>
              </a:spcAft>
              <a:defRPr sz="1000" b="1">
                <a:solidFill>
                  <a:srgbClr val="2BABAC"/>
                </a:solidFill>
                <a:latin typeface="Aptos"/>
              </a:defRPr>
            </a:pPr>
            <a:r>
              <a:t>TEAM 3</a:t>
            </a:r>
          </a:p>
        </p:txBody>
      </p:sp>
      <p:sp>
        <p:nvSpPr>
          <p:cNvPr id="4" name="TextBox 3"/>
          <p:cNvSpPr txBox="1"/>
          <p:nvPr/>
        </p:nvSpPr>
        <p:spPr>
          <a:xfrm>
            <a:off x="502920" y="576072"/>
            <a:ext cx="10972800" cy="512064"/>
          </a:xfrm>
          <a:prstGeom prst="rect">
            <a:avLst/>
          </a:prstGeom>
          <a:noFill/>
        </p:spPr>
        <p:txBody>
          <a:bodyPr wrap="square" lIns="36576" tIns="22860" rIns="36576">
            <a:spAutoFit/>
          </a:bodyPr>
          <a:lstStyle/>
          <a:p>
            <a:pPr>
              <a:spcAft>
                <a:spcPts val="500"/>
              </a:spcAft>
              <a:defRPr sz="2800" b="1">
                <a:solidFill>
                  <a:srgbClr val="133458"/>
                </a:solidFill>
                <a:latin typeface="Aptos"/>
              </a:defRPr>
            </a:pPr>
            <a:r>
              <a:t>Thank you</a:t>
            </a:r>
          </a:p>
        </p:txBody>
      </p:sp>
      <p:sp>
        <p:nvSpPr>
          <p:cNvPr id="5" name="TextBox 4"/>
          <p:cNvSpPr txBox="1"/>
          <p:nvPr/>
        </p:nvSpPr>
        <p:spPr>
          <a:xfrm>
            <a:off x="521207" y="1124712"/>
            <a:ext cx="10972800" cy="269304"/>
          </a:xfrm>
          <a:prstGeom prst="rect">
            <a:avLst/>
          </a:prstGeom>
          <a:noFill/>
        </p:spPr>
        <p:txBody>
          <a:bodyPr wrap="square" lIns="36576" tIns="22860" rIns="36576">
            <a:spAutoFit/>
          </a:bodyPr>
          <a:lstStyle/>
          <a:p>
            <a:pPr>
              <a:spcAft>
                <a:spcPts val="500"/>
              </a:spcAft>
              <a:defRPr sz="1300" b="0">
                <a:solidFill>
                  <a:srgbClr val="596F83"/>
                </a:solidFill>
                <a:latin typeface="Aptos"/>
              </a:defRPr>
            </a:pPr>
            <a:r>
              <a:rPr dirty="0"/>
              <a:t>AcadMate</a:t>
            </a:r>
            <a:r>
              <a:rPr lang="en-US" dirty="0"/>
              <a:t>:</a:t>
            </a:r>
            <a:r>
              <a:rPr dirty="0"/>
              <a:t> AI-Powered Personalized Academic Advisement System</a:t>
            </a:r>
          </a:p>
        </p:txBody>
      </p:sp>
      <p:sp>
        <p:nvSpPr>
          <p:cNvPr id="6" name="Rectangle 5"/>
          <p:cNvSpPr/>
          <p:nvPr/>
        </p:nvSpPr>
        <p:spPr>
          <a:xfrm>
            <a:off x="502920" y="6501384"/>
            <a:ext cx="11155680" cy="16459"/>
          </a:xfrm>
          <a:prstGeom prst="rect">
            <a:avLst/>
          </a:prstGeom>
          <a:solidFill>
            <a:srgbClr val="DEE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7315200" cy="201168"/>
          </a:xfrm>
          <a:prstGeom prst="rect">
            <a:avLst/>
          </a:prstGeom>
          <a:noFill/>
        </p:spPr>
        <p:txBody>
          <a:bodyPr wrap="square" lIns="36576" tIns="22860" rIns="36576">
            <a:spAutoFit/>
          </a:bodyPr>
          <a:lstStyle/>
          <a:p>
            <a:pPr>
              <a:spcAft>
                <a:spcPts val="500"/>
              </a:spcAft>
              <a:defRPr sz="900" b="0">
                <a:solidFill>
                  <a:srgbClr val="596F83"/>
                </a:solidFill>
                <a:latin typeface="Aptos"/>
              </a:defRPr>
            </a:pPr>
            <a:r>
              <a:rPr dirty="0"/>
              <a:t>ACADMATE  •  TEAM 3  •  CS 691  •  FALL 2026</a:t>
            </a:r>
          </a:p>
        </p:txBody>
      </p:sp>
      <p:sp>
        <p:nvSpPr>
          <p:cNvPr id="8" name="TextBox 7"/>
          <p:cNvSpPr txBox="1"/>
          <p:nvPr/>
        </p:nvSpPr>
        <p:spPr>
          <a:xfrm>
            <a:off x="11109960" y="6547104"/>
            <a:ext cx="457200" cy="228600"/>
          </a:xfrm>
          <a:prstGeom prst="rect">
            <a:avLst/>
          </a:prstGeom>
          <a:noFill/>
        </p:spPr>
        <p:txBody>
          <a:bodyPr wrap="square" lIns="36576" tIns="22860" rIns="36576">
            <a:spAutoFit/>
          </a:bodyPr>
          <a:lstStyle/>
          <a:p>
            <a:pPr algn="r">
              <a:spcAft>
                <a:spcPts val="500"/>
              </a:spcAft>
              <a:defRPr sz="1000" b="0">
                <a:solidFill>
                  <a:srgbClr val="596F83"/>
                </a:solidFill>
                <a:latin typeface="Aptos"/>
              </a:defRPr>
            </a:pPr>
            <a:r>
              <a:rPr lang="en-IN" dirty="0"/>
              <a:t>22</a:t>
            </a:r>
            <a:endParaRPr dirty="0"/>
          </a:p>
        </p:txBody>
      </p:sp>
      <p:sp>
        <p:nvSpPr>
          <p:cNvPr id="9" name="TextBox 8"/>
          <p:cNvSpPr txBox="1"/>
          <p:nvPr/>
        </p:nvSpPr>
        <p:spPr>
          <a:xfrm>
            <a:off x="1143000" y="2340864"/>
            <a:ext cx="9966960" cy="1143000"/>
          </a:xfrm>
          <a:prstGeom prst="rect">
            <a:avLst/>
          </a:prstGeom>
          <a:noFill/>
        </p:spPr>
        <p:txBody>
          <a:bodyPr wrap="square" lIns="36576" tIns="22860" rIns="36576">
            <a:spAutoFit/>
          </a:bodyPr>
          <a:lstStyle/>
          <a:p>
            <a:pPr algn="ctr">
              <a:spcAft>
                <a:spcPts val="500"/>
              </a:spcAft>
              <a:defRPr sz="3800" b="1">
                <a:solidFill>
                  <a:srgbClr val="133458"/>
                </a:solidFill>
                <a:latin typeface="Aptos"/>
              </a:defRPr>
            </a:pPr>
            <a:r>
              <a:t>Questions &amp; discussion</a:t>
            </a:r>
          </a:p>
        </p:txBody>
      </p:sp>
      <p:sp>
        <p:nvSpPr>
          <p:cNvPr id="10" name="TextBox 9"/>
          <p:cNvSpPr txBox="1"/>
          <p:nvPr/>
        </p:nvSpPr>
        <p:spPr>
          <a:xfrm>
            <a:off x="2194560" y="4023360"/>
            <a:ext cx="7772400" cy="594360"/>
          </a:xfrm>
          <a:prstGeom prst="rect">
            <a:avLst/>
          </a:prstGeom>
          <a:noFill/>
        </p:spPr>
        <p:txBody>
          <a:bodyPr wrap="square" lIns="36576" tIns="22860" rIns="36576">
            <a:spAutoFit/>
          </a:bodyPr>
          <a:lstStyle/>
          <a:p>
            <a:pPr algn="ctr">
              <a:spcAft>
                <a:spcPts val="500"/>
              </a:spcAft>
              <a:defRPr sz="2000" b="1">
                <a:solidFill>
                  <a:srgbClr val="2BABAC"/>
                </a:solidFill>
                <a:latin typeface="Aptos"/>
              </a:defRPr>
            </a:pPr>
            <a:r>
              <a:t>Student data  →  meaningful academic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1822</Words>
  <Application>Microsoft Office PowerPoint</Application>
  <PresentationFormat>Widescreen</PresentationFormat>
  <Paragraphs>282</Paragraphs>
  <Slides>24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Pranali Dukhande</cp:lastModifiedBy>
  <cp:revision>49</cp:revision>
  <dcterms:created xsi:type="dcterms:W3CDTF">2013-01-27T09:14:16Z</dcterms:created>
  <dcterms:modified xsi:type="dcterms:W3CDTF">2026-10-20T22:15:21Z</dcterms:modified>
  <cp:category/>
</cp:coreProperties>
</file>