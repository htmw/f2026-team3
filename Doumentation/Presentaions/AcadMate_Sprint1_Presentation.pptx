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2" r:id="rId5"/>
    <p:sldId id="274" r:id="rId6"/>
    <p:sldId id="259" r:id="rId7"/>
    <p:sldId id="260" r:id="rId8"/>
    <p:sldId id="275" r:id="rId9"/>
    <p:sldId id="261" r:id="rId10"/>
    <p:sldId id="262" r:id="rId11"/>
    <p:sldId id="263" r:id="rId12"/>
    <p:sldId id="264" r:id="rId13"/>
    <p:sldId id="265" r:id="rId14"/>
    <p:sldId id="273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253596-AAD1-4781-A4EA-97102005E06D}" v="1" dt="2026-10-18T15:41:25.7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fadzwa Nhesvure" userId="b6c48072fc6894db" providerId="LiveId" clId="{BCFD5894-93DC-494E-AD9B-3AA450D5BA69}"/>
    <pc:docChg chg="undo custSel modSld">
      <pc:chgData name="Tafadzwa Nhesvure" userId="b6c48072fc6894db" providerId="LiveId" clId="{BCFD5894-93DC-494E-AD9B-3AA450D5BA69}" dt="2026-10-18T15:41:29.910" v="18" actId="6549"/>
      <pc:docMkLst>
        <pc:docMk/>
      </pc:docMkLst>
      <pc:sldChg chg="modSp mod">
        <pc:chgData name="Tafadzwa Nhesvure" userId="b6c48072fc6894db" providerId="LiveId" clId="{BCFD5894-93DC-494E-AD9B-3AA450D5BA69}" dt="2026-10-18T15:38:55.681" v="12" actId="20577"/>
        <pc:sldMkLst>
          <pc:docMk/>
          <pc:sldMk cId="0" sldId="256"/>
        </pc:sldMkLst>
        <pc:spChg chg="mod">
          <ac:chgData name="Tafadzwa Nhesvure" userId="b6c48072fc6894db" providerId="LiveId" clId="{BCFD5894-93DC-494E-AD9B-3AA450D5BA69}" dt="2026-10-18T15:38:55.681" v="12" actId="20577"/>
          <ac:spMkLst>
            <pc:docMk/>
            <pc:sldMk cId="0" sldId="256"/>
            <ac:spMk id="4" creationId="{00000000-0000-0000-0000-000000000000}"/>
          </ac:spMkLst>
        </pc:spChg>
        <pc:picChg chg="mod">
          <ac:chgData name="Tafadzwa Nhesvure" userId="b6c48072fc6894db" providerId="LiveId" clId="{BCFD5894-93DC-494E-AD9B-3AA450D5BA69}" dt="2026-10-18T15:38:40.831" v="6" actId="1076"/>
          <ac:picMkLst>
            <pc:docMk/>
            <pc:sldMk cId="0" sldId="256"/>
            <ac:picMk id="2" creationId="{00000000-0000-0000-0000-000000000000}"/>
          </ac:picMkLst>
        </pc:picChg>
      </pc:sldChg>
      <pc:sldChg chg="modSp mod">
        <pc:chgData name="Tafadzwa Nhesvure" userId="b6c48072fc6894db" providerId="LiveId" clId="{BCFD5894-93DC-494E-AD9B-3AA450D5BA69}" dt="2026-10-18T15:40:29.625" v="13" actId="20577"/>
        <pc:sldMkLst>
          <pc:docMk/>
          <pc:sldMk cId="0" sldId="264"/>
        </pc:sldMkLst>
        <pc:spChg chg="mod">
          <ac:chgData name="Tafadzwa Nhesvure" userId="b6c48072fc6894db" providerId="LiveId" clId="{BCFD5894-93DC-494E-AD9B-3AA450D5BA69}" dt="2026-10-18T15:40:29.625" v="13" actId="20577"/>
          <ac:spMkLst>
            <pc:docMk/>
            <pc:sldMk cId="0" sldId="264"/>
            <ac:spMk id="28" creationId="{00000000-0000-0000-0000-000000000000}"/>
          </ac:spMkLst>
        </pc:spChg>
      </pc:sldChg>
      <pc:sldChg chg="modSp mod">
        <pc:chgData name="Tafadzwa Nhesvure" userId="b6c48072fc6894db" providerId="LiveId" clId="{BCFD5894-93DC-494E-AD9B-3AA450D5BA69}" dt="2026-10-18T15:41:29.910" v="18" actId="6549"/>
        <pc:sldMkLst>
          <pc:docMk/>
          <pc:sldMk cId="0" sldId="270"/>
        </pc:sldMkLst>
        <pc:spChg chg="mod">
          <ac:chgData name="Tafadzwa Nhesvure" userId="b6c48072fc6894db" providerId="LiveId" clId="{BCFD5894-93DC-494E-AD9B-3AA450D5BA69}" dt="2026-10-18T15:41:29.910" v="18" actId="6549"/>
          <ac:spMkLst>
            <pc:docMk/>
            <pc:sldMk cId="0" sldId="270"/>
            <ac:spMk id="5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 sz="1800" b="1" i="0" u="none" strike="noStrike" baseline="0" dirty="0"/>
              <a:t>Completed / Committed Ratio</a:t>
            </a:r>
            <a:endParaRPr lang="en-IN" dirty="0"/>
          </a:p>
        </c:rich>
      </c:tx>
      <c:overlay val="0"/>
      <c:spPr>
        <a:noFill/>
        <a:ln>
          <a:solidFill>
            <a:schemeClr val="accent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Commitment</c:v>
                </c:pt>
                <c:pt idx="1">
                  <c:v>Delivered</c:v>
                </c:pt>
                <c:pt idx="2">
                  <c:v>Carry Over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110</c:v>
                </c:pt>
                <c:pt idx="1">
                  <c:v>110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87-4612-80C1-9D04A485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27541872"/>
        <c:axId val="927540432"/>
      </c:barChart>
      <c:catAx>
        <c:axId val="9275418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27540432"/>
        <c:crosses val="autoZero"/>
        <c:auto val="1"/>
        <c:lblAlgn val="ctr"/>
        <c:lblOffset val="100"/>
        <c:noMultiLvlLbl val="0"/>
      </c:catAx>
      <c:valAx>
        <c:axId val="92754043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27541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accent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8ED843-09BC-4804-A240-9A6F1BDF675D}" type="datetimeFigureOut">
              <a:rPr lang="en-IN" smtClean="0"/>
              <a:t>18-10-2026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8C1F7-B6DC-4F79-8DC8-57DB2B91A6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2786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281160" y="164592"/>
            <a:ext cx="24231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AI-Powered Personalized</a:t>
            </a:r>
            <a:endParaRPr lang="en-US" sz="1000"/>
          </a:p>
          <a:p>
            <a:pPr marL="0" indent="0" algn="r">
              <a:buNone/>
            </a:pPr>
            <a:r>
              <a:rPr lang="en-US" sz="1000" b="1">
                <a:solidFill>
                  <a:srgbClr val="102A4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Academic Advisement System</a:t>
            </a:r>
            <a:endParaRPr lang="en-US" sz="1000"/>
          </a:p>
        </p:txBody>
      </p:sp>
      <p:sp>
        <p:nvSpPr>
          <p:cNvPr id="4" name="Text 2"/>
          <p:cNvSpPr/>
          <p:nvPr/>
        </p:nvSpPr>
        <p:spPr>
          <a:xfrm>
            <a:off x="10607040" y="603504"/>
            <a:ext cx="1078992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2748A"/>
                </a:solidFill>
              </a:rPr>
              <a:t>Sprint 0</a:t>
            </a:r>
            <a:endParaRPr lang="en-US" sz="1000"/>
          </a:p>
        </p:txBody>
      </p:sp>
      <p:sp>
        <p:nvSpPr>
          <p:cNvPr id="5" name="Shape 3"/>
          <p:cNvSpPr/>
          <p:nvPr/>
        </p:nvSpPr>
        <p:spPr>
          <a:xfrm>
            <a:off x="320040" y="6565392"/>
            <a:ext cx="11475720" cy="0"/>
          </a:xfrm>
          <a:prstGeom prst="line">
            <a:avLst/>
          </a:prstGeom>
          <a:noFill/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6629400"/>
            <a:ext cx="68580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29425F"/>
                </a:solidFill>
              </a:rPr>
              <a:t>AI-Powered Personalized Academic Advisement System   |   Sprint 0</a:t>
            </a:r>
            <a:endParaRPr lang="en-US" sz="8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772" y="14567"/>
            <a:ext cx="9328149" cy="594732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961888"/>
            <a:ext cx="12191695" cy="896112"/>
          </a:xfrm>
          <a:prstGeom prst="rect">
            <a:avLst/>
          </a:prstGeom>
          <a:solidFill>
            <a:srgbClr val="13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080760"/>
            <a:ext cx="10972800" cy="4078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rPr dirty="0"/>
              <a:t>SPRINT 1  |  CORE ADVISEMENT PLATFORM   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A focused review of the product, sprint evidence and next increment.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55648"/>
            <a:ext cx="53492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1901952"/>
            <a:ext cx="4983479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01  Product &amp;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377440"/>
            <a:ext cx="4965192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Scope, personas, ownership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55648"/>
            <a:ext cx="53492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755648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901952"/>
            <a:ext cx="4983479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02  Solution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4965192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Architecture, data model, technology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75887"/>
            <a:ext cx="53492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3675887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59" y="3822191"/>
            <a:ext cx="4983479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03  Sprint execution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297679"/>
            <a:ext cx="4965192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Backlogs, data, tests and 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675887"/>
            <a:ext cx="53492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3675887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822191"/>
            <a:ext cx="4983479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04  Outcomes &amp; next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97679"/>
            <a:ext cx="4965192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Metrics, demo, retrospective, Sprint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PEOPLE + 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0916" y="4555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Team ownership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931" y="972749"/>
            <a:ext cx="2697480" cy="6485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5931" y="972749"/>
            <a:ext cx="64008" cy="64856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8810" y="1119052"/>
            <a:ext cx="23317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Tafadzwa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98" y="1375083"/>
            <a:ext cx="2313432" cy="18287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Product Owner • AI/ML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7147" y="972749"/>
            <a:ext cx="2697480" cy="6485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17147" y="972749"/>
            <a:ext cx="64008" cy="64856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00027" y="1119052"/>
            <a:ext cx="23317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Pranali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881" y="1342606"/>
            <a:ext cx="2313432" cy="18287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Scrum Master • Backend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8363" y="972749"/>
            <a:ext cx="2697480" cy="6485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88363" y="972749"/>
            <a:ext cx="64008" cy="64856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71243" y="1119052"/>
            <a:ext cx="23317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Lyno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5097" y="1340440"/>
            <a:ext cx="2313432" cy="18287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Frontend • LLM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59579" y="972749"/>
            <a:ext cx="2697480" cy="6485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59579" y="972749"/>
            <a:ext cx="64008" cy="64856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42458" y="1119052"/>
            <a:ext cx="23317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Liangxian 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2458" y="1339212"/>
            <a:ext cx="2313432" cy="18287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Backend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3696838"/>
            <a:ext cx="2726486" cy="750644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04672" y="3696838"/>
            <a:ext cx="64696" cy="750644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0" y="3843142"/>
            <a:ext cx="2356793" cy="3308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Datta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243" y="4124217"/>
            <a:ext cx="2338308" cy="2693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Database • Backend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75888" y="3696838"/>
            <a:ext cx="2726486" cy="750644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75888" y="3696838"/>
            <a:ext cx="64696" cy="750644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58767" y="3843142"/>
            <a:ext cx="2356793" cy="3308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Saisai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1198" y="4139377"/>
            <a:ext cx="2338308" cy="2693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UI/UX • Documentation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7104" y="3696838"/>
            <a:ext cx="2726486" cy="750644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47104" y="3696838"/>
            <a:ext cx="64696" cy="750644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5" name="TextBox 34"/>
          <p:cNvSpPr txBox="1"/>
          <p:nvPr/>
        </p:nvSpPr>
        <p:spPr>
          <a:xfrm>
            <a:off x="6729983" y="3843142"/>
            <a:ext cx="2356793" cy="3308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Chintu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25335"/>
            <a:ext cx="2338308" cy="2693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Frontend • QA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4EC0E5-131D-03FD-DCF8-1C1305B2B27C}"/>
              </a:ext>
            </a:extLst>
          </p:cNvPr>
          <p:cNvSpPr/>
          <p:nvPr/>
        </p:nvSpPr>
        <p:spPr>
          <a:xfrm>
            <a:off x="894279" y="1760679"/>
            <a:ext cx="1856554" cy="1764784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6A31858-41F3-CB79-5DB9-4D53CF5761CB}"/>
              </a:ext>
            </a:extLst>
          </p:cNvPr>
          <p:cNvSpPr/>
          <p:nvPr/>
        </p:nvSpPr>
        <p:spPr>
          <a:xfrm>
            <a:off x="3593881" y="1762097"/>
            <a:ext cx="2331720" cy="1700344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083CAE-2B8A-C2DA-3131-3A413D9F6F60}"/>
              </a:ext>
            </a:extLst>
          </p:cNvPr>
          <p:cNvSpPr/>
          <p:nvPr/>
        </p:nvSpPr>
        <p:spPr>
          <a:xfrm>
            <a:off x="6547104" y="1762097"/>
            <a:ext cx="2331720" cy="165627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E5AD4A-E7AE-4EBB-2129-DBB29F716902}"/>
              </a:ext>
            </a:extLst>
          </p:cNvPr>
          <p:cNvSpPr/>
          <p:nvPr/>
        </p:nvSpPr>
        <p:spPr>
          <a:xfrm>
            <a:off x="3845839" y="4593785"/>
            <a:ext cx="2331720" cy="1753415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6F9C8E3-988C-84A4-F23F-97E7124B3602}"/>
              </a:ext>
            </a:extLst>
          </p:cNvPr>
          <p:cNvSpPr/>
          <p:nvPr/>
        </p:nvSpPr>
        <p:spPr>
          <a:xfrm>
            <a:off x="6729984" y="4593786"/>
            <a:ext cx="2331720" cy="1753415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8F040A7-CF81-676D-EC4C-EB8DE0C4B2A3}"/>
              </a:ext>
            </a:extLst>
          </p:cNvPr>
          <p:cNvSpPr/>
          <p:nvPr/>
        </p:nvSpPr>
        <p:spPr>
          <a:xfrm>
            <a:off x="911691" y="4601381"/>
            <a:ext cx="2331720" cy="1719829"/>
          </a:xfrm>
          <a:prstGeom prst="rect">
            <a:avLst/>
          </a:prstGeom>
          <a:blipFill dpi="0"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3224696-4810-50FE-3D3B-E196D72E476F}"/>
              </a:ext>
            </a:extLst>
          </p:cNvPr>
          <p:cNvSpPr/>
          <p:nvPr/>
        </p:nvSpPr>
        <p:spPr>
          <a:xfrm>
            <a:off x="9342458" y="1796407"/>
            <a:ext cx="2331720" cy="1713872"/>
          </a:xfrm>
          <a:prstGeom prst="rect">
            <a:avLst/>
          </a:prstGeom>
          <a:blipFill dpi="0"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E2CA1-907C-10B6-B0F2-3DCAF278E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7D7562-DA94-56A0-020E-6A98BCFA783C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CF48DA-77EB-80A6-B10B-F2CDE0C27D03}"/>
              </a:ext>
            </a:extLst>
          </p:cNvPr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AGENDA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8906BD-4633-A583-1F8F-3AC8DEE1D9B3}"/>
              </a:ext>
            </a:extLst>
          </p:cNvPr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lang="en-IN" sz="2800" b="1" dirty="0"/>
              <a:t>Improvements from Professor Feedback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950D99-3629-B453-C8E7-63BBC22AE0E8}"/>
              </a:ext>
            </a:extLst>
          </p:cNvPr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90F042-07D7-4015-6EA0-9662B9A574AC}"/>
              </a:ext>
            </a:extLst>
          </p:cNvPr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BA085-6ACE-2501-6FFA-FAC657623F87}"/>
              </a:ext>
            </a:extLst>
          </p:cNvPr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18B6E18-C0B4-333C-4085-B230177548D9}"/>
              </a:ext>
            </a:extLst>
          </p:cNvPr>
          <p:cNvSpPr/>
          <p:nvPr/>
        </p:nvSpPr>
        <p:spPr>
          <a:xfrm>
            <a:off x="640080" y="1755648"/>
            <a:ext cx="108356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86C28-B22E-78F2-E74F-FFBC20617E7A}"/>
              </a:ext>
            </a:extLst>
          </p:cNvPr>
          <p:cNvSpPr/>
          <p:nvPr/>
        </p:nvSpPr>
        <p:spPr>
          <a:xfrm>
            <a:off x="640080" y="1755648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8C4814-F661-03F0-6D05-B60A88DE7522}"/>
              </a:ext>
            </a:extLst>
          </p:cNvPr>
          <p:cNvSpPr txBox="1"/>
          <p:nvPr/>
        </p:nvSpPr>
        <p:spPr>
          <a:xfrm>
            <a:off x="822959" y="2070678"/>
            <a:ext cx="10482074" cy="59247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lang="en-US" sz="1700" dirty="0"/>
              <a:t>The professor advised our team to give individual introductions while presenting so that each member is properly introduced in the presentation keep the presentation seem like a one team.</a:t>
            </a:r>
            <a:endParaRPr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4AC92BB-DE5E-5DEF-AF8D-FE68763FBA60}"/>
              </a:ext>
            </a:extLst>
          </p:cNvPr>
          <p:cNvSpPr/>
          <p:nvPr/>
        </p:nvSpPr>
        <p:spPr>
          <a:xfrm>
            <a:off x="640080" y="3675887"/>
            <a:ext cx="10835640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37BEB-E09B-414C-3978-E299281450A1}"/>
              </a:ext>
            </a:extLst>
          </p:cNvPr>
          <p:cNvSpPr/>
          <p:nvPr/>
        </p:nvSpPr>
        <p:spPr>
          <a:xfrm>
            <a:off x="640080" y="3675887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3F7409-431E-09E2-AA8E-C26B5BC9D37E}"/>
              </a:ext>
            </a:extLst>
          </p:cNvPr>
          <p:cNvSpPr txBox="1"/>
          <p:nvPr/>
        </p:nvSpPr>
        <p:spPr>
          <a:xfrm>
            <a:off x="822959" y="4233672"/>
            <a:ext cx="10383521" cy="34624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r>
              <a:rPr lang="en-IN" sz="1700" b="1" dirty="0">
                <a:solidFill>
                  <a:srgbClr val="133458"/>
                </a:solidFill>
                <a:latin typeface="Aptos"/>
              </a:rPr>
              <a:t>Writing actionable retrospective points clearly and presenting how we conducted the retrospective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40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82880"/>
            <a:ext cx="72237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102A4C"/>
                </a:solidFill>
              </a:rPr>
              <a:t>Project Description</a:t>
            </a:r>
            <a:endParaRPr lang="en-US" sz="270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7863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6778C"/>
                </a:solidFill>
              </a:rPr>
              <a:t>A full-stack advising platform that turns academic data into actionable support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1556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338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1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126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Student Data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309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Grades • attendance • assignments • LMS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216712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2316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03580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5409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2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253288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Risk Prediction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55117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Estimate academic-support risk</a:t>
            </a:r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408736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4340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5604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7433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3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445312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Explainability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447141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Show the factors behind the result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600760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26364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76288" y="2103120"/>
            <a:ext cx="384048" cy="384048"/>
          </a:xfrm>
          <a:prstGeom prst="ellipse">
            <a:avLst/>
          </a:prstGeom>
          <a:solidFill>
            <a:srgbClr val="0B8F67"/>
          </a:solidFill>
          <a:ln w="12700">
            <a:solidFill>
              <a:srgbClr val="0B8F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89457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4</a:t>
            </a:r>
            <a:endParaRPr lang="en-US" sz="1000"/>
          </a:p>
        </p:txBody>
      </p:sp>
      <p:sp>
        <p:nvSpPr>
          <p:cNvPr id="25" name="Text 23"/>
          <p:cNvSpPr/>
          <p:nvPr/>
        </p:nvSpPr>
        <p:spPr>
          <a:xfrm>
            <a:off x="637336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Recommendations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39165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Suggest tutoring, planning or resources</a:t>
            </a:r>
            <a:endParaRPr lang="en-US" sz="1050"/>
          </a:p>
        </p:txBody>
      </p:sp>
      <p:sp>
        <p:nvSpPr>
          <p:cNvPr id="27" name="Shape 25"/>
          <p:cNvSpPr/>
          <p:nvPr/>
        </p:nvSpPr>
        <p:spPr>
          <a:xfrm>
            <a:off x="792784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8388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8F8F1"/>
          </a:solidFill>
          <a:ln w="8890">
            <a:solidFill>
              <a:srgbClr val="D3EEE4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96528" y="2103120"/>
            <a:ext cx="384048" cy="384048"/>
          </a:xfrm>
          <a:prstGeom prst="ellipse">
            <a:avLst/>
          </a:prstGeom>
          <a:solidFill>
            <a:srgbClr val="2569B8"/>
          </a:solidFill>
          <a:ln w="12700">
            <a:solidFill>
              <a:srgbClr val="2569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81481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5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829360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Advisor + AI Support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831189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Human intervention + conversational guidance</a:t>
            </a:r>
            <a:endParaRPr lang="en-US" sz="1050"/>
          </a:p>
        </p:txBody>
      </p:sp>
      <p:sp>
        <p:nvSpPr>
          <p:cNvPr id="33" name="Shape 31"/>
          <p:cNvSpPr/>
          <p:nvPr/>
        </p:nvSpPr>
        <p:spPr>
          <a:xfrm>
            <a:off x="9848088" y="2724912"/>
            <a:ext cx="228600" cy="411480"/>
          </a:xfrm>
          <a:prstGeom prst="chevron">
            <a:avLst/>
          </a:prstGeom>
          <a:solidFill>
            <a:srgbClr val="9BB0C8"/>
          </a:solidFill>
          <a:ln w="12700">
            <a:solidFill>
              <a:srgbClr val="9BB0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104120" y="1828800"/>
            <a:ext cx="1627632" cy="2331720"/>
          </a:xfrm>
          <a:prstGeom prst="roundRect">
            <a:avLst>
              <a:gd name="adj" fmla="val 6742"/>
            </a:avLst>
          </a:prstGeom>
          <a:solidFill>
            <a:srgbClr val="EAF2FF"/>
          </a:solidFill>
          <a:ln w="8890">
            <a:solidFill>
              <a:srgbClr val="D8E7FA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716768" y="2103120"/>
            <a:ext cx="384048" cy="384048"/>
          </a:xfrm>
          <a:prstGeom prst="ellipse">
            <a:avLst/>
          </a:prstGeom>
          <a:solidFill>
            <a:srgbClr val="5D46A8"/>
          </a:solidFill>
          <a:ln w="12700">
            <a:solidFill>
              <a:srgbClr val="5D4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735056" y="2185416"/>
            <a:ext cx="347472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FFFFFF"/>
                </a:solidFill>
              </a:rPr>
              <a:t>6</a:t>
            </a:r>
            <a:endParaRPr lang="en-US" sz="1000"/>
          </a:p>
        </p:txBody>
      </p:sp>
      <p:sp>
        <p:nvSpPr>
          <p:cNvPr id="37" name="Text 35"/>
          <p:cNvSpPr/>
          <p:nvPr/>
        </p:nvSpPr>
        <p:spPr>
          <a:xfrm>
            <a:off x="10213848" y="2743200"/>
            <a:ext cx="1408176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102A4C"/>
                </a:solidFill>
              </a:rPr>
              <a:t>Progress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10232136" y="3246120"/>
            <a:ext cx="1371600" cy="56692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>
                <a:solidFill>
                  <a:srgbClr val="66778C"/>
                </a:solidFill>
              </a:rPr>
              <a:t>Track follow-up and outcomes</a:t>
            </a:r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1965960" y="484632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11112"/>
            <a:ext cx="320040" cy="164592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rgbClr val="29425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001"/>
    </mc:Choice>
    <mc:Fallback xmlns="">
      <p:transition spd="slow" advTm="8300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PRODUCT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Product, personas &amp;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Academic records become a usable foundation for student and advisor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32305"/>
            <a:ext cx="3611880" cy="3019294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828802"/>
            <a:ext cx="50045" cy="231058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43587" y="1653540"/>
            <a:ext cx="2150461" cy="3308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STUDENT</a:t>
            </a:r>
            <a:r>
              <a:rPr lang="en-US" dirty="0"/>
              <a:t> </a:t>
            </a:r>
            <a:r>
              <a:rPr lang="en-US" sz="1000" dirty="0"/>
              <a:t>(</a:t>
            </a:r>
            <a:r>
              <a:rPr lang="en-IN" sz="1000" b="1" dirty="0">
                <a:solidFill>
                  <a:srgbClr val="133458"/>
                </a:solidFill>
                <a:latin typeface="Aptos"/>
              </a:rPr>
              <a:t>Lucas Vance, </a:t>
            </a:r>
            <a:r>
              <a:rPr lang="en-IN" sz="1000" dirty="0">
                <a:solidFill>
                  <a:srgbClr val="133458"/>
                </a:solidFill>
                <a:latin typeface="Aptos"/>
              </a:rPr>
              <a:t>20y</a:t>
            </a:r>
            <a:r>
              <a:rPr lang="en-US" sz="1000" dirty="0"/>
              <a:t>)</a:t>
            </a:r>
            <a:endParaRPr sz="1000" dirty="0"/>
          </a:p>
        </p:txBody>
      </p:sp>
      <p:sp>
        <p:nvSpPr>
          <p:cNvPr id="13" name="Rounded Rectangle 12"/>
          <p:cNvSpPr/>
          <p:nvPr/>
        </p:nvSpPr>
        <p:spPr>
          <a:xfrm>
            <a:off x="4480560" y="1432305"/>
            <a:ext cx="3611880" cy="3057399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 dirty="0"/>
          </a:p>
        </p:txBody>
      </p:sp>
      <p:sp>
        <p:nvSpPr>
          <p:cNvPr id="14" name="Rectangle 13"/>
          <p:cNvSpPr/>
          <p:nvPr/>
        </p:nvSpPr>
        <p:spPr>
          <a:xfrm>
            <a:off x="4480560" y="1828801"/>
            <a:ext cx="50046" cy="2231922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5018" y="1694978"/>
            <a:ext cx="2153413" cy="4847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ADVISOR</a:t>
            </a:r>
            <a:r>
              <a:rPr lang="en-US" dirty="0"/>
              <a:t> </a:t>
            </a:r>
            <a:r>
              <a:rPr lang="en-US" sz="1000" dirty="0"/>
              <a:t>(</a:t>
            </a:r>
            <a:r>
              <a:rPr lang="en-IN" sz="1000" b="1" dirty="0">
                <a:solidFill>
                  <a:srgbClr val="133458"/>
                </a:solidFill>
                <a:latin typeface="Aptos"/>
              </a:rPr>
              <a:t>Elena Sterling </a:t>
            </a:r>
            <a:r>
              <a:rPr lang="en-IN" sz="1000" dirty="0">
                <a:solidFill>
                  <a:srgbClr val="133458"/>
                </a:solidFill>
                <a:latin typeface="Aptos"/>
              </a:rPr>
              <a:t>Academic Advisor, 38y</a:t>
            </a:r>
            <a:r>
              <a:rPr lang="en-US" sz="1000" dirty="0"/>
              <a:t>)</a:t>
            </a:r>
            <a:endParaRPr sz="1000" dirty="0"/>
          </a:p>
        </p:txBody>
      </p:sp>
      <p:sp>
        <p:nvSpPr>
          <p:cNvPr id="17" name="Rounded Rectangle 16"/>
          <p:cNvSpPr/>
          <p:nvPr/>
        </p:nvSpPr>
        <p:spPr>
          <a:xfrm>
            <a:off x="8321040" y="1432305"/>
            <a:ext cx="3611880" cy="3019293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39" y="1682496"/>
            <a:ext cx="82295" cy="2378226"/>
          </a:xfrm>
          <a:prstGeom prst="rect">
            <a:avLst/>
          </a:prstGeom>
          <a:solidFill>
            <a:srgbClr val="ED9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76461" y="1694978"/>
            <a:ext cx="1984247" cy="5488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ADMINISTRATOR</a:t>
            </a:r>
            <a:r>
              <a:rPr lang="en-US" sz="1000" dirty="0"/>
              <a:t> </a:t>
            </a:r>
          </a:p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lang="en-US" sz="1000" dirty="0"/>
              <a:t>(</a:t>
            </a:r>
            <a:r>
              <a:rPr lang="en-IN" sz="1000" b="1" dirty="0">
                <a:solidFill>
                  <a:srgbClr val="133458"/>
                </a:solidFill>
                <a:latin typeface="Aptos"/>
              </a:rPr>
              <a:t>Leo Mercer </a:t>
            </a:r>
            <a:r>
              <a:rPr lang="en-IN" sz="1000" dirty="0">
                <a:solidFill>
                  <a:srgbClr val="133458"/>
                </a:solidFill>
                <a:latin typeface="Aptos"/>
              </a:rPr>
              <a:t>Administrator, 45</a:t>
            </a:r>
            <a:r>
              <a:rPr lang="en-US" sz="1000" dirty="0"/>
              <a:t>)</a:t>
            </a:r>
            <a:endParaRPr sz="1000" dirty="0"/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105156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133458"/>
                </a:solidFill>
                <a:latin typeface="Aptos"/>
              </a:defRPr>
            </a:pPr>
            <a:r>
              <a:rPr dirty="0"/>
              <a:t>Sprint 1 usable slice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38928"/>
            <a:ext cx="251460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349240"/>
            <a:ext cx="2331720" cy="32004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Sign in / roles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39" y="5358384"/>
            <a:ext cx="292608" cy="32004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138928"/>
            <a:ext cx="251460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03320" y="5349240"/>
            <a:ext cx="2331720" cy="32004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Academic records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358384"/>
            <a:ext cx="292608" cy="32004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5138928"/>
            <a:ext cx="251460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79" y="5349240"/>
            <a:ext cx="2331720" cy="30008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rPr lang="en-US" dirty="0"/>
              <a:t>Admin</a:t>
            </a:r>
            <a:r>
              <a:rPr dirty="0"/>
              <a:t> profile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5358384"/>
            <a:ext cx="292608" cy="32004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5138928"/>
            <a:ext cx="251460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64040" y="5349240"/>
            <a:ext cx="2331720" cy="30008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rPr lang="en-US" dirty="0"/>
              <a:t>Student Profile</a:t>
            </a:r>
            <a:endParaRPr dirty="0"/>
          </a:p>
        </p:txBody>
      </p:sp>
      <p:sp>
        <p:nvSpPr>
          <p:cNvPr id="33" name="TextBox 32"/>
          <p:cNvSpPr txBox="1"/>
          <p:nvPr/>
        </p:nvSpPr>
        <p:spPr>
          <a:xfrm>
            <a:off x="795527" y="6096290"/>
            <a:ext cx="10698480" cy="284693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rPr dirty="0"/>
              <a:t>Later increments: </a:t>
            </a:r>
            <a:r>
              <a:rPr lang="en-US" dirty="0"/>
              <a:t>Advisor Profile </a:t>
            </a:r>
            <a:r>
              <a:rPr dirty="0"/>
              <a:t>, predictive risk, SHAP explanations and RAG-supported advising.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42CE22-40F9-BC1D-C3BD-62663F2962CC}"/>
              </a:ext>
            </a:extLst>
          </p:cNvPr>
          <p:cNvSpPr/>
          <p:nvPr/>
        </p:nvSpPr>
        <p:spPr>
          <a:xfrm>
            <a:off x="808998" y="1653250"/>
            <a:ext cx="1134004" cy="96650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301A1F-85A0-C7F1-8077-B31C883EAF17}"/>
              </a:ext>
            </a:extLst>
          </p:cNvPr>
          <p:cNvSpPr/>
          <p:nvPr/>
        </p:nvSpPr>
        <p:spPr>
          <a:xfrm>
            <a:off x="8555589" y="1688882"/>
            <a:ext cx="1134004" cy="966506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BF9EF02-5098-82D6-1064-EAF75E4AC684}"/>
              </a:ext>
            </a:extLst>
          </p:cNvPr>
          <p:cNvSpPr/>
          <p:nvPr/>
        </p:nvSpPr>
        <p:spPr>
          <a:xfrm>
            <a:off x="4667621" y="1688882"/>
            <a:ext cx="1134004" cy="966506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448CA-8C6F-1AA7-0818-E4AAD2559583}"/>
              </a:ext>
            </a:extLst>
          </p:cNvPr>
          <p:cNvSpPr txBox="1"/>
          <p:nvPr/>
        </p:nvSpPr>
        <p:spPr>
          <a:xfrm>
            <a:off x="2039996" y="1984400"/>
            <a:ext cx="2313432" cy="46935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lang="en-IN" sz="1300" i="1" dirty="0">
                <a:solidFill>
                  <a:srgbClr val="596F83"/>
                </a:solidFill>
                <a:latin typeface="Aptos"/>
              </a:rPr>
              <a:t>"I want to stay on track and reach my goals."</a:t>
            </a:r>
            <a:endParaRPr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981A10-AC4E-596E-88D2-81290D19EADB}"/>
              </a:ext>
            </a:extLst>
          </p:cNvPr>
          <p:cNvSpPr txBox="1"/>
          <p:nvPr/>
        </p:nvSpPr>
        <p:spPr>
          <a:xfrm>
            <a:off x="5880476" y="2152363"/>
            <a:ext cx="2313432" cy="46935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lang="en-IN" sz="1300" i="1" dirty="0">
                <a:solidFill>
                  <a:srgbClr val="596F83"/>
                </a:solidFill>
                <a:latin typeface="Aptos"/>
              </a:rPr>
              <a:t>"I want to support my students before they fall behind."</a:t>
            </a:r>
            <a:endParaRPr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AE0B2D-1D89-15CD-C2E0-B5716C8095B5}"/>
              </a:ext>
            </a:extLst>
          </p:cNvPr>
          <p:cNvSpPr txBox="1"/>
          <p:nvPr/>
        </p:nvSpPr>
        <p:spPr>
          <a:xfrm>
            <a:off x="9771743" y="2202195"/>
            <a:ext cx="2313432" cy="66941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lang="en-IN" sz="1300" i="1" dirty="0">
                <a:solidFill>
                  <a:srgbClr val="596F83"/>
                </a:solidFill>
                <a:latin typeface="Aptos"/>
              </a:rPr>
              <a:t>"I want a safe, reliable system that improves student outcomes."</a:t>
            </a:r>
            <a:endParaRPr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EC93DF-A8A1-1FB3-1586-1CE6E2B6D8AB}"/>
              </a:ext>
            </a:extLst>
          </p:cNvPr>
          <p:cNvSpPr txBox="1"/>
          <p:nvPr/>
        </p:nvSpPr>
        <p:spPr>
          <a:xfrm>
            <a:off x="808998" y="3022092"/>
            <a:ext cx="331667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00" i="1" dirty="0">
                <a:solidFill>
                  <a:srgbClr val="596F83"/>
                </a:solidFill>
                <a:latin typeface="Aptos"/>
              </a:rPr>
              <a:t>• Fragmented academic information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Late awareness of declining performance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Generic rather than personalized support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53DE5A-A2DC-6388-AC4F-2230F0CBDDF6}"/>
              </a:ext>
            </a:extLst>
          </p:cNvPr>
          <p:cNvSpPr txBox="1"/>
          <p:nvPr/>
        </p:nvSpPr>
        <p:spPr>
          <a:xfrm>
            <a:off x="4635660" y="3022091"/>
            <a:ext cx="331667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00" i="1" dirty="0">
                <a:solidFill>
                  <a:srgbClr val="596F83"/>
                </a:solidFill>
                <a:latin typeface="Aptos"/>
              </a:rPr>
              <a:t>• Large advising caseloads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Manual review of multiple data sources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Limited time for proactive outreach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F0D9C9-EF54-3EEC-861B-BE91762B9FC2}"/>
              </a:ext>
            </a:extLst>
          </p:cNvPr>
          <p:cNvSpPr txBox="1"/>
          <p:nvPr/>
        </p:nvSpPr>
        <p:spPr>
          <a:xfrm>
            <a:off x="8523737" y="3022092"/>
            <a:ext cx="331667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300" i="1" dirty="0">
                <a:solidFill>
                  <a:srgbClr val="596F83"/>
                </a:solidFill>
                <a:latin typeface="Aptos"/>
              </a:rPr>
              <a:t>• Data privacy and access control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Consistency of advising information</a:t>
            </a:r>
            <a:br>
              <a:rPr lang="en-IN" sz="1300" i="1" dirty="0">
                <a:solidFill>
                  <a:srgbClr val="596F83"/>
                </a:solidFill>
                <a:latin typeface="Aptos"/>
              </a:rPr>
            </a:br>
            <a:r>
              <a:rPr lang="en-IN" sz="1300" i="1" dirty="0">
                <a:solidFill>
                  <a:srgbClr val="596F83"/>
                </a:solidFill>
                <a:latin typeface="Aptos"/>
              </a:rPr>
              <a:t>• Responsible use of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Architecture &amp;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Core Sprint 1 services are separated from future intelligence capabilities.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1572768"/>
            <a:ext cx="10195560" cy="777240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170432" y="1773936"/>
            <a:ext cx="1965960" cy="347472"/>
          </a:xfrm>
          <a:prstGeom prst="round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07008" y="1837943"/>
            <a:ext cx="1892807" cy="21945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792224"/>
            <a:ext cx="7223760" cy="32918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33458"/>
                </a:solidFill>
                <a:latin typeface="Aptos"/>
              </a:defRPr>
            </a:pPr>
            <a:r>
              <a:t>React / Next.js • Student, advisor, admin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350008"/>
            <a:ext cx="457200" cy="25603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BABAC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2578608"/>
            <a:ext cx="1019556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170432" y="2779776"/>
            <a:ext cx="1965960" cy="347472"/>
          </a:xfrm>
          <a:prstGeom prst="round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07008" y="2843784"/>
            <a:ext cx="1892807" cy="21945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Application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798064"/>
            <a:ext cx="7223760" cy="32918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33458"/>
                </a:solidFill>
                <a:latin typeface="Aptos"/>
              </a:defRPr>
            </a:pPr>
            <a:r>
              <a:t>Python / FastAPI • REST endpoints • authorization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8152" y="3355848"/>
            <a:ext cx="457200" cy="25603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BABAC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3584448"/>
            <a:ext cx="10195560" cy="777240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70432" y="3785615"/>
            <a:ext cx="1965960" cy="347472"/>
          </a:xfrm>
          <a:prstGeom prst="round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07008" y="3849624"/>
            <a:ext cx="1892807" cy="21945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Academic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803904"/>
            <a:ext cx="7223760" cy="32918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33458"/>
                </a:solidFill>
                <a:latin typeface="Aptos"/>
              </a:defRPr>
            </a:pPr>
            <a:r>
              <a:t>PostgreSQL / Neon • users, courses, enrollments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8152" y="4361688"/>
            <a:ext cx="457200" cy="25603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BABAC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590288"/>
            <a:ext cx="10195560" cy="77724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70432" y="4791456"/>
            <a:ext cx="1965960" cy="347472"/>
          </a:xfrm>
          <a:prstGeom prst="roundRect">
            <a:avLst/>
          </a:prstGeom>
          <a:solidFill>
            <a:srgbClr val="596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07008" y="4855464"/>
            <a:ext cx="1892807" cy="21945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FFFFFF"/>
                </a:solidFill>
                <a:latin typeface="Aptos"/>
              </a:defRPr>
            </a:pPr>
            <a:r>
              <a:t>Future 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4809744"/>
            <a:ext cx="7223760" cy="32918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33458"/>
                </a:solidFill>
                <a:latin typeface="Aptos"/>
              </a:defRPr>
            </a:pPr>
            <a:r>
              <a:t>scikit-learn • SHAP • LLM / RAG (not Sprint 1 delivery)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0927F-E4FF-1C8B-CA68-3646581F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183A7E-8990-2AAC-75C6-5D69A4A32BF0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922963-176F-FAFF-59D5-F0D707B825CE}"/>
              </a:ext>
            </a:extLst>
          </p:cNvPr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075DE0-33DA-6E3E-8CC2-05BBA115BAE3}"/>
              </a:ext>
            </a:extLst>
          </p:cNvPr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255F70-88F5-6F17-5437-DDC449A07AFC}"/>
              </a:ext>
            </a:extLst>
          </p:cNvPr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AE6C0-9498-8C83-DC15-93A2D295A628}"/>
              </a:ext>
            </a:extLst>
          </p:cNvPr>
          <p:cNvSpPr txBox="1"/>
          <p:nvPr/>
        </p:nvSpPr>
        <p:spPr>
          <a:xfrm>
            <a:off x="5788152" y="2350008"/>
            <a:ext cx="457200" cy="25603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BABAC"/>
                </a:solidFill>
                <a:latin typeface="Aptos"/>
              </a:defRPr>
            </a:pPr>
            <a:r>
              <a:t>↓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0D62640-DBE1-48B7-6D64-C41784BDE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1" y="228600"/>
            <a:ext cx="10972799" cy="57534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407D07B-05C9-35F1-1626-5F9A791E3A3E}"/>
              </a:ext>
            </a:extLst>
          </p:cNvPr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Architecture </a:t>
            </a:r>
            <a:r>
              <a:rPr lang="en-IN" dirty="0"/>
              <a:t>&amp; technology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AD6AD-12BF-A213-5C81-87E5CD545C4A}"/>
              </a:ext>
            </a:extLst>
          </p:cNvPr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rPr dirty="0"/>
              <a:t>SYSTEM DESIGN</a:t>
            </a:r>
          </a:p>
        </p:txBody>
      </p:sp>
    </p:spTree>
    <p:extLst>
      <p:ext uri="{BB962C8B-B14F-4D97-AF65-F5344CB8AC3E}">
        <p14:creationId xmlns:p14="http://schemas.microsoft.com/office/powerpoint/2010/main" val="3551089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ENTITY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Academic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The synthetic CSVs mirror the backend’s core entities and relationships.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USERS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288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0848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STUDENTS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8288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20848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PROGRAMS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9136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ADVISORS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6576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60" y="39136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ENROLLMENTS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657600"/>
            <a:ext cx="2743200" cy="841248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79" y="3913632"/>
            <a:ext cx="2377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COURSES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075688"/>
            <a:ext cx="50292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4888" y="2075688"/>
            <a:ext cx="50292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BABAC"/>
                </a:solidFill>
                <a:latin typeface="Aptos"/>
              </a:defRPr>
            </a:pPr>
            <a:r>
              <a:t>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886200"/>
            <a:ext cx="50292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3886200"/>
            <a:ext cx="50292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BABA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834640"/>
            <a:ext cx="9966960" cy="53035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96F83"/>
                </a:solidFill>
                <a:latin typeface="Aptos"/>
              </a:defRPr>
            </a:pPr>
            <a:r>
              <a:t>Advisor–student assignments link advisors to students. Program requirements specify eligible course IDs.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9472"/>
            <a:ext cx="10241280" cy="58521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295BA5"/>
                </a:solidFill>
                <a:latin typeface="Aptos"/>
              </a:defRPr>
            </a:pPr>
            <a:r>
              <a:t>Contract fields: enrollment.status = in_progress  •  program_requirements.eligible_course_ids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AGILE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Product backlog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The complete product backlog spans the full MVP; Sprint 1 selects the foundational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07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2A0B772-71D2-B74C-2E51-223891DA1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90" y="1739449"/>
            <a:ext cx="11395033" cy="43413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COMMITTED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Sprint 1 backlog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27632"/>
            <a:ext cx="10789920" cy="6858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755648"/>
            <a:ext cx="274320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Data &amp; import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755648"/>
            <a:ext cx="740664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Schema-aligned CSVs; valid keys, statuses and repeat scenarios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450592"/>
            <a:ext cx="1078992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578608"/>
            <a:ext cx="274320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Identity &amp;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578608"/>
            <a:ext cx="740664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Authenticated roles; student/advisor records protected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73552"/>
            <a:ext cx="10789920" cy="6858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401568"/>
            <a:ext cx="274320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Student academic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401568"/>
            <a:ext cx="740664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Course history and GPA/credits exposed correctly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96512"/>
            <a:ext cx="1078992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2743200" cy="30008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rPr lang="en-US" dirty="0"/>
              <a:t>Admin</a:t>
            </a:r>
            <a:r>
              <a:rPr dirty="0"/>
              <a:t>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4224528"/>
            <a:ext cx="740664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Assigned-student roster and dashboard API accessible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19472"/>
            <a:ext cx="10789920" cy="6858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2743200" cy="3657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33458"/>
                </a:solidFill>
                <a:latin typeface="Aptos"/>
              </a:defRPr>
            </a:pPr>
            <a:r>
              <a:t>AI readiness &amp;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5047488"/>
            <a:ext cx="740664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Risk target/doc sources defined; end-to-end review prepared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SPRINT 1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Synthetic academic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Fixed CSV artifacts prepared for repeatable integration testing.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1673352"/>
            <a:ext cx="2651760" cy="1444752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" y="1865376"/>
            <a:ext cx="2432304" cy="5943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3500" b="1">
                <a:solidFill>
                  <a:srgbClr val="295BA5"/>
                </a:solidFill>
                <a:latin typeface="Aptos"/>
              </a:defRPr>
            </a:pPr>
            <a: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560320"/>
            <a:ext cx="2432304" cy="29260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33458"/>
                </a:solidFill>
                <a:latin typeface="Aptos"/>
              </a:defRPr>
            </a:pPr>
            <a:r>
              <a:t>students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5304" y="1673352"/>
            <a:ext cx="2651760" cy="1444752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1865376"/>
            <a:ext cx="2432304" cy="5943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3500" b="1">
                <a:solidFill>
                  <a:srgbClr val="295BA5"/>
                </a:solidFill>
                <a:latin typeface="Aptos"/>
              </a:defRPr>
            </a:pPr>
            <a:r>
              <a:t>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2560320"/>
            <a:ext cx="2432304" cy="29260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33458"/>
                </a:solidFill>
                <a:latin typeface="Aptos"/>
              </a:defRPr>
            </a:pPr>
            <a:r>
              <a:t>enrollments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673352"/>
            <a:ext cx="2651760" cy="1444752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6248" y="1865376"/>
            <a:ext cx="2432304" cy="5943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3500" b="1">
                <a:solidFill>
                  <a:srgbClr val="295BA5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560320"/>
            <a:ext cx="2432304" cy="29260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33458"/>
                </a:solidFill>
                <a:latin typeface="Aptos"/>
              </a:defRPr>
            </a:pPr>
            <a:r>
              <a:t>courses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1673352"/>
            <a:ext cx="2651760" cy="1444752"/>
          </a:xfrm>
          <a:prstGeom prst="round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27463" y="1865376"/>
            <a:ext cx="2432304" cy="5943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3500" b="1">
                <a:solidFill>
                  <a:srgbClr val="295BA5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27463" y="2560320"/>
            <a:ext cx="2432304" cy="29260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133458"/>
                </a:solidFill>
                <a:latin typeface="Aptos"/>
              </a:defRPr>
            </a:pPr>
            <a:r>
              <a:t>advisors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429000"/>
            <a:ext cx="5212080" cy="141732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429000"/>
            <a:ext cx="64008" cy="141732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575304"/>
            <a:ext cx="48463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050791"/>
            <a:ext cx="4828032" cy="6858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105 users • 100 assignments • 1 program • 3 requirement groups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3429000"/>
            <a:ext cx="5212080" cy="141732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81344" y="3429000"/>
            <a:ext cx="64008" cy="141732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64224" y="3575304"/>
            <a:ext cx="4846320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Integration handoff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4050791"/>
            <a:ext cx="4828032" cy="2693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PR #6 reviewed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193792"/>
            <a:ext cx="10424160" cy="5029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596F83"/>
                </a:solidFill>
                <a:latin typeface="Aptos"/>
              </a:defRPr>
            </a:pPr>
            <a:r>
              <a:t>Canonical fields: in_progress  •  eligible_course_ids   |   Existing seed records preserved.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REVIEW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Sprint 1</a:t>
            </a:r>
            <a:r>
              <a:rPr lang="en-US" dirty="0"/>
              <a:t> User Story and Acceptance Criterial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4708436-E739-C242-F41B-B8127D04D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62704"/>
            <a:ext cx="11334661" cy="18784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8BE1-2D49-A568-C068-EAF21BAC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06B958-BD8D-2FC7-2841-48672A2E81EE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250E6-13AF-C512-9167-BBB8E7E034D7}"/>
              </a:ext>
            </a:extLst>
          </p:cNvPr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REVIEW + QUALITY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9BDA1A-E37C-FD22-EFD5-EF3F43440783}"/>
              </a:ext>
            </a:extLst>
          </p:cNvPr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rPr dirty="0"/>
              <a:t>Sprint 1 </a:t>
            </a:r>
            <a:r>
              <a:rPr lang="en-US" dirty="0"/>
              <a:t>Test Cases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E20-8DFD-6451-B138-52F2E270BDA4}"/>
              </a:ext>
            </a:extLst>
          </p:cNvPr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Separate verified dataset work from integration work requiring final team confirmation.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89956F-29D9-7F16-8EDD-ACFFAC7F96BA}"/>
              </a:ext>
            </a:extLst>
          </p:cNvPr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0D4E2C-A94F-9A23-0115-0F93091A7950}"/>
              </a:ext>
            </a:extLst>
          </p:cNvPr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F7F254-4627-B147-EAB1-017967275052}"/>
              </a:ext>
            </a:extLst>
          </p:cNvPr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F6BECD-1EA7-6B9E-45F4-82333F96E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993" y="1508760"/>
            <a:ext cx="10771346" cy="3970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361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VELOCITY + BURNDOWN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Sprint 1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Use the team’s recorded story points; do not substitute issue counts or estimates.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00783"/>
            <a:ext cx="5074920" cy="4564685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1929384"/>
            <a:ext cx="438912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33458"/>
                </a:solidFill>
                <a:latin typeface="Aptos"/>
              </a:defRPr>
            </a:pPr>
            <a:r>
              <a:t>Velocity / completion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39" y="2417720"/>
            <a:ext cx="4480560" cy="1633781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96F83"/>
                </a:solidFill>
                <a:latin typeface="Aptos"/>
              </a:defRPr>
            </a:pPr>
            <a:r>
              <a:rPr lang="en-US" dirty="0"/>
              <a:t>Estimated Points : 110</a:t>
            </a:r>
          </a:p>
          <a:p>
            <a:pPr>
              <a:spcAft>
                <a:spcPts val="500"/>
              </a:spcAft>
              <a:defRPr sz="1700" b="0">
                <a:solidFill>
                  <a:srgbClr val="596F83"/>
                </a:solidFill>
                <a:latin typeface="Aptos"/>
              </a:defRPr>
            </a:pPr>
            <a:r>
              <a:rPr lang="en-US" dirty="0"/>
              <a:t>Total Points Delivered : 110</a:t>
            </a:r>
          </a:p>
          <a:p>
            <a:pPr>
              <a:spcAft>
                <a:spcPts val="500"/>
              </a:spcAft>
              <a:defRPr sz="1700" b="0">
                <a:solidFill>
                  <a:srgbClr val="596F83"/>
                </a:solidFill>
                <a:latin typeface="Aptos"/>
              </a:defRPr>
            </a:pPr>
            <a:r>
              <a:rPr lang="en-US" dirty="0"/>
              <a:t>Total Point Carried Over : 0</a:t>
            </a:r>
          </a:p>
          <a:p>
            <a:pPr>
              <a:spcAft>
                <a:spcPts val="500"/>
              </a:spcAft>
              <a:defRPr sz="1700" b="0">
                <a:solidFill>
                  <a:srgbClr val="596F83"/>
                </a:solidFill>
                <a:latin typeface="Aptos"/>
              </a:defRPr>
            </a:pPr>
            <a:r>
              <a:rPr lang="en-US" dirty="0"/>
              <a:t>Team Velocity: 110</a:t>
            </a:r>
          </a:p>
          <a:p>
            <a:pPr>
              <a:spcAft>
                <a:spcPts val="500"/>
              </a:spcAft>
              <a:defRPr sz="1700" b="0">
                <a:solidFill>
                  <a:srgbClr val="596F83"/>
                </a:solidFill>
                <a:latin typeface="Aptos"/>
              </a:defRPr>
            </a:pP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6144768" y="1700784"/>
            <a:ext cx="5257800" cy="4564684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28232" y="1929384"/>
            <a:ext cx="4663440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33458"/>
                </a:solidFill>
                <a:latin typeface="Aptos"/>
              </a:defRPr>
            </a:pPr>
            <a:r>
              <a:t>Sprint 1 burndown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56832" y="2770632"/>
            <a:ext cx="4160520" cy="18288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56832" y="2770632"/>
            <a:ext cx="18288" cy="1600200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7B324D-D132-2C34-B956-63922B3B2054}"/>
              </a:ext>
            </a:extLst>
          </p:cNvPr>
          <p:cNvSpPr/>
          <p:nvPr/>
        </p:nvSpPr>
        <p:spPr>
          <a:xfrm>
            <a:off x="6483096" y="2770632"/>
            <a:ext cx="4681728" cy="2636921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6C6DC85B-8FED-8CE6-F534-1688108AF7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29113418"/>
              </p:ext>
            </p:extLst>
          </p:nvPr>
        </p:nvGraphicFramePr>
        <p:xfrm>
          <a:off x="1082039" y="3829668"/>
          <a:ext cx="4480560" cy="2086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APP + API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Sprint 1 product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Capture only real screens from the integrated application, not mockups.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1" y="1508760"/>
            <a:ext cx="5573775" cy="43027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5863" y="1778000"/>
            <a:ext cx="4777069" cy="346249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33458"/>
                </a:solidFill>
                <a:latin typeface="Aptos"/>
              </a:defRPr>
            </a:pPr>
            <a:r>
              <a:rPr dirty="0"/>
              <a:t>STUDENT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961" y="5454421"/>
            <a:ext cx="4749927" cy="25391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295BA5"/>
                </a:solidFill>
                <a:latin typeface="Aptos"/>
              </a:defRPr>
            </a:pPr>
            <a:r>
              <a:rPr dirty="0"/>
              <a:t>Academic profile / course history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12560" y="1459381"/>
            <a:ext cx="5252720" cy="430276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78852" y="1755648"/>
            <a:ext cx="3218688" cy="347472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133458"/>
                </a:solidFill>
                <a:latin typeface="Aptos"/>
              </a:defRPr>
            </a:pPr>
            <a:r>
              <a:rPr lang="en-US" dirty="0"/>
              <a:t>ADMIN</a:t>
            </a:r>
            <a:r>
              <a:rPr dirty="0"/>
              <a:t>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8720" y="5455817"/>
            <a:ext cx="3200400" cy="253916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1200" b="0">
                <a:solidFill>
                  <a:srgbClr val="295BA5"/>
                </a:solidFill>
                <a:latin typeface="Aptos"/>
              </a:defRPr>
            </a:pPr>
            <a:r>
              <a:rPr lang="en-US" dirty="0"/>
              <a:t>Overview of Advisor-student performance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777240" y="5993587"/>
            <a:ext cx="10698480" cy="4572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33458"/>
                </a:solidFill>
                <a:latin typeface="Aptos"/>
              </a:defRPr>
            </a:pPr>
            <a:r>
              <a:t>Repository: github.com/htmw/F2026-Team3   •   Live demo follows these screenshots.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D26E9-9399-8B3C-00E9-74FF2B000B70}"/>
              </a:ext>
            </a:extLst>
          </p:cNvPr>
          <p:cNvSpPr/>
          <p:nvPr/>
        </p:nvSpPr>
        <p:spPr>
          <a:xfrm>
            <a:off x="850391" y="2340864"/>
            <a:ext cx="5245609" cy="2728976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25A6F3-A7C8-9C58-4AF6-F66BAAF660E7}"/>
              </a:ext>
            </a:extLst>
          </p:cNvPr>
          <p:cNvSpPr/>
          <p:nvPr/>
        </p:nvSpPr>
        <p:spPr>
          <a:xfrm>
            <a:off x="6900672" y="2296871"/>
            <a:ext cx="4575048" cy="2738322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Team working agreement &amp; 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Shared responsibilities, clear acceptance criteria and earlier integration.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0357" y="6476977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9109" y="6611715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rPr dirty="0"/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73352"/>
            <a:ext cx="5230368" cy="225531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727537" y="1868517"/>
            <a:ext cx="64008" cy="18288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1738048"/>
            <a:ext cx="4864607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Working agreement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2197077"/>
            <a:ext cx="4919470" cy="166968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Collaborated effectively on synthetic dataset ownership and schema alignment.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Conducted peer reviews across backend and data development.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Completed assigned tasks successfully and kept the GitHub repository organized and clutter-free.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Ensured smooth integration of work and completed all sprint tasks within the desired timeline.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73351"/>
            <a:ext cx="5230368" cy="2313433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1344" y="2037965"/>
            <a:ext cx="64008" cy="18288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4224" y="1739425"/>
            <a:ext cx="4864607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What worked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821" y="2167447"/>
            <a:ext cx="4846320" cy="1869743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Each team member completed their assigned tasks successfully and on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We maintained clear ownership of the synthetic dataset and aligned the schemas across backend and data development.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We kept the GitHub repository organized and clutter-free, with peer reviews to ensure code quality and smooth integration.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Through effective teamwork and communication, we completed all sprint tasks within the desired timeline.</a:t>
            </a:r>
          </a:p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777829" y="4178808"/>
            <a:ext cx="5230368" cy="210312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59541" y="4302252"/>
            <a:ext cx="64008" cy="1764792"/>
          </a:xfrm>
          <a:prstGeom prst="rect">
            <a:avLst/>
          </a:prstGeom>
          <a:solidFill>
            <a:srgbClr val="ED9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709" y="4325112"/>
            <a:ext cx="4864607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Improve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709" y="4690469"/>
            <a:ext cx="4846320" cy="1469633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The team collaborated on implementation and completed the assigned tasks, but some work continued until the last day of the sprint.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We had limited time for the final demo preparation and rechecking APIs and routes.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300" dirty="0">
                <a:solidFill>
                  <a:srgbClr val="596F83"/>
                </a:solidFill>
                <a:latin typeface="Aptos"/>
              </a:rPr>
              <a:t>A few meetings were missed, which affected coordination and progress tracking.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941" y="4178807"/>
            <a:ext cx="5230368" cy="2103119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39353" y="4496972"/>
            <a:ext cx="64008" cy="1499616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821" y="4325112"/>
            <a:ext cx="4864607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Next 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4691" y="4665906"/>
            <a:ext cx="4590288" cy="166968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r>
              <a:rPr lang="en-IN" sz="1300" dirty="0">
                <a:solidFill>
                  <a:srgbClr val="596F83"/>
                </a:solidFill>
                <a:latin typeface="Aptos"/>
              </a:rPr>
              <a:t>1. Complete tasks earlier: Set clear deadlines for each team member and aim to finish implementation before the last day, leaving enough time for API and route testing, bug fixing, and demo preparation.</a:t>
            </a:r>
          </a:p>
          <a:p>
            <a:r>
              <a:rPr lang="en-IN" sz="1300" dirty="0">
                <a:solidFill>
                  <a:srgbClr val="596F83"/>
                </a:solidFill>
                <a:latin typeface="Aptos"/>
              </a:rPr>
              <a:t>2. Improve coordination and demo readiness: Attend scheduled meetings consistently, communicate blockers early, and conduct a final team review to ensure all features are integrated, tested, and ready for demonstration.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NEXT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Sprint 2 | Planned increment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38404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Carry over uncompleted Sprint 1 work before expanding intelligence features.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46504"/>
            <a:ext cx="5330952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46504"/>
            <a:ext cx="64008" cy="16002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92807"/>
            <a:ext cx="4965192" cy="3308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rPr dirty="0"/>
              <a:t>01  </a:t>
            </a:r>
            <a:r>
              <a:rPr lang="en-US" dirty="0"/>
              <a:t>Advisor Profile Work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14400" y="2368296"/>
            <a:ext cx="4946904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Close outstanding auth, advisor UI and integration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5936" y="1746504"/>
            <a:ext cx="5330952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45936" y="1746504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892807"/>
            <a:ext cx="4965192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02  Degree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368296"/>
            <a:ext cx="4946904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Compute requirement-group and credit completion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666744"/>
            <a:ext cx="5330952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3666744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813048"/>
            <a:ext cx="4965192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03  Academic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88536"/>
            <a:ext cx="4946904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Prepare training dataset, baseline model and thresholds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5936" y="3666744"/>
            <a:ext cx="5330952" cy="1600200"/>
          </a:xfrm>
          <a:prstGeom prst="roundRect">
            <a:avLst/>
          </a:prstGeom>
          <a:solidFill>
            <a:srgbClr val="EF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45936" y="3666744"/>
            <a:ext cx="64008" cy="1600200"/>
          </a:xfrm>
          <a:prstGeom prst="rect">
            <a:avLst/>
          </a:prstGeom>
          <a:solidFill>
            <a:srgbClr val="295B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28816" y="3813048"/>
            <a:ext cx="4965192" cy="4114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133458"/>
                </a:solidFill>
                <a:latin typeface="Aptos"/>
              </a:defRPr>
            </a:pPr>
            <a:r>
              <a:t>04  AI foundations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46904" cy="86868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t>SHAP explanations and approved knowledge ingestion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BAB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10058400" cy="27432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BABAC"/>
                </a:solidFill>
                <a:latin typeface="Aptos"/>
              </a:defRPr>
            </a:pPr>
            <a:r>
              <a:t>TEAM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76072"/>
            <a:ext cx="10972800" cy="51206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33458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24712"/>
            <a:ext cx="10972800" cy="269304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</a:t>
            </a:r>
            <a:r>
              <a:rPr lang="en-US" dirty="0"/>
              <a:t>:</a:t>
            </a:r>
            <a:r>
              <a:rPr dirty="0"/>
              <a:t> AI-Powered Personalized Academic Advisement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01384"/>
            <a:ext cx="11155680" cy="16459"/>
          </a:xfrm>
          <a:prstGeom prst="rect">
            <a:avLst/>
          </a:prstGeom>
          <a:solidFill>
            <a:srgbClr val="DE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65392"/>
            <a:ext cx="7315200" cy="201168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>
              <a:spcAft>
                <a:spcPts val="500"/>
              </a:spcAft>
              <a:defRPr sz="900" b="0">
                <a:solidFill>
                  <a:srgbClr val="596F83"/>
                </a:solidFill>
                <a:latin typeface="Aptos"/>
              </a:defRPr>
            </a:pPr>
            <a:r>
              <a:rPr dirty="0"/>
              <a:t>ACADMATE  •  TEAM 3  •  CS 691  • 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547104"/>
            <a:ext cx="457200" cy="2286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596F83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40864"/>
            <a:ext cx="9966960" cy="114300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3800" b="1">
                <a:solidFill>
                  <a:srgbClr val="133458"/>
                </a:solidFill>
                <a:latin typeface="Aptos"/>
              </a:defRPr>
            </a:pPr>
            <a: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4023360"/>
            <a:ext cx="7772400" cy="594360"/>
          </a:xfrm>
          <a:prstGeom prst="rect">
            <a:avLst/>
          </a:prstGeom>
          <a:noFill/>
        </p:spPr>
        <p:txBody>
          <a:bodyPr wrap="square" lIns="36576" tIns="22860" rIns="36576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2BABAC"/>
                </a:solidFill>
                <a:latin typeface="Aptos"/>
              </a:defRPr>
            </a:pPr>
            <a:r>
              <a:t>Student data  →  meaningful academic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1314</Words>
  <Application>Microsoft Office PowerPoint</Application>
  <PresentationFormat>Widescreen</PresentationFormat>
  <Paragraphs>232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Pranali Dukhande</cp:lastModifiedBy>
  <cp:revision>49</cp:revision>
  <dcterms:created xsi:type="dcterms:W3CDTF">2013-01-27T09:14:16Z</dcterms:created>
  <dcterms:modified xsi:type="dcterms:W3CDTF">2026-10-18T23:18:12Z</dcterms:modified>
  <cp:category/>
</cp:coreProperties>
</file>